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323A"/>
                </a:solidFill>
                <a:latin typeface="Calibri"/>
              </a:defRPr>
            </a:pPr>
            <a:r>
              <a:rPr sz="1200" b="0" i="0" u="none" strike="noStrike">
                <a:solidFill>
                  <a:srgbClr val="16323A"/>
                </a:solidFill>
                <a:latin typeface="Calibri"/>
              </a:rPr>
              <a:t>Cell accuracy by page type (%), 22 synthetic pages</a:t>
            </a:r>
          </a:p>
        </c:rich>
      </c:tx>
      <c:layout/>
      <c:overlay val="0"/>
    </c:title>
    <c:autoTitleDeleted val="0"/>
    <c:plotArea>
      <c:layout/>
      <c:barChart>
        <c:barDir val="col"/>
        <c:grouping val="clustered"/>
        <c:varyColors val="0"/>
        <c:ser>
          <c:idx val="0"/>
          <c:order val="0"/>
          <c:tx>
            <c:strRef>
              <c:f>Sheet1!$B$1</c:f>
              <c:strCache>
                <c:ptCount val="1"/>
                <c:pt idx="0">
                  <c:v>Quantities</c:v>
                </c:pt>
              </c:strCache>
            </c:strRef>
          </c:tx>
          <c:spPr>
            <a:solidFill>
              <a:srgbClr val="167F71"/>
            </a:solidFill>
            <a:effectLst/>
          </c:spPr>
          <c:invertIfNegative val="0"/>
          <c:dLbls>
            <c:numFmt formatCode="0" sourceLinked="0"/>
            <c:txPr>
              <a:bodyPr/>
              <a:lstStyle/>
              <a:p>
                <a:pPr>
                  <a:defRPr b="0" i="0" strike="noStrike" sz="800" u="none">
                    <a:solidFill>
                      <a:srgbClr val="16323A"/>
                    </a:solidFill>
                    <a:latin typeface="Arial"/>
                  </a:defRPr>
                </a:pPr>
              </a:p>
            </c:txPr>
            <c:showLegendKey val="0"/>
            <c:showVal val="1"/>
            <c:showCatName val="0"/>
            <c:showSerName val="0"/>
            <c:showPercent val="0"/>
            <c:showBubbleSize val="0"/>
            <c:showLeaderLines val="0"/>
          </c:dLbls>
          <c:cat>
            <c:multiLvlStrRef>
              <c:f>Sheet1!$A$2:$A$5</c:f>
              <c:multiLvlStrCache>
                <c:ptCount val="4"/>
                <c:lvl>
                  <c:pt idx="0">
                    <c:v>Easy (6)</c:v>
                  </c:pt>
                  <c:pt idx="1">
                    <c:v>Medium (4)</c:v>
                  </c:pt>
                  <c:pt idx="2">
                    <c:v>Hard (2)</c:v>
                  </c:pt>
                  <c:pt idx="3">
                    <c:v>Messy (10)</c:v>
                  </c:pt>
                </c:lvl>
              </c:multiLvlStrCache>
            </c:multiLvlStrRef>
          </c:cat>
          <c:val>
            <c:numRef>
              <c:f>Sheet1!$B$2:$B$5</c:f>
              <c:numCache>
                <c:formatCode>General</c:formatCode>
                <c:ptCount val="4"/>
                <c:pt idx="0">
                  <c:v>100</c:v>
                </c:pt>
                <c:pt idx="1">
                  <c:v>100</c:v>
                </c:pt>
                <c:pt idx="2">
                  <c:v>100</c:v>
                </c:pt>
                <c:pt idx="3">
                  <c:v>92.9</c:v>
                </c:pt>
              </c:numCache>
            </c:numRef>
          </c:val>
        </c:ser>
        <c:ser>
          <c:idx val="1"/>
          <c:order val="1"/>
          <c:tx>
            <c:strRef>
              <c:f>Sheet1!$C$1</c:f>
              <c:strCache>
                <c:ptCount val="1"/>
                <c:pt idx="0">
                  <c:v>Batch</c:v>
                </c:pt>
              </c:strCache>
            </c:strRef>
          </c:tx>
          <c:spPr>
            <a:solidFill>
              <a:srgbClr val="3B9CE2"/>
            </a:solidFill>
            <a:effectLst/>
          </c:spPr>
          <c:invertIfNegative val="0"/>
          <c:dLbls>
            <c:numFmt formatCode="0" sourceLinked="0"/>
            <c:txPr>
              <a:bodyPr/>
              <a:lstStyle/>
              <a:p>
                <a:pPr>
                  <a:defRPr b="0" i="0" strike="noStrike" sz="800" u="none">
                    <a:solidFill>
                      <a:srgbClr val="16323A"/>
                    </a:solidFill>
                    <a:latin typeface="Arial"/>
                  </a:defRPr>
                </a:pPr>
              </a:p>
            </c:txPr>
            <c:showLegendKey val="0"/>
            <c:showVal val="1"/>
            <c:showCatName val="0"/>
            <c:showSerName val="0"/>
            <c:showPercent val="0"/>
            <c:showBubbleSize val="0"/>
            <c:showLeaderLines val="0"/>
          </c:dLbls>
          <c:cat>
            <c:multiLvlStrRef>
              <c:f>Sheet1!$A$2:$A$5</c:f>
              <c:multiLvlStrCache>
                <c:ptCount val="4"/>
                <c:lvl>
                  <c:pt idx="0">
                    <c:v>Easy (6)</c:v>
                  </c:pt>
                  <c:pt idx="1">
                    <c:v>Medium (4)</c:v>
                  </c:pt>
                  <c:pt idx="2">
                    <c:v>Hard (2)</c:v>
                  </c:pt>
                  <c:pt idx="3">
                    <c:v>Messy (10)</c:v>
                  </c:pt>
                </c:lvl>
              </c:multiLvlStrCache>
            </c:multiLvlStrRef>
          </c:cat>
          <c:val>
            <c:numRef>
              <c:f>Sheet1!$C$2:$C$5</c:f>
              <c:numCache>
                <c:formatCode>General</c:formatCode>
                <c:ptCount val="4"/>
                <c:pt idx="0">
                  <c:v>100</c:v>
                </c:pt>
                <c:pt idx="1">
                  <c:v>100</c:v>
                </c:pt>
                <c:pt idx="2">
                  <c:v>89.3</c:v>
                </c:pt>
                <c:pt idx="3">
                  <c:v>51.4</c:v>
                </c:pt>
              </c:numCache>
            </c:numRef>
          </c:val>
        </c:ser>
        <c:ser>
          <c:idx val="2"/>
          <c:order val="2"/>
          <c:tx>
            <c:strRef>
              <c:f>Sheet1!$D$1</c:f>
              <c:strCache>
                <c:ptCount val="1"/>
                <c:pt idx="0">
                  <c:v>Expiry</c:v>
                </c:pt>
              </c:strCache>
            </c:strRef>
          </c:tx>
          <c:spPr>
            <a:solidFill>
              <a:srgbClr val="F0A23B"/>
            </a:solidFill>
            <a:effectLst/>
          </c:spPr>
          <c:invertIfNegative val="0"/>
          <c:dLbls>
            <c:numFmt formatCode="0" sourceLinked="0"/>
            <c:txPr>
              <a:bodyPr/>
              <a:lstStyle/>
              <a:p>
                <a:pPr>
                  <a:defRPr b="0" i="0" strike="noStrike" sz="800" u="none">
                    <a:solidFill>
                      <a:srgbClr val="16323A"/>
                    </a:solidFill>
                    <a:latin typeface="Arial"/>
                  </a:defRPr>
                </a:pPr>
              </a:p>
            </c:txPr>
            <c:showLegendKey val="0"/>
            <c:showVal val="1"/>
            <c:showCatName val="0"/>
            <c:showSerName val="0"/>
            <c:showPercent val="0"/>
            <c:showBubbleSize val="0"/>
            <c:showLeaderLines val="0"/>
          </c:dLbls>
          <c:cat>
            <c:multiLvlStrRef>
              <c:f>Sheet1!$A$2:$A$5</c:f>
              <c:multiLvlStrCache>
                <c:ptCount val="4"/>
                <c:lvl>
                  <c:pt idx="0">
                    <c:v>Easy (6)</c:v>
                  </c:pt>
                  <c:pt idx="1">
                    <c:v>Medium (4)</c:v>
                  </c:pt>
                  <c:pt idx="2">
                    <c:v>Hard (2)</c:v>
                  </c:pt>
                  <c:pt idx="3">
                    <c:v>Messy (10)</c:v>
                  </c:pt>
                </c:lvl>
              </c:multiLvlStrCache>
            </c:multiLvlStrRef>
          </c:cat>
          <c:val>
            <c:numRef>
              <c:f>Sheet1!$D$2:$D$5</c:f>
              <c:numCache>
                <c:formatCode>General</c:formatCode>
                <c:ptCount val="4"/>
                <c:pt idx="0">
                  <c:v>100</c:v>
                </c:pt>
                <c:pt idx="1">
                  <c:v>100</c:v>
                </c:pt>
                <c:pt idx="2">
                  <c:v>85.7</c:v>
                </c:pt>
                <c:pt idx="3">
                  <c:v>73.4</c:v>
                </c:pt>
              </c:numCache>
            </c:numRef>
          </c:val>
        </c:ser>
        <c:dLbls>
          <c:numFmt formatCode="0" sourceLinked="0"/>
          <c:txPr>
            <a:bodyPr/>
            <a:lstStyle/>
            <a:p>
              <a:pPr>
                <a:defRPr b="0" i="0" strike="noStrike" sz="800" u="none">
                  <a:solidFill>
                    <a:srgbClr val="16323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7780"/>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B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77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solidFill>
                <a:srgbClr val="5B778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presenting Register Lens for Track 3, Smart Health and Supply Chain Resilience. In one line: we read the paper register a PHC already keeps, and use it to keep DVDMS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register is accurate because pharmacists must keep it. DVDMS is the system districts use to plan supply, but it lags because nobody has time to type twice. CAG audits describe exactly this: consumption not entered, stock not matching registers, dispensed drugs appearing as expired. Those are reported figures for expired drugs in Haryana and Karnataka.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scaled from one district to the whole state. These are real facility locations from OpenStreetMap: 3,948 public facilities across 75 districts. For facilities that have not scanned a register the stock is simulated, and we say so on screen. Phase 3 is live: the app finds medicine that will expire before it can be used and suggests moving it to a nearby facility that is running short, with the district officer approving every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Snap, read, confirm, sync. The pharmacist takes one photo. Gemini reads it and says how sure it is about each cell. The pharmacist checks only the flagged cells. Then we produce a DVDMS-compatible bulk-entry file and a district alert in Hindi and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prototype, not a mock-up. Left: the review screen, where flagged lines carry a plain-language reason. Middle: DVDMS versus the register with days of stock. Right: the bulk-entry download and the alert. Sample data is synthetic and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does the three jobs a rules-based system cannot: reading messy bilingual handwriting, understanding drug-name variants, and writing the alert. Everything numeric is plain code, so an officer can audit it. We also fail over across Gemini models because free-tier quotas are per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honestly on 22 synthetic pages, including 10 deliberately messy ones. Medicine names were always right. Quantities stayed above 90 percent even on messy pages. The weak spot is small cursive batch codes and expiry dates, and the model does not know when it is wrong, so we cross-check against the batches DVDMS already has and the balance of each line. That flagged 63 of the 74 lines that had any error. Every line is confirmed by the pharmacist before anything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features for real users. The assistant is Gemini with five tools over the app's data; here it answered a Hindi question about Barabanki by calling the district tool. And the whole app installs on a pharmacist's phone from the browser, with the camera for scanning. Every step keeps a human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can be piloted in weeks because we do not ask anyone to change their process. The register stays; we read it. The bulk-entry route into DVDMS already exists according to the audit reports. Week one is measuring on real registers, which is the honest next step after synthetic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is configuration, not rebuilding: language, register template and medicine catalogue are separate files. Phase two adds state languages. Phase three turns the near-expiry batches we already detect into transfers, always with officer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judges: each criterion points to something openable. The accuracy evaluation and its caveats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Register Lens: your register already knows, now DVDMS will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F39"/>
        </a:solidFill>
      </p:bgPr>
    </p:bg>
    <p:spTree>
      <p:nvGrpSpPr>
        <p:cNvPr id="1" name=""/>
        <p:cNvGrpSpPr/>
        <p:nvPr/>
      </p:nvGrpSpPr>
      <p:grpSpPr>
        <a:xfrm>
          <a:off x="0" y="0"/>
          <a:ext cx="0" cy="0"/>
          <a:chOff x="0" y="0"/>
          <a:chExt cx="0" cy="0"/>
        </a:xfrm>
      </p:grpSpPr>
      <p:sp>
        <p:nvSpPr>
          <p:cNvPr id="2" name="Text 0"/>
          <p:cNvSpPr txBox="1"/>
          <p:nvPr/>
        </p:nvSpPr>
        <p:spPr>
          <a:xfrm>
            <a:off x="548640" y="502920"/>
            <a:ext cx="5486400" cy="274320"/>
          </a:xfrm>
          <a:prstGeom prst="rect">
            <a:avLst/>
          </a:prstGeom>
          <a:noFill/>
          <a:ln/>
        </p:spPr>
        <p:txBody>
          <a:bodyPr wrap="square" lIns="0" tIns="0" rIns="0" bIns="0" rtlCol="0" anchor="ctr"/>
          <a:lstStyle/>
          <a:p>
            <a:pPr indent="0" marL="0">
              <a:buNone/>
            </a:pPr>
            <a:r>
              <a:rPr lang="en-US" sz="1100" b="1" spc="300" kern="0" dirty="0">
                <a:solidFill>
                  <a:srgbClr val="72D0BD"/>
                </a:solidFill>
                <a:latin typeface="Calibri" pitchFamily="34" charset="0"/>
                <a:ea typeface="Calibri" pitchFamily="34" charset="-122"/>
                <a:cs typeface="Calibri" pitchFamily="34" charset="-120"/>
              </a:rPr>
              <a:t>BUILD WITH AI  ·  CODE FOR COMMUNITIES 2.0  ·  TRACK 3</a:t>
            </a:r>
            <a:endParaRPr lang="en-US" sz="1100" dirty="0"/>
          </a:p>
        </p:txBody>
      </p:sp>
      <p:sp>
        <p:nvSpPr>
          <p:cNvPr id="3" name="Text 1"/>
          <p:cNvSpPr txBox="1"/>
          <p:nvPr/>
        </p:nvSpPr>
        <p:spPr>
          <a:xfrm>
            <a:off x="548640" y="1234440"/>
            <a:ext cx="5486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Register Lens</a:t>
            </a:r>
            <a:endParaRPr lang="en-US" sz="5400" dirty="0"/>
          </a:p>
        </p:txBody>
      </p:sp>
      <p:sp>
        <p:nvSpPr>
          <p:cNvPr id="4" name="Text 2"/>
          <p:cNvSpPr txBox="1"/>
          <p:nvPr/>
        </p:nvSpPr>
        <p:spPr>
          <a:xfrm>
            <a:off x="548640" y="2240280"/>
            <a:ext cx="5303520" cy="1005840"/>
          </a:xfrm>
          <a:prstGeom prst="rect">
            <a:avLst/>
          </a:prstGeom>
          <a:noFill/>
          <a:ln/>
        </p:spPr>
        <p:txBody>
          <a:bodyPr wrap="square" lIns="0" tIns="0" rIns="0" bIns="0" rtlCol="0" anchor="t"/>
          <a:lstStyle/>
          <a:p>
            <a:pPr indent="0" marL="0">
              <a:buNone/>
            </a:pPr>
            <a:r>
              <a:rPr lang="en-US" sz="2400" dirty="0">
                <a:solidFill>
                  <a:srgbClr val="D5F3EC"/>
                </a:solidFill>
                <a:latin typeface="Cambria" pitchFamily="34" charset="0"/>
                <a:ea typeface="Cambria" pitchFamily="34" charset="-122"/>
                <a:cs typeface="Cambria" pitchFamily="34" charset="-120"/>
              </a:rPr>
              <a:t>Your register already knows.</a:t>
            </a:r>
            <a:endParaRPr lang="en-US" sz="2400" dirty="0"/>
          </a:p>
          <a:p>
            <a:pPr indent="0" marL="0">
              <a:buNone/>
            </a:pPr>
            <a:r>
              <a:rPr lang="en-US" sz="2400" dirty="0">
                <a:solidFill>
                  <a:srgbClr val="D5F3EC"/>
                </a:solidFill>
                <a:latin typeface="Cambria" pitchFamily="34" charset="0"/>
                <a:ea typeface="Cambria" pitchFamily="34" charset="-122"/>
                <a:cs typeface="Cambria" pitchFamily="34" charset="-120"/>
              </a:rPr>
              <a:t>Now DVDMS will too.</a:t>
            </a:r>
            <a:endParaRPr lang="en-US" sz="2400" dirty="0"/>
          </a:p>
        </p:txBody>
      </p:sp>
      <p:sp>
        <p:nvSpPr>
          <p:cNvPr id="5" name="Text 3"/>
          <p:cNvSpPr txBox="1"/>
          <p:nvPr/>
        </p:nvSpPr>
        <p:spPr>
          <a:xfrm>
            <a:off x="548640" y="3977640"/>
            <a:ext cx="5486400" cy="320040"/>
          </a:xfrm>
          <a:prstGeom prst="rect">
            <a:avLst/>
          </a:prstGeom>
          <a:noFill/>
          <a:ln/>
        </p:spPr>
        <p:txBody>
          <a:bodyPr wrap="square" lIns="0" tIns="0" rIns="0" bIns="0" rtlCol="0" anchor="ctr"/>
          <a:lstStyle/>
          <a:p>
            <a:pPr indent="0" marL="0">
              <a:buNone/>
            </a:pPr>
            <a:r>
              <a:rPr lang="en-US" sz="1500" dirty="0">
                <a:solidFill>
                  <a:srgbClr val="A9E5D7"/>
                </a:solidFill>
                <a:latin typeface="Calibri" pitchFamily="34" charset="0"/>
                <a:ea typeface="Calibri" pitchFamily="34" charset="-122"/>
                <a:cs typeface="Calibri" pitchFamily="34" charset="-120"/>
              </a:rPr>
              <a:t>Smart Health &amp; Supply Chain Resilience</a:t>
            </a:r>
            <a:endParaRPr lang="en-US" sz="1500" dirty="0"/>
          </a:p>
        </p:txBody>
      </p:sp>
      <p:sp>
        <p:nvSpPr>
          <p:cNvPr id="6" name="Shape 4"/>
          <p:cNvSpPr/>
          <p:nvPr/>
        </p:nvSpPr>
        <p:spPr>
          <a:xfrm>
            <a:off x="5989320" y="868680"/>
            <a:ext cx="3017520" cy="3017520"/>
          </a:xfrm>
          <a:prstGeom prst="ellipse">
            <a:avLst/>
          </a:prstGeom>
          <a:solidFill>
            <a:srgbClr val="FFFFFF"/>
          </a:solidFill>
          <a:ln w="12700">
            <a:solidFill>
              <a:srgbClr val="FFFFFF"/>
            </a:solidFill>
            <a:prstDash val="solid"/>
          </a:ln>
        </p:spPr>
      </p:sp>
      <p:pic>
        <p:nvPicPr>
          <p:cNvPr id="7" name="Image 0" descr="D:\RegisterLens\docs\deck\art\medical-representative_k331.png">    </p:cNvPr>
          <p:cNvPicPr>
            <a:picLocks noChangeAspect="1"/>
          </p:cNvPicPr>
          <p:nvPr/>
        </p:nvPicPr>
        <p:blipFill>
          <a:blip r:embed="rId1"/>
          <a:srcRect l="0" r="0" t="0" b="0"/>
          <a:stretch/>
        </p:blipFill>
        <p:spPr>
          <a:xfrm>
            <a:off x="6263640" y="1097280"/>
            <a:ext cx="2468880" cy="2468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2600" b="1" dirty="0">
                <a:solidFill>
                  <a:srgbClr val="16323A"/>
                </a:solidFill>
                <a:latin typeface="Cambria" pitchFamily="34" charset="0"/>
                <a:ea typeface="Cambria" pitchFamily="34" charset="-122"/>
                <a:cs typeface="Cambria" pitchFamily="34" charset="-120"/>
              </a:rPr>
              <a:t>The notebook is right. The screen is out of date.</a:t>
            </a:r>
            <a:endParaRPr lang="en-US" sz="2600" dirty="0"/>
          </a:p>
        </p:txBody>
      </p:sp>
      <p:sp>
        <p:nvSpPr>
          <p:cNvPr id="3" name="Text 1"/>
          <p:cNvSpPr txBox="1"/>
          <p:nvPr/>
        </p:nvSpPr>
        <p:spPr>
          <a:xfrm>
            <a:off x="457200" y="1234440"/>
            <a:ext cx="4206240" cy="2651760"/>
          </a:xfrm>
          <a:prstGeom prst="rect">
            <a:avLst/>
          </a:prstGeom>
          <a:noFill/>
          <a:ln/>
        </p:spPr>
        <p:txBody>
          <a:bodyPr wrap="square" lIns="0" tIns="0" rIns="0" bIns="0" rtlCol="0" anchor="t"/>
          <a:lstStyle/>
          <a:p>
            <a:pPr indent="0" marL="0">
              <a:spcAft>
                <a:spcPts val="200"/>
              </a:spcAft>
              <a:buNone/>
            </a:pPr>
            <a:r>
              <a:rPr lang="en-US" sz="1500" b="1" dirty="0">
                <a:solidFill>
                  <a:srgbClr val="16323A"/>
                </a:solidFill>
                <a:latin typeface="Calibri" pitchFamily="34" charset="0"/>
                <a:ea typeface="Calibri" pitchFamily="34" charset="-122"/>
                <a:cs typeface="Calibri" pitchFamily="34" charset="-120"/>
              </a:rPr>
              <a:t>Busy OPD, no time to type twice.</a:t>
            </a:r>
            <a:endParaRPr lang="en-US" sz="1500" dirty="0"/>
          </a:p>
          <a:p>
            <a:pPr indent="0" marL="0">
              <a:spcAft>
                <a:spcPts val="200"/>
              </a:spcAft>
              <a:buNone/>
            </a:pPr>
            <a:r>
              <a:rPr lang="en-US" sz="1500" dirty="0">
                <a:solidFill>
                  <a:srgbClr val="5B7780"/>
                </a:solidFill>
                <a:latin typeface="Calibri" pitchFamily="34" charset="0"/>
                <a:ea typeface="Calibri" pitchFamily="34" charset="-122"/>
                <a:cs typeface="Calibri" pitchFamily="34" charset="-120"/>
              </a:rPr>
              <a:t>Auditors record that DVDMS is not updated regularly because of the rush of work and shortage of staff.</a:t>
            </a:r>
            <a:endParaRPr lang="en-US" sz="1500" dirty="0"/>
          </a:p>
          <a:p>
            <a:pPr indent="0" marL="0">
              <a:spcAft>
                <a:spcPts val="200"/>
              </a:spcAft>
              <a:buNone/>
            </a:pPr>
            <a:r>
              <a:rPr lang="en-US" sz="600" dirty="0">
                <a:solidFill>
                  <a:srgbClr val="000000"/>
                </a:solidFill>
                <a:latin typeface="Calibri" pitchFamily="34" charset="0"/>
                <a:ea typeface="Calibri" pitchFamily="34" charset="-122"/>
                <a:cs typeface="Calibri" pitchFamily="34" charset="-120"/>
              </a:rPr>
              <a:t> </a:t>
            </a:r>
            <a:endParaRPr lang="en-US" sz="1500" dirty="0"/>
          </a:p>
          <a:p>
            <a:pPr indent="0" marL="0">
              <a:spcAft>
                <a:spcPts val="200"/>
              </a:spcAft>
              <a:buNone/>
            </a:pPr>
            <a:r>
              <a:rPr lang="en-US" sz="1500" b="1" dirty="0">
                <a:solidFill>
                  <a:srgbClr val="16323A"/>
                </a:solidFill>
                <a:latin typeface="Calibri" pitchFamily="34" charset="0"/>
                <a:ea typeface="Calibri" pitchFamily="34" charset="-122"/>
                <a:cs typeface="Calibri" pitchFamily="34" charset="-120"/>
              </a:rPr>
              <a:t>So DVDMS drifts from reality.</a:t>
            </a:r>
            <a:endParaRPr lang="en-US" sz="1500" dirty="0"/>
          </a:p>
          <a:p>
            <a:pPr indent="0" marL="0">
              <a:spcAft>
                <a:spcPts val="200"/>
              </a:spcAft>
              <a:buNone/>
            </a:pPr>
            <a:r>
              <a:rPr lang="en-US" sz="1500" dirty="0">
                <a:solidFill>
                  <a:srgbClr val="5B7780"/>
                </a:solidFill>
                <a:latin typeface="Calibri" pitchFamily="34" charset="0"/>
                <a:ea typeface="Calibri" pitchFamily="34" charset="-122"/>
                <a:cs typeface="Calibri" pitchFamily="34" charset="-120"/>
              </a:rPr>
              <a:t>Stock differs from the registers, and dispensed medicines can even show as expired.</a:t>
            </a:r>
            <a:endParaRPr lang="en-US" sz="1500" dirty="0"/>
          </a:p>
          <a:p>
            <a:pPr indent="0" marL="0">
              <a:spcAft>
                <a:spcPts val="200"/>
              </a:spcAft>
              <a:buNone/>
            </a:pPr>
            <a:r>
              <a:rPr lang="en-US" sz="600" dirty="0">
                <a:solidFill>
                  <a:srgbClr val="000000"/>
                </a:solidFill>
                <a:latin typeface="Calibri" pitchFamily="34" charset="0"/>
                <a:ea typeface="Calibri" pitchFamily="34" charset="-122"/>
                <a:cs typeface="Calibri" pitchFamily="34" charset="-120"/>
              </a:rPr>
              <a:t> </a:t>
            </a:r>
            <a:endParaRPr lang="en-US" sz="1500" dirty="0"/>
          </a:p>
          <a:p>
            <a:pPr indent="0" marL="0">
              <a:spcAft>
                <a:spcPts val="200"/>
              </a:spcAft>
              <a:buNone/>
            </a:pPr>
            <a:r>
              <a:rPr lang="en-US" sz="1500" b="1" dirty="0">
                <a:solidFill>
                  <a:srgbClr val="16323A"/>
                </a:solidFill>
                <a:latin typeface="Calibri" pitchFamily="34" charset="0"/>
                <a:ea typeface="Calibri" pitchFamily="34" charset="-122"/>
                <a:cs typeface="Calibri" pitchFamily="34" charset="-120"/>
              </a:rPr>
              <a:t>Everything built on DVDMS inherits it.</a:t>
            </a:r>
            <a:endParaRPr lang="en-US" sz="1500" dirty="0"/>
          </a:p>
          <a:p>
            <a:pPr indent="0" marL="0">
              <a:spcAft>
                <a:spcPts val="200"/>
              </a:spcAft>
              <a:buNone/>
            </a:pPr>
            <a:r>
              <a:rPr lang="en-US" sz="1500" dirty="0">
                <a:solidFill>
                  <a:srgbClr val="5B7780"/>
                </a:solidFill>
                <a:latin typeface="Calibri" pitchFamily="34" charset="0"/>
                <a:ea typeface="Calibri" pitchFamily="34" charset="-122"/>
                <a:cs typeface="Calibri" pitchFamily="34" charset="-120"/>
              </a:rPr>
              <a:t>Dashboards and forecasts are only as good as the data underneath.</a:t>
            </a:r>
            <a:endParaRPr lang="en-US" sz="1500" dirty="0"/>
          </a:p>
        </p:txBody>
      </p:sp>
      <p:sp>
        <p:nvSpPr>
          <p:cNvPr id="4" name="Shape 2"/>
          <p:cNvSpPr/>
          <p:nvPr/>
        </p:nvSpPr>
        <p:spPr>
          <a:xfrm>
            <a:off x="5029200" y="1234440"/>
            <a:ext cx="3657600" cy="960120"/>
          </a:xfrm>
          <a:prstGeom prst="roundRect">
            <a:avLst>
              <a:gd name="adj" fmla="val 11429"/>
            </a:avLst>
          </a:prstGeom>
          <a:solidFill>
            <a:srgbClr val="EEFAF7"/>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5" name="Text 3"/>
          <p:cNvSpPr txBox="1"/>
          <p:nvPr/>
        </p:nvSpPr>
        <p:spPr>
          <a:xfrm>
            <a:off x="5212080" y="1280160"/>
            <a:ext cx="3383280" cy="868680"/>
          </a:xfrm>
          <a:prstGeom prst="rect">
            <a:avLst/>
          </a:prstGeom>
          <a:noFill/>
          <a:ln/>
        </p:spPr>
        <p:txBody>
          <a:bodyPr wrap="square" lIns="0" tIns="0" rIns="0" bIns="0" rtlCol="0" anchor="ctr"/>
          <a:lstStyle/>
          <a:p>
            <a:pPr indent="0" marL="0">
              <a:buNone/>
            </a:pPr>
            <a:r>
              <a:rPr lang="en-US" sz="2600" b="1" dirty="0">
                <a:solidFill>
                  <a:srgbClr val="167F71"/>
                </a:solidFill>
                <a:latin typeface="Cambria" pitchFamily="34" charset="0"/>
                <a:ea typeface="Cambria" pitchFamily="34" charset="-122"/>
                <a:cs typeface="Cambria" pitchFamily="34" charset="-120"/>
              </a:rPr>
              <a:t>₹14.52 crore</a:t>
            </a:r>
            <a:endParaRPr lang="en-US" sz="2600" dirty="0"/>
          </a:p>
          <a:p>
            <a:pPr indent="0" marL="0">
              <a:buNone/>
            </a:pPr>
            <a:r>
              <a:rPr lang="en-US" sz="1200" dirty="0">
                <a:solidFill>
                  <a:srgbClr val="5B7780"/>
                </a:solidFill>
                <a:latin typeface="Calibri" pitchFamily="34" charset="0"/>
                <a:ea typeface="Calibri" pitchFamily="34" charset="-122"/>
                <a:cs typeface="Calibri" pitchFamily="34" charset="-120"/>
              </a:rPr>
              <a:t>expired drugs reported lying in Haryana</a:t>
            </a:r>
            <a:endParaRPr lang="en-US" sz="2600" dirty="0"/>
          </a:p>
        </p:txBody>
      </p:sp>
      <p:sp>
        <p:nvSpPr>
          <p:cNvPr id="6" name="Shape 4"/>
          <p:cNvSpPr/>
          <p:nvPr/>
        </p:nvSpPr>
        <p:spPr>
          <a:xfrm>
            <a:off x="5029200" y="2331720"/>
            <a:ext cx="3657600" cy="960120"/>
          </a:xfrm>
          <a:prstGeom prst="roundRect">
            <a:avLst>
              <a:gd name="adj" fmla="val 11429"/>
            </a:avLst>
          </a:prstGeom>
          <a:solidFill>
            <a:srgbClr val="EEFAF7"/>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7" name="Text 5"/>
          <p:cNvSpPr txBox="1"/>
          <p:nvPr/>
        </p:nvSpPr>
        <p:spPr>
          <a:xfrm>
            <a:off x="5212080" y="2377440"/>
            <a:ext cx="3383280" cy="868680"/>
          </a:xfrm>
          <a:prstGeom prst="rect">
            <a:avLst/>
          </a:prstGeom>
          <a:noFill/>
          <a:ln/>
        </p:spPr>
        <p:txBody>
          <a:bodyPr wrap="square" lIns="0" tIns="0" rIns="0" bIns="0" rtlCol="0" anchor="ctr"/>
          <a:lstStyle/>
          <a:p>
            <a:pPr indent="0" marL="0">
              <a:buNone/>
            </a:pPr>
            <a:r>
              <a:rPr lang="en-US" sz="2600" b="1" dirty="0">
                <a:solidFill>
                  <a:srgbClr val="167F71"/>
                </a:solidFill>
                <a:latin typeface="Cambria" pitchFamily="34" charset="0"/>
                <a:ea typeface="Cambria" pitchFamily="34" charset="-122"/>
                <a:cs typeface="Cambria" pitchFamily="34" charset="-120"/>
              </a:rPr>
              <a:t>₹23.03 crore</a:t>
            </a:r>
            <a:endParaRPr lang="en-US" sz="2600" dirty="0"/>
          </a:p>
          <a:p>
            <a:pPr indent="0" marL="0">
              <a:buNone/>
            </a:pPr>
            <a:r>
              <a:rPr lang="en-US" sz="1200" dirty="0">
                <a:solidFill>
                  <a:srgbClr val="5B7780"/>
                </a:solidFill>
                <a:latin typeface="Calibri" pitchFamily="34" charset="0"/>
                <a:ea typeface="Calibri" pitchFamily="34" charset="-122"/>
                <a:cs typeface="Calibri" pitchFamily="34" charset="-120"/>
              </a:rPr>
              <a:t>expired drugs reported in Karnataka, 2019–22</a:t>
            </a:r>
            <a:endParaRPr lang="en-US" sz="2600" dirty="0"/>
          </a:p>
        </p:txBody>
      </p:sp>
      <p:pic>
        <p:nvPicPr>
          <p:cNvPr id="8" name="Image 0" descr="D:\RegisterLens\docs\deck\art\taking-notes_oyqz.png">    </p:cNvPr>
          <p:cNvPicPr>
            <a:picLocks noChangeAspect="1"/>
          </p:cNvPicPr>
          <p:nvPr/>
        </p:nvPicPr>
        <p:blipFill>
          <a:blip r:embed="rId1"/>
          <a:srcRect l="0" r="0" t="0" b="0"/>
          <a:stretch/>
        </p:blipFill>
        <p:spPr>
          <a:xfrm>
            <a:off x="5943600" y="3337560"/>
            <a:ext cx="2011680" cy="1463040"/>
          </a:xfrm>
          <a:prstGeom prst="rect">
            <a:avLst/>
          </a:prstGeom>
        </p:spPr>
      </p:pic>
      <p:sp>
        <p:nvSpPr>
          <p:cNvPr id="9" name="Text 6"/>
          <p:cNvSpPr txBox="1"/>
          <p:nvPr/>
        </p:nvSpPr>
        <p:spPr>
          <a:xfrm>
            <a:off x="457200" y="4617720"/>
            <a:ext cx="4937760" cy="274320"/>
          </a:xfrm>
          <a:prstGeom prst="rect">
            <a:avLst/>
          </a:prstGeom>
          <a:noFill/>
          <a:ln/>
        </p:spPr>
        <p:txBody>
          <a:bodyPr wrap="square" lIns="0" tIns="0" rIns="0" bIns="0" rtlCol="0" anchor="ctr"/>
          <a:lstStyle/>
          <a:p>
            <a:pPr indent="0" marL="0">
              <a:buNone/>
            </a:pPr>
            <a:r>
              <a:rPr lang="en-US" sz="900" dirty="0">
                <a:solidFill>
                  <a:srgbClr val="5B7780"/>
                </a:solidFill>
                <a:latin typeface="Calibri" pitchFamily="34" charset="0"/>
                <a:ea typeface="Calibri" pitchFamily="34" charset="-122"/>
                <a:cs typeface="Calibri" pitchFamily="34" charset="-120"/>
              </a:rPr>
              <a:t>Sources: CAG audit findings reported by The Tribune and Deccan Herald; CAG e-Aushadhi IT audit.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Beyond one PHC: all of Uttar Pradesh</a:t>
            </a:r>
            <a:endParaRPr lang="en-US" sz="3000" dirty="0"/>
          </a:p>
        </p:txBody>
      </p:sp>
      <p:pic>
        <p:nvPicPr>
          <p:cNvPr id="3" name="Image 0" descr="D:\RegisterLens\docs\deck\img_crop\map_district.png">    </p:cNvPr>
          <p:cNvPicPr>
            <a:picLocks noChangeAspect="1"/>
          </p:cNvPicPr>
          <p:nvPr/>
        </p:nvPicPr>
        <p:blipFill>
          <a:blip r:embed="rId1"/>
          <a:stretch>
            <a:fillRect/>
          </a:stretch>
        </p:blipFill>
        <p:spPr>
          <a:xfrm>
            <a:off x="457200" y="1188720"/>
            <a:ext cx="4754880" cy="2130552"/>
          </a:xfrm>
          <a:prstGeom prst="rect">
            <a:avLst/>
          </a:prstGeom>
          <a:effectLst>
            <a:outerShdw sx="100000" sy="100000" kx="0" ky="0" algn="bl" rotWithShape="0" blurRad="127000" dist="38100" dir="5400000">
              <a:srgbClr val="14665C">
                <a:alpha val="18000"/>
              </a:srgbClr>
            </a:outerShdw>
          </a:effectLst>
        </p:spPr>
      </p:pic>
      <p:sp>
        <p:nvSpPr>
          <p:cNvPr id="4" name="Text 1"/>
          <p:cNvSpPr txBox="1"/>
          <p:nvPr/>
        </p:nvSpPr>
        <p:spPr>
          <a:xfrm>
            <a:off x="457200" y="3383280"/>
            <a:ext cx="4754880" cy="457200"/>
          </a:xfrm>
          <a:prstGeom prst="rect">
            <a:avLst/>
          </a:prstGeom>
          <a:noFill/>
          <a:ln/>
        </p:spPr>
        <p:txBody>
          <a:bodyPr wrap="square" lIns="0" tIns="0" rIns="0" bIns="0" rtlCol="0" anchor="t"/>
          <a:lstStyle/>
          <a:p>
            <a:pPr indent="0" marL="0">
              <a:buNone/>
            </a:pPr>
            <a:r>
              <a:rPr lang="en-US" sz="1100" dirty="0">
                <a:solidFill>
                  <a:srgbClr val="5B7780"/>
                </a:solidFill>
                <a:latin typeface="Calibri" pitchFamily="34" charset="0"/>
                <a:ea typeface="Calibri" pitchFamily="34" charset="-122"/>
                <a:cs typeface="Calibri" pitchFamily="34" charset="-120"/>
              </a:rPr>
              <a:t>Gonda: every facility at its real location, coloured by stock risk; purple = villages more than 8 km from a PHC/CHC (1,428 in Gonda)</a:t>
            </a:r>
            <a:endParaRPr lang="en-US" sz="1100" dirty="0"/>
          </a:p>
        </p:txBody>
      </p:sp>
      <p:sp>
        <p:nvSpPr>
          <p:cNvPr id="5" name="Shape 2"/>
          <p:cNvSpPr/>
          <p:nvPr/>
        </p:nvSpPr>
        <p:spPr>
          <a:xfrm>
            <a:off x="5486400" y="1188720"/>
            <a:ext cx="3246120" cy="804672"/>
          </a:xfrm>
          <a:prstGeom prst="roundRect">
            <a:avLst>
              <a:gd name="adj" fmla="val 13636"/>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6" name="Text 3"/>
          <p:cNvSpPr txBox="1"/>
          <p:nvPr/>
        </p:nvSpPr>
        <p:spPr>
          <a:xfrm>
            <a:off x="5669280" y="1188720"/>
            <a:ext cx="2971800" cy="804672"/>
          </a:xfrm>
          <a:prstGeom prst="rect">
            <a:avLst/>
          </a:prstGeom>
          <a:noFill/>
          <a:ln/>
        </p:spPr>
        <p:txBody>
          <a:bodyPr wrap="square" lIns="0" tIns="0" rIns="0" bIns="0" rtlCol="0" anchor="ctr"/>
          <a:lstStyle/>
          <a:p>
            <a:pPr indent="0" marL="0">
              <a:buNone/>
            </a:pPr>
            <a:r>
              <a:rPr lang="en-US" sz="2400" b="1" dirty="0">
                <a:solidFill>
                  <a:srgbClr val="167F71"/>
                </a:solidFill>
                <a:latin typeface="Cambria" pitchFamily="34" charset="0"/>
                <a:ea typeface="Cambria" pitchFamily="34" charset="-122"/>
                <a:cs typeface="Cambria" pitchFamily="34" charset="-120"/>
              </a:rPr>
              <a:t>3,948  </a:t>
            </a:r>
            <a:pPr indent="0" marL="0">
              <a:buNone/>
            </a:pPr>
            <a:r>
              <a:rPr lang="en-US" sz="1150" dirty="0">
                <a:solidFill>
                  <a:srgbClr val="5B7780"/>
                </a:solidFill>
                <a:latin typeface="Calibri" pitchFamily="34" charset="0"/>
                <a:ea typeface="Calibri" pitchFamily="34" charset="-122"/>
                <a:cs typeface="Calibri" pitchFamily="34" charset="-120"/>
              </a:rPr>
              <a:t>public health facilities mapped (OpenStreetMap)</a:t>
            </a:r>
            <a:endParaRPr lang="en-US" sz="2400" dirty="0"/>
          </a:p>
        </p:txBody>
      </p:sp>
      <p:sp>
        <p:nvSpPr>
          <p:cNvPr id="7" name="Shape 4"/>
          <p:cNvSpPr/>
          <p:nvPr/>
        </p:nvSpPr>
        <p:spPr>
          <a:xfrm>
            <a:off x="5486400" y="2121408"/>
            <a:ext cx="3246120" cy="804672"/>
          </a:xfrm>
          <a:prstGeom prst="roundRect">
            <a:avLst>
              <a:gd name="adj" fmla="val 13636"/>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8" name="Text 5"/>
          <p:cNvSpPr txBox="1"/>
          <p:nvPr/>
        </p:nvSpPr>
        <p:spPr>
          <a:xfrm>
            <a:off x="5669280" y="2121408"/>
            <a:ext cx="2971800" cy="804672"/>
          </a:xfrm>
          <a:prstGeom prst="rect">
            <a:avLst/>
          </a:prstGeom>
          <a:noFill/>
          <a:ln/>
        </p:spPr>
        <p:txBody>
          <a:bodyPr wrap="square" lIns="0" tIns="0" rIns="0" bIns="0" rtlCol="0" anchor="ctr"/>
          <a:lstStyle/>
          <a:p>
            <a:pPr indent="0" marL="0">
              <a:buNone/>
            </a:pPr>
            <a:r>
              <a:rPr lang="en-US" sz="2400" b="1" dirty="0">
                <a:solidFill>
                  <a:srgbClr val="167F71"/>
                </a:solidFill>
                <a:latin typeface="Cambria" pitchFamily="34" charset="0"/>
                <a:ea typeface="Cambria" pitchFamily="34" charset="-122"/>
                <a:cs typeface="Cambria" pitchFamily="34" charset="-120"/>
              </a:rPr>
              <a:t>75  </a:t>
            </a:r>
            <a:pPr indent="0" marL="0">
              <a:buNone/>
            </a:pPr>
            <a:r>
              <a:rPr lang="en-US" sz="1150" dirty="0">
                <a:solidFill>
                  <a:srgbClr val="5B7780"/>
                </a:solidFill>
                <a:latin typeface="Calibri" pitchFamily="34" charset="0"/>
                <a:ea typeface="Calibri" pitchFamily="34" charset="-122"/>
                <a:cs typeface="Calibri" pitchFamily="34" charset="-120"/>
              </a:rPr>
              <a:t>districts, with villages far from care</a:t>
            </a:r>
            <a:endParaRPr lang="en-US" sz="2400" dirty="0"/>
          </a:p>
        </p:txBody>
      </p:sp>
      <p:sp>
        <p:nvSpPr>
          <p:cNvPr id="9" name="Shape 6"/>
          <p:cNvSpPr/>
          <p:nvPr/>
        </p:nvSpPr>
        <p:spPr>
          <a:xfrm>
            <a:off x="5486400" y="3054096"/>
            <a:ext cx="3246120" cy="804672"/>
          </a:xfrm>
          <a:prstGeom prst="roundRect">
            <a:avLst>
              <a:gd name="adj" fmla="val 13636"/>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0" name="Text 7"/>
          <p:cNvSpPr txBox="1"/>
          <p:nvPr/>
        </p:nvSpPr>
        <p:spPr>
          <a:xfrm>
            <a:off x="5669280" y="3054096"/>
            <a:ext cx="2971800" cy="804672"/>
          </a:xfrm>
          <a:prstGeom prst="rect">
            <a:avLst/>
          </a:prstGeom>
          <a:noFill/>
          <a:ln/>
        </p:spPr>
        <p:txBody>
          <a:bodyPr wrap="square" lIns="0" tIns="0" rIns="0" bIns="0" rtlCol="0" anchor="ctr"/>
          <a:lstStyle/>
          <a:p>
            <a:pPr indent="0" marL="0">
              <a:buNone/>
            </a:pPr>
            <a:r>
              <a:rPr lang="en-US" sz="2400" b="1" dirty="0">
                <a:solidFill>
                  <a:srgbClr val="167F71"/>
                </a:solidFill>
                <a:latin typeface="Cambria" pitchFamily="34" charset="0"/>
                <a:ea typeface="Cambria" pitchFamily="34" charset="-122"/>
                <a:cs typeface="Cambria" pitchFamily="34" charset="-120"/>
              </a:rPr>
              <a:t>84  </a:t>
            </a:r>
            <a:pPr indent="0" marL="0">
              <a:buNone/>
            </a:pPr>
            <a:r>
              <a:rPr lang="en-US" sz="1150" dirty="0">
                <a:solidFill>
                  <a:srgbClr val="5B7780"/>
                </a:solidFill>
                <a:latin typeface="Calibri" pitchFamily="34" charset="0"/>
                <a:ea typeface="Calibri" pitchFamily="34" charset="-122"/>
                <a:cs typeface="Calibri" pitchFamily="34" charset="-120"/>
              </a:rPr>
              <a:t>expiry transfers suggested in Barabanki alone</a:t>
            </a:r>
            <a:endParaRPr lang="en-US" sz="2400" dirty="0"/>
          </a:p>
        </p:txBody>
      </p:sp>
      <p:sp>
        <p:nvSpPr>
          <p:cNvPr id="11" name="Text 8"/>
          <p:cNvSpPr txBox="1"/>
          <p:nvPr/>
        </p:nvSpPr>
        <p:spPr>
          <a:xfrm>
            <a:off x="457200" y="4023360"/>
            <a:ext cx="8275320" cy="640080"/>
          </a:xfrm>
          <a:prstGeom prst="rect">
            <a:avLst/>
          </a:prstGeom>
          <a:noFill/>
          <a:ln/>
        </p:spPr>
        <p:txBody>
          <a:bodyPr wrap="square" lIns="0" tIns="0" rIns="0" bIns="0" rtlCol="0" anchor="t"/>
          <a:lstStyle/>
          <a:p>
            <a:pPr indent="0" marL="0">
              <a:buNone/>
            </a:pPr>
            <a:r>
              <a:rPr lang="en-US" sz="1300" b="1" dirty="0">
                <a:solidFill>
                  <a:srgbClr val="167F71"/>
                </a:solidFill>
                <a:latin typeface="Calibri" pitchFamily="34" charset="0"/>
                <a:ea typeface="Calibri" pitchFamily="34" charset="-122"/>
                <a:cs typeface="Calibri" pitchFamily="34" charset="-120"/>
              </a:rPr>
              <a:t>Phase 3, live: </a:t>
            </a:r>
            <a:pPr indent="0" marL="0">
              <a:buNone/>
            </a:pPr>
            <a:r>
              <a:rPr lang="en-US" sz="1300" dirty="0">
                <a:solidFill>
                  <a:srgbClr val="16323A"/>
                </a:solidFill>
                <a:latin typeface="Calibri" pitchFamily="34" charset="0"/>
                <a:ea typeface="Calibri" pitchFamily="34" charset="-122"/>
                <a:cs typeface="Calibri" pitchFamily="34" charset="-120"/>
              </a:rPr>
              <a:t>batches that would expire unused are matched to the nearest facility running short; the district officer approves each move and downloads transfer orders.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One photo. Four steps. Zero extra typing.</a:t>
            </a:r>
            <a:endParaRPr lang="en-US" sz="3000" dirty="0"/>
          </a:p>
        </p:txBody>
      </p:sp>
      <p:sp>
        <p:nvSpPr>
          <p:cNvPr id="3" name="Shape 1"/>
          <p:cNvSpPr/>
          <p:nvPr/>
        </p:nvSpPr>
        <p:spPr>
          <a:xfrm>
            <a:off x="457200" y="1463040"/>
            <a:ext cx="1874520" cy="2286000"/>
          </a:xfrm>
          <a:prstGeom prst="roundRect">
            <a:avLst>
              <a:gd name="adj" fmla="val 585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4" name="Shape 2"/>
          <p:cNvSpPr/>
          <p:nvPr/>
        </p:nvSpPr>
        <p:spPr>
          <a:xfrm>
            <a:off x="1115568" y="1691640"/>
            <a:ext cx="566928" cy="566928"/>
          </a:xfrm>
          <a:prstGeom prst="ellipse">
            <a:avLst/>
          </a:prstGeom>
          <a:solidFill>
            <a:srgbClr val="3B9CE2"/>
          </a:solidFill>
          <a:ln w="12700">
            <a:solidFill>
              <a:srgbClr val="3B9CE2"/>
            </a:solidFill>
            <a:prstDash val="solid"/>
          </a:ln>
        </p:spPr>
      </p:sp>
      <p:sp>
        <p:nvSpPr>
          <p:cNvPr id="5" name="Text 3"/>
          <p:cNvSpPr txBox="1"/>
          <p:nvPr/>
        </p:nvSpPr>
        <p:spPr>
          <a:xfrm>
            <a:off x="1115568" y="169164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594360" y="2377440"/>
            <a:ext cx="1600200" cy="365760"/>
          </a:xfrm>
          <a:prstGeom prst="rect">
            <a:avLst/>
          </a:prstGeom>
          <a:noFill/>
          <a:ln/>
        </p:spPr>
        <p:txBody>
          <a:bodyPr wrap="square" lIns="0" tIns="0" rIns="0" bIns="0" rtlCol="0" anchor="ctr"/>
          <a:lstStyle/>
          <a:p>
            <a:pPr algn="ctr" indent="0" marL="0">
              <a:buNone/>
            </a:pPr>
            <a:r>
              <a:rPr lang="en-US" sz="1900" b="1" dirty="0">
                <a:solidFill>
                  <a:srgbClr val="16323A"/>
                </a:solidFill>
                <a:latin typeface="Cambria" pitchFamily="34" charset="0"/>
                <a:ea typeface="Cambria" pitchFamily="34" charset="-122"/>
                <a:cs typeface="Cambria" pitchFamily="34" charset="-120"/>
              </a:rPr>
              <a:t>Snap</a:t>
            </a:r>
            <a:endParaRPr lang="en-US" sz="1900" dirty="0"/>
          </a:p>
        </p:txBody>
      </p:sp>
      <p:sp>
        <p:nvSpPr>
          <p:cNvPr id="7" name="Text 5"/>
          <p:cNvSpPr txBox="1"/>
          <p:nvPr/>
        </p:nvSpPr>
        <p:spPr>
          <a:xfrm>
            <a:off x="640080" y="2788920"/>
            <a:ext cx="1508760" cy="868680"/>
          </a:xfrm>
          <a:prstGeom prst="rect">
            <a:avLst/>
          </a:prstGeom>
          <a:noFill/>
          <a:ln/>
        </p:spPr>
        <p:txBody>
          <a:bodyPr wrap="square" lIns="0" tIns="0" rIns="0" bIns="0" rtlCol="0" anchor="t"/>
          <a:lstStyle/>
          <a:p>
            <a:pPr algn="ctr" indent="0" marL="0">
              <a:buNone/>
            </a:pPr>
            <a:r>
              <a:rPr lang="en-US" sz="1200" dirty="0">
                <a:solidFill>
                  <a:srgbClr val="5B7780"/>
                </a:solidFill>
                <a:latin typeface="Calibri" pitchFamily="34" charset="0"/>
                <a:ea typeface="Calibri" pitchFamily="34" charset="-122"/>
                <a:cs typeface="Calibri" pitchFamily="34" charset="-120"/>
              </a:rPr>
              <a:t>Photograph the day's register page.</a:t>
            </a:r>
            <a:endParaRPr lang="en-US" sz="1200" dirty="0"/>
          </a:p>
        </p:txBody>
      </p:sp>
      <p:sp>
        <p:nvSpPr>
          <p:cNvPr id="8" name="Text 6"/>
          <p:cNvSpPr txBox="1"/>
          <p:nvPr/>
        </p:nvSpPr>
        <p:spPr>
          <a:xfrm>
            <a:off x="2331720" y="2103120"/>
            <a:ext cx="246888" cy="457200"/>
          </a:xfrm>
          <a:prstGeom prst="rect">
            <a:avLst/>
          </a:prstGeom>
          <a:noFill/>
          <a:ln/>
        </p:spPr>
        <p:txBody>
          <a:bodyPr wrap="square" lIns="0" tIns="0" rIns="0" bIns="0" rtlCol="0" anchor="ctr"/>
          <a:lstStyle/>
          <a:p>
            <a:pPr algn="ctr" indent="0" marL="0">
              <a:buNone/>
            </a:pPr>
            <a:r>
              <a:rPr lang="en-US" sz="2600" b="1" dirty="0">
                <a:solidFill>
                  <a:srgbClr val="72D0BD"/>
                </a:solidFill>
                <a:latin typeface="Calibri" pitchFamily="34" charset="0"/>
                <a:ea typeface="Calibri" pitchFamily="34" charset="-122"/>
                <a:cs typeface="Calibri" pitchFamily="34" charset="-120"/>
              </a:rPr>
              <a:t>›</a:t>
            </a:r>
            <a:endParaRPr lang="en-US" sz="2600" dirty="0"/>
          </a:p>
        </p:txBody>
      </p:sp>
      <p:sp>
        <p:nvSpPr>
          <p:cNvPr id="9" name="Shape 7"/>
          <p:cNvSpPr/>
          <p:nvPr/>
        </p:nvSpPr>
        <p:spPr>
          <a:xfrm>
            <a:off x="2578608" y="1463040"/>
            <a:ext cx="1874520" cy="2286000"/>
          </a:xfrm>
          <a:prstGeom prst="roundRect">
            <a:avLst>
              <a:gd name="adj" fmla="val 585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0" name="Shape 8"/>
          <p:cNvSpPr/>
          <p:nvPr/>
        </p:nvSpPr>
        <p:spPr>
          <a:xfrm>
            <a:off x="3236976" y="1691640"/>
            <a:ext cx="566928" cy="566928"/>
          </a:xfrm>
          <a:prstGeom prst="ellipse">
            <a:avLst/>
          </a:prstGeom>
          <a:solidFill>
            <a:srgbClr val="167F71"/>
          </a:solidFill>
          <a:ln w="12700">
            <a:solidFill>
              <a:srgbClr val="167F71"/>
            </a:solidFill>
            <a:prstDash val="solid"/>
          </a:ln>
        </p:spPr>
      </p:sp>
      <p:sp>
        <p:nvSpPr>
          <p:cNvPr id="11" name="Text 9"/>
          <p:cNvSpPr txBox="1"/>
          <p:nvPr/>
        </p:nvSpPr>
        <p:spPr>
          <a:xfrm>
            <a:off x="3236976" y="169164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2715768" y="2377440"/>
            <a:ext cx="1600200" cy="365760"/>
          </a:xfrm>
          <a:prstGeom prst="rect">
            <a:avLst/>
          </a:prstGeom>
          <a:noFill/>
          <a:ln/>
        </p:spPr>
        <p:txBody>
          <a:bodyPr wrap="square" lIns="0" tIns="0" rIns="0" bIns="0" rtlCol="0" anchor="ctr"/>
          <a:lstStyle/>
          <a:p>
            <a:pPr algn="ctr" indent="0" marL="0">
              <a:buNone/>
            </a:pPr>
            <a:r>
              <a:rPr lang="en-US" sz="1900" b="1" dirty="0">
                <a:solidFill>
                  <a:srgbClr val="16323A"/>
                </a:solidFill>
                <a:latin typeface="Cambria" pitchFamily="34" charset="0"/>
                <a:ea typeface="Cambria" pitchFamily="34" charset="-122"/>
                <a:cs typeface="Cambria" pitchFamily="34" charset="-120"/>
              </a:rPr>
              <a:t>Read</a:t>
            </a:r>
            <a:endParaRPr lang="en-US" sz="1900" dirty="0"/>
          </a:p>
        </p:txBody>
      </p:sp>
      <p:sp>
        <p:nvSpPr>
          <p:cNvPr id="13" name="Text 11"/>
          <p:cNvSpPr txBox="1"/>
          <p:nvPr/>
        </p:nvSpPr>
        <p:spPr>
          <a:xfrm>
            <a:off x="2761488" y="2788920"/>
            <a:ext cx="1508760" cy="868680"/>
          </a:xfrm>
          <a:prstGeom prst="rect">
            <a:avLst/>
          </a:prstGeom>
          <a:noFill/>
          <a:ln/>
        </p:spPr>
        <p:txBody>
          <a:bodyPr wrap="square" lIns="0" tIns="0" rIns="0" bIns="0" rtlCol="0" anchor="t"/>
          <a:lstStyle/>
          <a:p>
            <a:pPr algn="ctr" indent="0" marL="0">
              <a:buNone/>
            </a:pPr>
            <a:r>
              <a:rPr lang="en-US" sz="1200" dirty="0">
                <a:solidFill>
                  <a:srgbClr val="5B7780"/>
                </a:solidFill>
                <a:latin typeface="Calibri" pitchFamily="34" charset="0"/>
                <a:ea typeface="Calibri" pitchFamily="34" charset="-122"/>
                <a:cs typeface="Calibri" pitchFamily="34" charset="-120"/>
              </a:rPr>
              <a:t>Gemini reads Hindi + English handwriting and scores each cell.</a:t>
            </a:r>
            <a:endParaRPr lang="en-US" sz="1200" dirty="0"/>
          </a:p>
        </p:txBody>
      </p:sp>
      <p:sp>
        <p:nvSpPr>
          <p:cNvPr id="14" name="Text 12"/>
          <p:cNvSpPr txBox="1"/>
          <p:nvPr/>
        </p:nvSpPr>
        <p:spPr>
          <a:xfrm>
            <a:off x="4453128" y="2103120"/>
            <a:ext cx="246888" cy="457200"/>
          </a:xfrm>
          <a:prstGeom prst="rect">
            <a:avLst/>
          </a:prstGeom>
          <a:noFill/>
          <a:ln/>
        </p:spPr>
        <p:txBody>
          <a:bodyPr wrap="square" lIns="0" tIns="0" rIns="0" bIns="0" rtlCol="0" anchor="ctr"/>
          <a:lstStyle/>
          <a:p>
            <a:pPr algn="ctr" indent="0" marL="0">
              <a:buNone/>
            </a:pPr>
            <a:r>
              <a:rPr lang="en-US" sz="2600" b="1" dirty="0">
                <a:solidFill>
                  <a:srgbClr val="72D0BD"/>
                </a:solidFill>
                <a:latin typeface="Calibri" pitchFamily="34" charset="0"/>
                <a:ea typeface="Calibri" pitchFamily="34" charset="-122"/>
                <a:cs typeface="Calibri" pitchFamily="34" charset="-120"/>
              </a:rPr>
              <a:t>›</a:t>
            </a:r>
            <a:endParaRPr lang="en-US" sz="2600" dirty="0"/>
          </a:p>
        </p:txBody>
      </p:sp>
      <p:sp>
        <p:nvSpPr>
          <p:cNvPr id="15" name="Shape 13"/>
          <p:cNvSpPr/>
          <p:nvPr/>
        </p:nvSpPr>
        <p:spPr>
          <a:xfrm>
            <a:off x="4700016" y="1463040"/>
            <a:ext cx="1874520" cy="2286000"/>
          </a:xfrm>
          <a:prstGeom prst="roundRect">
            <a:avLst>
              <a:gd name="adj" fmla="val 585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6" name="Shape 14"/>
          <p:cNvSpPr/>
          <p:nvPr/>
        </p:nvSpPr>
        <p:spPr>
          <a:xfrm>
            <a:off x="5358384" y="1691640"/>
            <a:ext cx="566928" cy="566928"/>
          </a:xfrm>
          <a:prstGeom prst="ellipse">
            <a:avLst/>
          </a:prstGeom>
          <a:solidFill>
            <a:srgbClr val="F0A23B"/>
          </a:solidFill>
          <a:ln w="12700">
            <a:solidFill>
              <a:srgbClr val="F0A23B"/>
            </a:solidFill>
            <a:prstDash val="solid"/>
          </a:ln>
        </p:spPr>
      </p:sp>
      <p:sp>
        <p:nvSpPr>
          <p:cNvPr id="17" name="Text 15"/>
          <p:cNvSpPr txBox="1"/>
          <p:nvPr/>
        </p:nvSpPr>
        <p:spPr>
          <a:xfrm>
            <a:off x="5358384" y="169164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4837176" y="2377440"/>
            <a:ext cx="1600200" cy="365760"/>
          </a:xfrm>
          <a:prstGeom prst="rect">
            <a:avLst/>
          </a:prstGeom>
          <a:noFill/>
          <a:ln/>
        </p:spPr>
        <p:txBody>
          <a:bodyPr wrap="square" lIns="0" tIns="0" rIns="0" bIns="0" rtlCol="0" anchor="ctr"/>
          <a:lstStyle/>
          <a:p>
            <a:pPr algn="ctr" indent="0" marL="0">
              <a:buNone/>
            </a:pPr>
            <a:r>
              <a:rPr lang="en-US" sz="1900" b="1" dirty="0">
                <a:solidFill>
                  <a:srgbClr val="16323A"/>
                </a:solidFill>
                <a:latin typeface="Cambria" pitchFamily="34" charset="0"/>
                <a:ea typeface="Cambria" pitchFamily="34" charset="-122"/>
                <a:cs typeface="Cambria" pitchFamily="34" charset="-120"/>
              </a:rPr>
              <a:t>Confirm</a:t>
            </a:r>
            <a:endParaRPr lang="en-US" sz="1900" dirty="0"/>
          </a:p>
        </p:txBody>
      </p:sp>
      <p:sp>
        <p:nvSpPr>
          <p:cNvPr id="19" name="Text 17"/>
          <p:cNvSpPr txBox="1"/>
          <p:nvPr/>
        </p:nvSpPr>
        <p:spPr>
          <a:xfrm>
            <a:off x="4882896" y="2788920"/>
            <a:ext cx="1508760" cy="868680"/>
          </a:xfrm>
          <a:prstGeom prst="rect">
            <a:avLst/>
          </a:prstGeom>
          <a:noFill/>
          <a:ln/>
        </p:spPr>
        <p:txBody>
          <a:bodyPr wrap="square" lIns="0" tIns="0" rIns="0" bIns="0" rtlCol="0" anchor="t"/>
          <a:lstStyle/>
          <a:p>
            <a:pPr algn="ctr" indent="0" marL="0">
              <a:buNone/>
            </a:pPr>
            <a:r>
              <a:rPr lang="en-US" sz="1200" dirty="0">
                <a:solidFill>
                  <a:srgbClr val="5B7780"/>
                </a:solidFill>
                <a:latin typeface="Calibri" pitchFamily="34" charset="0"/>
                <a:ea typeface="Calibri" pitchFamily="34" charset="-122"/>
                <a:cs typeface="Calibri" pitchFamily="34" charset="-120"/>
              </a:rPr>
              <a:t>The pharmacist checks only flagged cells.</a:t>
            </a:r>
            <a:endParaRPr lang="en-US" sz="1200" dirty="0"/>
          </a:p>
        </p:txBody>
      </p:sp>
      <p:sp>
        <p:nvSpPr>
          <p:cNvPr id="20" name="Text 18"/>
          <p:cNvSpPr txBox="1"/>
          <p:nvPr/>
        </p:nvSpPr>
        <p:spPr>
          <a:xfrm>
            <a:off x="6574536" y="2103120"/>
            <a:ext cx="246888" cy="457200"/>
          </a:xfrm>
          <a:prstGeom prst="rect">
            <a:avLst/>
          </a:prstGeom>
          <a:noFill/>
          <a:ln/>
        </p:spPr>
        <p:txBody>
          <a:bodyPr wrap="square" lIns="0" tIns="0" rIns="0" bIns="0" rtlCol="0" anchor="ctr"/>
          <a:lstStyle/>
          <a:p>
            <a:pPr algn="ctr" indent="0" marL="0">
              <a:buNone/>
            </a:pPr>
            <a:r>
              <a:rPr lang="en-US" sz="2600" b="1" dirty="0">
                <a:solidFill>
                  <a:srgbClr val="72D0BD"/>
                </a:solidFill>
                <a:latin typeface="Calibri" pitchFamily="34" charset="0"/>
                <a:ea typeface="Calibri" pitchFamily="34" charset="-122"/>
                <a:cs typeface="Calibri" pitchFamily="34" charset="-120"/>
              </a:rPr>
              <a:t>›</a:t>
            </a:r>
            <a:endParaRPr lang="en-US" sz="2600" dirty="0"/>
          </a:p>
        </p:txBody>
      </p:sp>
      <p:sp>
        <p:nvSpPr>
          <p:cNvPr id="21" name="Shape 19"/>
          <p:cNvSpPr/>
          <p:nvPr/>
        </p:nvSpPr>
        <p:spPr>
          <a:xfrm>
            <a:off x="6821424" y="1463040"/>
            <a:ext cx="1874520" cy="2286000"/>
          </a:xfrm>
          <a:prstGeom prst="roundRect">
            <a:avLst>
              <a:gd name="adj" fmla="val 585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22" name="Shape 20"/>
          <p:cNvSpPr/>
          <p:nvPr/>
        </p:nvSpPr>
        <p:spPr>
          <a:xfrm>
            <a:off x="7479792" y="1691640"/>
            <a:ext cx="566928" cy="566928"/>
          </a:xfrm>
          <a:prstGeom prst="ellipse">
            <a:avLst/>
          </a:prstGeom>
          <a:solidFill>
            <a:srgbClr val="E5484D"/>
          </a:solidFill>
          <a:ln w="12700">
            <a:solidFill>
              <a:srgbClr val="E5484D"/>
            </a:solidFill>
            <a:prstDash val="solid"/>
          </a:ln>
        </p:spPr>
      </p:sp>
      <p:sp>
        <p:nvSpPr>
          <p:cNvPr id="23" name="Text 21"/>
          <p:cNvSpPr txBox="1"/>
          <p:nvPr/>
        </p:nvSpPr>
        <p:spPr>
          <a:xfrm>
            <a:off x="7479792" y="169164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2"/>
          <p:cNvSpPr txBox="1"/>
          <p:nvPr/>
        </p:nvSpPr>
        <p:spPr>
          <a:xfrm>
            <a:off x="6958584" y="2377440"/>
            <a:ext cx="1600200" cy="365760"/>
          </a:xfrm>
          <a:prstGeom prst="rect">
            <a:avLst/>
          </a:prstGeom>
          <a:noFill/>
          <a:ln/>
        </p:spPr>
        <p:txBody>
          <a:bodyPr wrap="square" lIns="0" tIns="0" rIns="0" bIns="0" rtlCol="0" anchor="ctr"/>
          <a:lstStyle/>
          <a:p>
            <a:pPr algn="ctr" indent="0" marL="0">
              <a:buNone/>
            </a:pPr>
            <a:r>
              <a:rPr lang="en-US" sz="1900" b="1" dirty="0">
                <a:solidFill>
                  <a:srgbClr val="16323A"/>
                </a:solidFill>
                <a:latin typeface="Cambria" pitchFamily="34" charset="0"/>
                <a:ea typeface="Cambria" pitchFamily="34" charset="-122"/>
                <a:cs typeface="Cambria" pitchFamily="34" charset="-120"/>
              </a:rPr>
              <a:t>Sync</a:t>
            </a:r>
            <a:endParaRPr lang="en-US" sz="1900" dirty="0"/>
          </a:p>
        </p:txBody>
      </p:sp>
      <p:sp>
        <p:nvSpPr>
          <p:cNvPr id="25" name="Text 23"/>
          <p:cNvSpPr txBox="1"/>
          <p:nvPr/>
        </p:nvSpPr>
        <p:spPr>
          <a:xfrm>
            <a:off x="7004304" y="2788920"/>
            <a:ext cx="1508760" cy="868680"/>
          </a:xfrm>
          <a:prstGeom prst="rect">
            <a:avLst/>
          </a:prstGeom>
          <a:noFill/>
          <a:ln/>
        </p:spPr>
        <p:txBody>
          <a:bodyPr wrap="square" lIns="0" tIns="0" rIns="0" bIns="0" rtlCol="0" anchor="t"/>
          <a:lstStyle/>
          <a:p>
            <a:pPr algn="ctr" indent="0" marL="0">
              <a:buNone/>
            </a:pPr>
            <a:r>
              <a:rPr lang="en-US" sz="1200" dirty="0">
                <a:solidFill>
                  <a:srgbClr val="5B7780"/>
                </a:solidFill>
                <a:latin typeface="Calibri" pitchFamily="34" charset="0"/>
                <a:ea typeface="Calibri" pitchFamily="34" charset="-122"/>
                <a:cs typeface="Calibri" pitchFamily="34" charset="-120"/>
              </a:rPr>
              <a:t>DVDMS bulk entry + Hindi/English district alert.</a:t>
            </a:r>
            <a:endParaRPr lang="en-US" sz="1200" dirty="0"/>
          </a:p>
        </p:txBody>
      </p:sp>
      <p:sp>
        <p:nvSpPr>
          <p:cNvPr id="26" name="Text 24"/>
          <p:cNvSpPr txBox="1"/>
          <p:nvPr/>
        </p:nvSpPr>
        <p:spPr>
          <a:xfrm>
            <a:off x="457200" y="4160520"/>
            <a:ext cx="8229600" cy="365760"/>
          </a:xfrm>
          <a:prstGeom prst="rect">
            <a:avLst/>
          </a:prstGeom>
          <a:noFill/>
          <a:ln/>
        </p:spPr>
        <p:txBody>
          <a:bodyPr wrap="square" lIns="0" tIns="0" rIns="0" bIns="0" rtlCol="0" anchor="ctr"/>
          <a:lstStyle/>
          <a:p>
            <a:pPr algn="ctr" indent="0" marL="0">
              <a:buNone/>
            </a:pPr>
            <a:r>
              <a:rPr lang="en-US" sz="1500" b="1" dirty="0">
                <a:solidFill>
                  <a:srgbClr val="167F71"/>
                </a:solidFill>
                <a:latin typeface="Calibri" pitchFamily="34" charset="0"/>
                <a:ea typeface="Calibri" pitchFamily="34" charset="-122"/>
                <a:cs typeface="Calibri" pitchFamily="34" charset="-120"/>
              </a:rPr>
              <a:t>No new hardware  ·  no new forms  ·  the pharmacist always approves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A real handwritten page, end to end</a:t>
            </a:r>
            <a:endParaRPr lang="en-US" sz="3000" dirty="0"/>
          </a:p>
        </p:txBody>
      </p:sp>
      <p:pic>
        <p:nvPicPr>
          <p:cNvPr id="3" name="Image 0" descr="D:\RegisterLens\docs\deck\img_crop\03_review_hard.png">    </p:cNvPr>
          <p:cNvPicPr>
            <a:picLocks noChangeAspect="1"/>
          </p:cNvPicPr>
          <p:nvPr/>
        </p:nvPicPr>
        <p:blipFill>
          <a:blip r:embed="rId1"/>
          <a:srcRect l="0" r="0" t="0" b="0"/>
          <a:stretch/>
        </p:blipFill>
        <p:spPr>
          <a:xfrm>
            <a:off x="457200" y="1280160"/>
            <a:ext cx="2606040" cy="1463040"/>
          </a:xfrm>
          <a:prstGeom prst="rect">
            <a:avLst/>
          </a:prstGeom>
          <a:effectLst>
            <a:outerShdw sx="100000" sy="100000" kx="0" ky="0" algn="bl" rotWithShape="0" blurRad="127000" dist="38100" dir="5400000">
              <a:srgbClr val="14665C">
                <a:alpha val="18000"/>
              </a:srgbClr>
            </a:outerShdw>
          </a:effectLst>
        </p:spPr>
      </p:pic>
      <p:sp>
        <p:nvSpPr>
          <p:cNvPr id="4" name="Text 1"/>
          <p:cNvSpPr txBox="1"/>
          <p:nvPr/>
        </p:nvSpPr>
        <p:spPr>
          <a:xfrm>
            <a:off x="457200" y="2816352"/>
            <a:ext cx="2606040" cy="365760"/>
          </a:xfrm>
          <a:prstGeom prst="rect">
            <a:avLst/>
          </a:prstGeom>
          <a:noFill/>
          <a:ln/>
        </p:spPr>
        <p:txBody>
          <a:bodyPr wrap="square" lIns="0" tIns="0" rIns="0" bIns="0" rtlCol="0" anchor="ctr"/>
          <a:lstStyle/>
          <a:p>
            <a:pPr indent="0" marL="0">
              <a:buNone/>
            </a:pPr>
            <a:r>
              <a:rPr lang="en-US" sz="1200" b="1" dirty="0">
                <a:solidFill>
                  <a:srgbClr val="16323A"/>
                </a:solidFill>
                <a:latin typeface="Calibri" pitchFamily="34" charset="0"/>
                <a:ea typeface="Calibri" pitchFamily="34" charset="-122"/>
                <a:cs typeface="Calibri" pitchFamily="34" charset="-120"/>
              </a:rPr>
              <a:t>Review: the wrong Zinc total is caught in red</a:t>
            </a:r>
            <a:endParaRPr lang="en-US" sz="1200" dirty="0"/>
          </a:p>
        </p:txBody>
      </p:sp>
      <p:pic>
        <p:nvPicPr>
          <p:cNvPr id="5" name="Image 1" descr="D:\RegisterLens\docs\deck\img_crop\04_reconcile.png">    </p:cNvPr>
          <p:cNvPicPr>
            <a:picLocks noChangeAspect="1"/>
          </p:cNvPicPr>
          <p:nvPr/>
        </p:nvPicPr>
        <p:blipFill>
          <a:blip r:embed="rId2"/>
          <a:srcRect l="0" r="0" t="0" b="0"/>
          <a:stretch/>
        </p:blipFill>
        <p:spPr>
          <a:xfrm>
            <a:off x="3246120" y="1280160"/>
            <a:ext cx="2606040" cy="1463040"/>
          </a:xfrm>
          <a:prstGeom prst="rect">
            <a:avLst/>
          </a:prstGeom>
          <a:effectLst>
            <a:outerShdw sx="100000" sy="100000" kx="0" ky="0" algn="bl" rotWithShape="0" blurRad="127000" dist="38100" dir="5400000">
              <a:srgbClr val="14665C">
                <a:alpha val="18000"/>
              </a:srgbClr>
            </a:outerShdw>
          </a:effectLst>
        </p:spPr>
      </p:pic>
      <p:sp>
        <p:nvSpPr>
          <p:cNvPr id="6" name="Text 2"/>
          <p:cNvSpPr txBox="1"/>
          <p:nvPr/>
        </p:nvSpPr>
        <p:spPr>
          <a:xfrm>
            <a:off x="3246120" y="2816352"/>
            <a:ext cx="2606040" cy="365760"/>
          </a:xfrm>
          <a:prstGeom prst="rect">
            <a:avLst/>
          </a:prstGeom>
          <a:noFill/>
          <a:ln/>
        </p:spPr>
        <p:txBody>
          <a:bodyPr wrap="square" lIns="0" tIns="0" rIns="0" bIns="0" rtlCol="0" anchor="ctr"/>
          <a:lstStyle/>
          <a:p>
            <a:pPr indent="0" marL="0">
              <a:buNone/>
            </a:pPr>
            <a:r>
              <a:rPr lang="en-US" sz="1200" b="1" dirty="0">
                <a:solidFill>
                  <a:srgbClr val="16323A"/>
                </a:solidFill>
                <a:latin typeface="Calibri" pitchFamily="34" charset="0"/>
                <a:ea typeface="Calibri" pitchFamily="34" charset="-122"/>
                <a:cs typeface="Calibri" pitchFamily="34" charset="-120"/>
              </a:rPr>
              <a:t>Compare: register vs DVDMS days of stock</a:t>
            </a:r>
            <a:endParaRPr lang="en-US" sz="1200" dirty="0"/>
          </a:p>
        </p:txBody>
      </p:sp>
      <p:pic>
        <p:nvPicPr>
          <p:cNvPr id="7" name="Image 2" descr="D:\RegisterLens\docs\deck\img_crop\05_sync.png">    </p:cNvPr>
          <p:cNvPicPr>
            <a:picLocks noChangeAspect="1"/>
          </p:cNvPicPr>
          <p:nvPr/>
        </p:nvPicPr>
        <p:blipFill>
          <a:blip r:embed="rId3"/>
          <a:srcRect l="0" r="0" t="0" b="0"/>
          <a:stretch/>
        </p:blipFill>
        <p:spPr>
          <a:xfrm>
            <a:off x="6035040" y="1280160"/>
            <a:ext cx="2606040" cy="1463040"/>
          </a:xfrm>
          <a:prstGeom prst="rect">
            <a:avLst/>
          </a:prstGeom>
          <a:effectLst>
            <a:outerShdw sx="100000" sy="100000" kx="0" ky="0" algn="bl" rotWithShape="0" blurRad="127000" dist="38100" dir="5400000">
              <a:srgbClr val="14665C">
                <a:alpha val="18000"/>
              </a:srgbClr>
            </a:outerShdw>
          </a:effectLst>
        </p:spPr>
      </p:pic>
      <p:sp>
        <p:nvSpPr>
          <p:cNvPr id="8" name="Text 3"/>
          <p:cNvSpPr txBox="1"/>
          <p:nvPr/>
        </p:nvSpPr>
        <p:spPr>
          <a:xfrm>
            <a:off x="6035040" y="2816352"/>
            <a:ext cx="2606040" cy="365760"/>
          </a:xfrm>
          <a:prstGeom prst="rect">
            <a:avLst/>
          </a:prstGeom>
          <a:noFill/>
          <a:ln/>
        </p:spPr>
        <p:txBody>
          <a:bodyPr wrap="square" lIns="0" tIns="0" rIns="0" bIns="0" rtlCol="0" anchor="ctr"/>
          <a:lstStyle/>
          <a:p>
            <a:pPr indent="0" marL="0">
              <a:buNone/>
            </a:pPr>
            <a:r>
              <a:rPr lang="en-US" sz="1200" b="1" dirty="0">
                <a:solidFill>
                  <a:srgbClr val="16323A"/>
                </a:solidFill>
                <a:latin typeface="Calibri" pitchFamily="34" charset="0"/>
                <a:ea typeface="Calibri" pitchFamily="34" charset="-122"/>
                <a:cs typeface="Calibri" pitchFamily="34" charset="-120"/>
              </a:rPr>
              <a:t>Sync: DVDMS entry + alert in Urdu, Hindi, English</a:t>
            </a:r>
            <a:endParaRPr lang="en-US" sz="1200" dirty="0"/>
          </a:p>
        </p:txBody>
      </p:sp>
      <p:sp>
        <p:nvSpPr>
          <p:cNvPr id="9" name="Text 4"/>
          <p:cNvSpPr txBox="1"/>
          <p:nvPr/>
        </p:nvSpPr>
        <p:spPr>
          <a:xfrm>
            <a:off x="457200" y="3429000"/>
            <a:ext cx="8229600" cy="731520"/>
          </a:xfrm>
          <a:prstGeom prst="rect">
            <a:avLst/>
          </a:prstGeom>
          <a:noFill/>
          <a:ln/>
        </p:spPr>
        <p:txBody>
          <a:bodyPr wrap="square" lIns="0" tIns="0" rIns="0" bIns="0" rtlCol="0" anchor="t"/>
          <a:lstStyle/>
          <a:p>
            <a:pPr indent="0" marL="0">
              <a:buNone/>
            </a:pPr>
            <a:r>
              <a:rPr lang="en-US" sz="1400" b="1" dirty="0">
                <a:solidFill>
                  <a:srgbClr val="167F71"/>
                </a:solidFill>
                <a:latin typeface="Calibri" pitchFamily="34" charset="0"/>
                <a:ea typeface="Calibri" pitchFamily="34" charset="-122"/>
                <a:cs typeface="Calibri" pitchFamily="34" charset="-120"/>
              </a:rPr>
              <a:t>Live end to end: </a:t>
            </a:r>
            <a:pPr indent="0" marL="0">
              <a:buNone/>
            </a:pPr>
            <a:r>
              <a:rPr lang="en-US" sz="1400" dirty="0">
                <a:solidFill>
                  <a:srgbClr val="5B7780"/>
                </a:solidFill>
                <a:latin typeface="Calibri" pitchFamily="34" charset="0"/>
                <a:ea typeface="Calibri" pitchFamily="34" charset="-122"/>
                <a:cs typeface="Calibri" pitchFamily="34" charset="-120"/>
              </a:rPr>
              <a:t>our own handwritten page in Hindi + English, with Hindi numerals and a crossed-out value. Gemini read all 10 lines correctly, the planted Zinc error was caught, and 54 → 45 was understood as a correction.</a:t>
            </a:r>
            <a:endParaRPr lang="en-US" sz="1400" dirty="0"/>
          </a:p>
        </p:txBody>
      </p:sp>
      <p:sp>
        <p:nvSpPr>
          <p:cNvPr id="10" name="Text 5"/>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rgbClr val="5B7780"/>
                </a:solidFill>
                <a:latin typeface="Calibri" pitchFamily="34" charset="0"/>
                <a:ea typeface="Calibri" pitchFamily="34" charset="-122"/>
                <a:cs typeface="Calibri" pitchFamily="34" charset="-120"/>
              </a:rPr>
              <a:t>React + FastAPI + Gemini API on Cloud Run · works on PC and as an installable phone app</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Where AI works, and where plain code does</a:t>
            </a:r>
            <a:endParaRPr lang="en-US" sz="3000" dirty="0"/>
          </a:p>
        </p:txBody>
      </p:sp>
      <p:sp>
        <p:nvSpPr>
          <p:cNvPr id="3" name="Shape 1"/>
          <p:cNvSpPr/>
          <p:nvPr/>
        </p:nvSpPr>
        <p:spPr>
          <a:xfrm>
            <a:off x="457200" y="1234440"/>
            <a:ext cx="4206240" cy="530352"/>
          </a:xfrm>
          <a:prstGeom prst="roundRect">
            <a:avLst>
              <a:gd name="adj" fmla="val 17241"/>
            </a:avLst>
          </a:prstGeom>
          <a:solidFill>
            <a:srgbClr val="D5F3EC"/>
          </a:solidFill>
          <a:ln w="12700">
            <a:solidFill>
              <a:srgbClr val="D5F3EC"/>
            </a:solidFill>
            <a:prstDash val="solid"/>
          </a:ln>
        </p:spPr>
      </p:sp>
      <p:sp>
        <p:nvSpPr>
          <p:cNvPr id="4" name="Text 2"/>
          <p:cNvSpPr txBox="1"/>
          <p:nvPr/>
        </p:nvSpPr>
        <p:spPr>
          <a:xfrm>
            <a:off x="594360" y="1234440"/>
            <a:ext cx="3977640" cy="530352"/>
          </a:xfrm>
          <a:prstGeom prst="rect">
            <a:avLst/>
          </a:prstGeom>
          <a:noFill/>
          <a:ln/>
        </p:spPr>
        <p:txBody>
          <a:bodyPr wrap="square" lIns="0" tIns="0" rIns="0" bIns="0" rtlCol="0" anchor="ctr"/>
          <a:lstStyle/>
          <a:p>
            <a:pPr indent="0" marL="0">
              <a:buNone/>
            </a:pPr>
            <a:r>
              <a:rPr lang="en-US" sz="1400" b="1" dirty="0">
                <a:solidFill>
                  <a:srgbClr val="16323A"/>
                </a:solidFill>
                <a:latin typeface="Cambria" pitchFamily="34" charset="0"/>
                <a:ea typeface="Cambria" pitchFamily="34" charset="-122"/>
                <a:cs typeface="Cambria" pitchFamily="34" charset="-120"/>
              </a:rPr>
              <a:t>Photo  </a:t>
            </a:r>
            <a:pPr indent="0" marL="0">
              <a:buNone/>
            </a:pPr>
            <a:r>
              <a:rPr lang="en-US" sz="1150" dirty="0">
                <a:solidFill>
                  <a:srgbClr val="16323A"/>
                </a:solidFill>
                <a:latin typeface="Calibri" pitchFamily="34" charset="0"/>
                <a:ea typeface="Calibri" pitchFamily="34" charset="-122"/>
                <a:cs typeface="Calibri" pitchFamily="34" charset="-120"/>
              </a:rPr>
              <a:t>phone camera</a:t>
            </a:r>
            <a:endParaRPr lang="en-US" sz="1400" dirty="0"/>
          </a:p>
        </p:txBody>
      </p:sp>
      <p:sp>
        <p:nvSpPr>
          <p:cNvPr id="5" name="Shape 3"/>
          <p:cNvSpPr/>
          <p:nvPr/>
        </p:nvSpPr>
        <p:spPr>
          <a:xfrm>
            <a:off x="457200" y="1874520"/>
            <a:ext cx="4206240" cy="530352"/>
          </a:xfrm>
          <a:prstGeom prst="roundRect">
            <a:avLst>
              <a:gd name="adj" fmla="val 17241"/>
            </a:avLst>
          </a:prstGeom>
          <a:solidFill>
            <a:srgbClr val="D5F3EC"/>
          </a:solidFill>
          <a:ln w="12700">
            <a:solidFill>
              <a:srgbClr val="D5F3EC"/>
            </a:solidFill>
            <a:prstDash val="solid"/>
          </a:ln>
        </p:spPr>
      </p:sp>
      <p:sp>
        <p:nvSpPr>
          <p:cNvPr id="6" name="Text 4"/>
          <p:cNvSpPr txBox="1"/>
          <p:nvPr/>
        </p:nvSpPr>
        <p:spPr>
          <a:xfrm>
            <a:off x="594360" y="1874520"/>
            <a:ext cx="3977640" cy="530352"/>
          </a:xfrm>
          <a:prstGeom prst="rect">
            <a:avLst/>
          </a:prstGeom>
          <a:noFill/>
          <a:ln/>
        </p:spPr>
        <p:txBody>
          <a:bodyPr wrap="square" lIns="0" tIns="0" rIns="0" bIns="0" rtlCol="0" anchor="ctr"/>
          <a:lstStyle/>
          <a:p>
            <a:pPr indent="0" marL="0">
              <a:buNone/>
            </a:pPr>
            <a:r>
              <a:rPr lang="en-US" sz="1400" b="1" dirty="0">
                <a:solidFill>
                  <a:srgbClr val="16323A"/>
                </a:solidFill>
                <a:latin typeface="Cambria" pitchFamily="34" charset="0"/>
                <a:ea typeface="Cambria" pitchFamily="34" charset="-122"/>
                <a:cs typeface="Cambria" pitchFamily="34" charset="-120"/>
              </a:rPr>
              <a:t>OpenCV clean-up  </a:t>
            </a:r>
            <a:pPr indent="0" marL="0">
              <a:buNone/>
            </a:pPr>
            <a:r>
              <a:rPr lang="en-US" sz="1150" dirty="0">
                <a:solidFill>
                  <a:srgbClr val="16323A"/>
                </a:solidFill>
                <a:latin typeface="Calibri" pitchFamily="34" charset="0"/>
                <a:ea typeface="Calibri" pitchFamily="34" charset="-122"/>
                <a:cs typeface="Calibri" pitchFamily="34" charset="-120"/>
              </a:rPr>
              <a:t>flatten page, remove shadows, boost ink</a:t>
            </a:r>
            <a:endParaRPr lang="en-US" sz="1400" dirty="0"/>
          </a:p>
        </p:txBody>
      </p:sp>
      <p:sp>
        <p:nvSpPr>
          <p:cNvPr id="7" name="Shape 5"/>
          <p:cNvSpPr/>
          <p:nvPr/>
        </p:nvSpPr>
        <p:spPr>
          <a:xfrm>
            <a:off x="457200" y="2514600"/>
            <a:ext cx="4206240" cy="530352"/>
          </a:xfrm>
          <a:prstGeom prst="roundRect">
            <a:avLst>
              <a:gd name="adj" fmla="val 17241"/>
            </a:avLst>
          </a:prstGeom>
          <a:solidFill>
            <a:srgbClr val="167F71"/>
          </a:solidFill>
          <a:ln w="12700">
            <a:solidFill>
              <a:srgbClr val="167F71"/>
            </a:solidFill>
            <a:prstDash val="solid"/>
          </a:ln>
        </p:spPr>
      </p:sp>
      <p:sp>
        <p:nvSpPr>
          <p:cNvPr id="8" name="Text 6"/>
          <p:cNvSpPr txBox="1"/>
          <p:nvPr/>
        </p:nvSpPr>
        <p:spPr>
          <a:xfrm>
            <a:off x="594360" y="2514600"/>
            <a:ext cx="3977640" cy="530352"/>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Gemini reads  </a:t>
            </a:r>
            <a:pPr indent="0" marL="0">
              <a:buNone/>
            </a:pPr>
            <a:r>
              <a:rPr lang="en-US" sz="1150" dirty="0">
                <a:solidFill>
                  <a:srgbClr val="FFFFFF"/>
                </a:solidFill>
                <a:latin typeface="Calibri" pitchFamily="34" charset="0"/>
                <a:ea typeface="Calibri" pitchFamily="34" charset="-122"/>
                <a:cs typeface="Calibri" pitchFamily="34" charset="-120"/>
              </a:rPr>
              <a:t>handwriting to JSON + confidence</a:t>
            </a:r>
            <a:endParaRPr lang="en-US" sz="1400" dirty="0"/>
          </a:p>
        </p:txBody>
      </p:sp>
      <p:sp>
        <p:nvSpPr>
          <p:cNvPr id="9" name="Shape 7"/>
          <p:cNvSpPr/>
          <p:nvPr/>
        </p:nvSpPr>
        <p:spPr>
          <a:xfrm>
            <a:off x="457200" y="3154680"/>
            <a:ext cx="4206240" cy="530352"/>
          </a:xfrm>
          <a:prstGeom prst="roundRect">
            <a:avLst>
              <a:gd name="adj" fmla="val 17241"/>
            </a:avLst>
          </a:prstGeom>
          <a:solidFill>
            <a:srgbClr val="0B3F39"/>
          </a:solidFill>
          <a:ln w="12700">
            <a:solidFill>
              <a:srgbClr val="0B3F39"/>
            </a:solidFill>
            <a:prstDash val="solid"/>
          </a:ln>
        </p:spPr>
      </p:sp>
      <p:sp>
        <p:nvSpPr>
          <p:cNvPr id="10" name="Text 8"/>
          <p:cNvSpPr txBox="1"/>
          <p:nvPr/>
        </p:nvSpPr>
        <p:spPr>
          <a:xfrm>
            <a:off x="594360" y="3154680"/>
            <a:ext cx="3977640" cy="530352"/>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Code checks  </a:t>
            </a:r>
            <a:pPr indent="0" marL="0">
              <a:buNone/>
            </a:pPr>
            <a:r>
              <a:rPr lang="en-US" sz="1150" dirty="0">
                <a:solidFill>
                  <a:srgbClr val="FFFFFF"/>
                </a:solidFill>
                <a:latin typeface="Calibri" pitchFamily="34" charset="0"/>
                <a:ea typeface="Calibri" pitchFamily="34" charset="-122"/>
                <a:cs typeface="Calibri" pitchFamily="34" charset="-120"/>
              </a:rPr>
              <a:t>match drugs, balances, DVDMS drift, days of stock</a:t>
            </a:r>
            <a:endParaRPr lang="en-US" sz="1400" dirty="0"/>
          </a:p>
        </p:txBody>
      </p:sp>
      <p:sp>
        <p:nvSpPr>
          <p:cNvPr id="11" name="Shape 9"/>
          <p:cNvSpPr/>
          <p:nvPr/>
        </p:nvSpPr>
        <p:spPr>
          <a:xfrm>
            <a:off x="457200" y="3794760"/>
            <a:ext cx="4206240" cy="530352"/>
          </a:xfrm>
          <a:prstGeom prst="roundRect">
            <a:avLst>
              <a:gd name="adj" fmla="val 17241"/>
            </a:avLst>
          </a:prstGeom>
          <a:solidFill>
            <a:srgbClr val="167F71"/>
          </a:solidFill>
          <a:ln w="12700">
            <a:solidFill>
              <a:srgbClr val="167F71"/>
            </a:solidFill>
            <a:prstDash val="solid"/>
          </a:ln>
        </p:spPr>
      </p:sp>
      <p:sp>
        <p:nvSpPr>
          <p:cNvPr id="12" name="Text 10"/>
          <p:cNvSpPr txBox="1"/>
          <p:nvPr/>
        </p:nvSpPr>
        <p:spPr>
          <a:xfrm>
            <a:off x="594360" y="3794760"/>
            <a:ext cx="3977640" cy="530352"/>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Gemini writes  </a:t>
            </a:r>
            <a:pPr indent="0" marL="0">
              <a:buNone/>
            </a:pPr>
            <a:r>
              <a:rPr lang="en-US" sz="1150" dirty="0">
                <a:solidFill>
                  <a:srgbClr val="FFFFFF"/>
                </a:solidFill>
                <a:latin typeface="Calibri" pitchFamily="34" charset="0"/>
                <a:ea typeface="Calibri" pitchFamily="34" charset="-122"/>
                <a:cs typeface="Calibri" pitchFamily="34" charset="-120"/>
              </a:rPr>
              <a:t>district alert, Hindi + English</a:t>
            </a:r>
            <a:endParaRPr lang="en-US" sz="1400" dirty="0"/>
          </a:p>
        </p:txBody>
      </p:sp>
      <p:sp>
        <p:nvSpPr>
          <p:cNvPr id="13" name="Text 11"/>
          <p:cNvSpPr txBox="1"/>
          <p:nvPr/>
        </p:nvSpPr>
        <p:spPr>
          <a:xfrm>
            <a:off x="457200" y="4480560"/>
            <a:ext cx="4206240" cy="457200"/>
          </a:xfrm>
          <a:prstGeom prst="rect">
            <a:avLst/>
          </a:prstGeom>
          <a:noFill/>
          <a:ln/>
        </p:spPr>
        <p:txBody>
          <a:bodyPr wrap="square" lIns="0" tIns="0" rIns="0" bIns="0" rtlCol="0" anchor="t"/>
          <a:lstStyle/>
          <a:p>
            <a:pPr indent="0" marL="0">
              <a:buNone/>
            </a:pPr>
            <a:r>
              <a:rPr lang="en-US" sz="1100" i="1" dirty="0">
                <a:solidFill>
                  <a:srgbClr val="167F71"/>
                </a:solidFill>
                <a:latin typeface="Calibri" pitchFamily="34" charset="0"/>
                <a:ea typeface="Calibri" pitchFamily="34" charset="-122"/>
                <a:cs typeface="Calibri" pitchFamily="34" charset="-120"/>
              </a:rPr>
              <a:t>The pharmacist confirms between “reads” and “checks”. Nothing is uploaded without a human yes.</a:t>
            </a:r>
            <a:endParaRPr lang="en-US" sz="1100" dirty="0"/>
          </a:p>
        </p:txBody>
      </p:sp>
      <p:sp>
        <p:nvSpPr>
          <p:cNvPr id="14" name="Shape 12"/>
          <p:cNvSpPr/>
          <p:nvPr/>
        </p:nvSpPr>
        <p:spPr>
          <a:xfrm>
            <a:off x="5074920" y="1280160"/>
            <a:ext cx="329184" cy="329184"/>
          </a:xfrm>
          <a:prstGeom prst="ellipse">
            <a:avLst/>
          </a:prstGeom>
          <a:solidFill>
            <a:srgbClr val="167F71"/>
          </a:solidFill>
          <a:ln w="12700">
            <a:solidFill>
              <a:srgbClr val="167F71"/>
            </a:solidFill>
            <a:prstDash val="solid"/>
          </a:ln>
        </p:spPr>
      </p:sp>
      <p:sp>
        <p:nvSpPr>
          <p:cNvPr id="15" name="Text 13"/>
          <p:cNvSpPr txBox="1"/>
          <p:nvPr/>
        </p:nvSpPr>
        <p:spPr>
          <a:xfrm>
            <a:off x="5074920" y="1280160"/>
            <a:ext cx="329184"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6" name="Text 14"/>
          <p:cNvSpPr txBox="1"/>
          <p:nvPr/>
        </p:nvSpPr>
        <p:spPr>
          <a:xfrm>
            <a:off x="5532120" y="1234440"/>
            <a:ext cx="3200400" cy="777240"/>
          </a:xfrm>
          <a:prstGeom prst="rect">
            <a:avLst/>
          </a:prstGeom>
          <a:noFill/>
          <a:ln/>
        </p:spPr>
        <p:txBody>
          <a:bodyPr wrap="square" lIns="0" tIns="0" rIns="0" bIns="0" rtlCol="0" anchor="t"/>
          <a:lstStyle/>
          <a:p>
            <a:pPr indent="0" marL="0">
              <a:buNone/>
            </a:pPr>
            <a:r>
              <a:rPr lang="en-US" sz="1350" b="1" dirty="0">
                <a:solidFill>
                  <a:srgbClr val="16323A"/>
                </a:solidFill>
                <a:latin typeface="Calibri" pitchFamily="34" charset="0"/>
                <a:ea typeface="Calibri" pitchFamily="34" charset="-122"/>
                <a:cs typeface="Calibri" pitchFamily="34" charset="-120"/>
              </a:rPr>
              <a:t>Structured output</a:t>
            </a:r>
            <a:endParaRPr lang="en-US" sz="1350" dirty="0"/>
          </a:p>
          <a:p>
            <a:pPr indent="0" marL="0">
              <a:buNone/>
            </a:pPr>
            <a:r>
              <a:rPr lang="en-US" sz="1150" dirty="0">
                <a:solidFill>
                  <a:srgbClr val="5B7780"/>
                </a:solidFill>
                <a:latin typeface="Calibri" pitchFamily="34" charset="0"/>
                <a:ea typeface="Calibri" pitchFamily="34" charset="-122"/>
                <a:cs typeface="Calibri" pitchFamily="34" charset="-120"/>
              </a:rPr>
              <a:t>Gemini returns schema-checked JSON with a confidence score per cell.</a:t>
            </a:r>
            <a:endParaRPr lang="en-US" sz="1350" dirty="0"/>
          </a:p>
        </p:txBody>
      </p:sp>
      <p:sp>
        <p:nvSpPr>
          <p:cNvPr id="17" name="Shape 15"/>
          <p:cNvSpPr/>
          <p:nvPr/>
        </p:nvSpPr>
        <p:spPr>
          <a:xfrm>
            <a:off x="5074920" y="2148840"/>
            <a:ext cx="329184" cy="329184"/>
          </a:xfrm>
          <a:prstGeom prst="ellipse">
            <a:avLst/>
          </a:prstGeom>
          <a:solidFill>
            <a:srgbClr val="167F71"/>
          </a:solidFill>
          <a:ln w="12700">
            <a:solidFill>
              <a:srgbClr val="167F71"/>
            </a:solidFill>
            <a:prstDash val="solid"/>
          </a:ln>
        </p:spPr>
      </p:sp>
      <p:sp>
        <p:nvSpPr>
          <p:cNvPr id="18" name="Text 16"/>
          <p:cNvSpPr txBox="1"/>
          <p:nvPr/>
        </p:nvSpPr>
        <p:spPr>
          <a:xfrm>
            <a:off x="5074920" y="2148840"/>
            <a:ext cx="329184"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9" name="Text 17"/>
          <p:cNvSpPr txBox="1"/>
          <p:nvPr/>
        </p:nvSpPr>
        <p:spPr>
          <a:xfrm>
            <a:off x="5532120" y="2103120"/>
            <a:ext cx="3200400" cy="777240"/>
          </a:xfrm>
          <a:prstGeom prst="rect">
            <a:avLst/>
          </a:prstGeom>
          <a:noFill/>
          <a:ln/>
        </p:spPr>
        <p:txBody>
          <a:bodyPr wrap="square" lIns="0" tIns="0" rIns="0" bIns="0" rtlCol="0" anchor="t"/>
          <a:lstStyle/>
          <a:p>
            <a:pPr indent="0" marL="0">
              <a:buNone/>
            </a:pPr>
            <a:r>
              <a:rPr lang="en-US" sz="1350" b="1" dirty="0">
                <a:solidFill>
                  <a:srgbClr val="16323A"/>
                </a:solidFill>
                <a:latin typeface="Calibri" pitchFamily="34" charset="0"/>
                <a:ea typeface="Calibri" pitchFamily="34" charset="-122"/>
                <a:cs typeface="Calibri" pitchFamily="34" charset="-120"/>
              </a:rPr>
              <a:t>Numbers are never generated</a:t>
            </a:r>
            <a:endParaRPr lang="en-US" sz="1350" dirty="0"/>
          </a:p>
          <a:p>
            <a:pPr indent="0" marL="0">
              <a:buNone/>
            </a:pPr>
            <a:r>
              <a:rPr lang="en-US" sz="1150" dirty="0">
                <a:solidFill>
                  <a:srgbClr val="5B7780"/>
                </a:solidFill>
                <a:latin typeface="Calibri" pitchFamily="34" charset="0"/>
                <a:ea typeface="Calibri" pitchFamily="34" charset="-122"/>
                <a:cs typeface="Calibri" pitchFamily="34" charset="-120"/>
              </a:rPr>
              <a:t>Drift and days of stock are computed by checkable code.</a:t>
            </a:r>
            <a:endParaRPr lang="en-US" sz="1350" dirty="0"/>
          </a:p>
        </p:txBody>
      </p:sp>
      <p:sp>
        <p:nvSpPr>
          <p:cNvPr id="20" name="Shape 18"/>
          <p:cNvSpPr/>
          <p:nvPr/>
        </p:nvSpPr>
        <p:spPr>
          <a:xfrm>
            <a:off x="5074920" y="3017520"/>
            <a:ext cx="329184" cy="329184"/>
          </a:xfrm>
          <a:prstGeom prst="ellipse">
            <a:avLst/>
          </a:prstGeom>
          <a:solidFill>
            <a:srgbClr val="167F71"/>
          </a:solidFill>
          <a:ln w="12700">
            <a:solidFill>
              <a:srgbClr val="167F71"/>
            </a:solidFill>
            <a:prstDash val="solid"/>
          </a:ln>
        </p:spPr>
      </p:sp>
      <p:sp>
        <p:nvSpPr>
          <p:cNvPr id="21" name="Text 19"/>
          <p:cNvSpPr txBox="1"/>
          <p:nvPr/>
        </p:nvSpPr>
        <p:spPr>
          <a:xfrm>
            <a:off x="5074920" y="3017520"/>
            <a:ext cx="329184"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2" name="Text 20"/>
          <p:cNvSpPr txBox="1"/>
          <p:nvPr/>
        </p:nvSpPr>
        <p:spPr>
          <a:xfrm>
            <a:off x="5532120" y="2971800"/>
            <a:ext cx="3200400" cy="777240"/>
          </a:xfrm>
          <a:prstGeom prst="rect">
            <a:avLst/>
          </a:prstGeom>
          <a:noFill/>
          <a:ln/>
        </p:spPr>
        <p:txBody>
          <a:bodyPr wrap="square" lIns="0" tIns="0" rIns="0" bIns="0" rtlCol="0" anchor="t"/>
          <a:lstStyle/>
          <a:p>
            <a:pPr indent="0" marL="0">
              <a:buNone/>
            </a:pPr>
            <a:r>
              <a:rPr lang="en-US" sz="1350" b="1" dirty="0">
                <a:solidFill>
                  <a:srgbClr val="16323A"/>
                </a:solidFill>
                <a:latin typeface="Calibri" pitchFamily="34" charset="0"/>
                <a:ea typeface="Calibri" pitchFamily="34" charset="-122"/>
                <a:cs typeface="Calibri" pitchFamily="34" charset="-120"/>
              </a:rPr>
              <a:t>Resilient to limits</a:t>
            </a:r>
            <a:endParaRPr lang="en-US" sz="1350" dirty="0"/>
          </a:p>
          <a:p>
            <a:pPr indent="0" marL="0">
              <a:buNone/>
            </a:pPr>
            <a:r>
              <a:rPr lang="en-US" sz="1150" dirty="0">
                <a:solidFill>
                  <a:srgbClr val="5B7780"/>
                </a:solidFill>
                <a:latin typeface="Calibri" pitchFamily="34" charset="0"/>
                <a:ea typeface="Calibri" pitchFamily="34" charset="-122"/>
                <a:cs typeface="Calibri" pitchFamily="34" charset="-120"/>
              </a:rPr>
              <a:t>Fails over across Gemini models, skips exhausted ones, lighter models for alerts, stored readings for demo pages.</a:t>
            </a:r>
            <a:endParaRPr lang="en-US" sz="1350" dirty="0"/>
          </a:p>
        </p:txBody>
      </p:sp>
      <p:sp>
        <p:nvSpPr>
          <p:cNvPr id="23" name="Shape 21"/>
          <p:cNvSpPr/>
          <p:nvPr/>
        </p:nvSpPr>
        <p:spPr>
          <a:xfrm>
            <a:off x="5074920" y="3886200"/>
            <a:ext cx="329184" cy="329184"/>
          </a:xfrm>
          <a:prstGeom prst="ellipse">
            <a:avLst/>
          </a:prstGeom>
          <a:solidFill>
            <a:srgbClr val="167F71"/>
          </a:solidFill>
          <a:ln w="12700">
            <a:solidFill>
              <a:srgbClr val="167F71"/>
            </a:solidFill>
            <a:prstDash val="solid"/>
          </a:ln>
        </p:spPr>
      </p:sp>
      <p:sp>
        <p:nvSpPr>
          <p:cNvPr id="24" name="Text 22"/>
          <p:cNvSpPr txBox="1"/>
          <p:nvPr/>
        </p:nvSpPr>
        <p:spPr>
          <a:xfrm>
            <a:off x="5074920" y="3886200"/>
            <a:ext cx="329184"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5" name="Text 23"/>
          <p:cNvSpPr txBox="1"/>
          <p:nvPr/>
        </p:nvSpPr>
        <p:spPr>
          <a:xfrm>
            <a:off x="5532120" y="3840480"/>
            <a:ext cx="3200400" cy="777240"/>
          </a:xfrm>
          <a:prstGeom prst="rect">
            <a:avLst/>
          </a:prstGeom>
          <a:noFill/>
          <a:ln/>
        </p:spPr>
        <p:txBody>
          <a:bodyPr wrap="square" lIns="0" tIns="0" rIns="0" bIns="0" rtlCol="0" anchor="t"/>
          <a:lstStyle/>
          <a:p>
            <a:pPr indent="0" marL="0">
              <a:buNone/>
            </a:pPr>
            <a:r>
              <a:rPr lang="en-US" sz="1350" b="1" dirty="0">
                <a:solidFill>
                  <a:srgbClr val="16323A"/>
                </a:solidFill>
                <a:latin typeface="Calibri" pitchFamily="34" charset="0"/>
                <a:ea typeface="Calibri" pitchFamily="34" charset="-122"/>
                <a:cs typeface="Calibri" pitchFamily="34" charset="-120"/>
              </a:rPr>
              <a:t>Names in two languages</a:t>
            </a:r>
            <a:endParaRPr lang="en-US" sz="1350" dirty="0"/>
          </a:p>
          <a:p>
            <a:pPr indent="0" marL="0">
              <a:buNone/>
            </a:pPr>
            <a:r>
              <a:rPr lang="en-US" sz="1150" dirty="0">
                <a:solidFill>
                  <a:srgbClr val="5B7780"/>
                </a:solidFill>
                <a:latin typeface="Calibri" pitchFamily="34" charset="0"/>
                <a:ea typeface="Calibri" pitchFamily="34" charset="-122"/>
                <a:cs typeface="Calibri" pitchFamily="34" charset="-120"/>
              </a:rPr>
              <a:t>PCM, Paracetamol and पैरासिटामोल resolve to one medicine.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Does it work? Measured, with the misses.</a:t>
            </a:r>
            <a:endParaRPr lang="en-US" sz="3000" dirty="0"/>
          </a:p>
        </p:txBody>
      </p:sp>
      <p:graphicFrame>
        <p:nvGraphicFramePr>
          <p:cNvPr id="3" name="Chart 0" descr=""/>
          <p:cNvGraphicFramePr/>
          <p:nvPr/>
        </p:nvGraphicFramePr>
        <p:xfrm>
          <a:off x="365760" y="1097280"/>
          <a:ext cx="5029200" cy="32918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577840" y="1143000"/>
            <a:ext cx="3154680" cy="3291840"/>
          </a:xfrm>
          <a:prstGeom prst="roundRect">
            <a:avLst>
              <a:gd name="adj" fmla="val 3478"/>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5" name="Text 2"/>
          <p:cNvSpPr txBox="1"/>
          <p:nvPr/>
        </p:nvSpPr>
        <p:spPr>
          <a:xfrm>
            <a:off x="5742432" y="1234440"/>
            <a:ext cx="2852928" cy="3154680"/>
          </a:xfrm>
          <a:prstGeom prst="rect">
            <a:avLst/>
          </a:prstGeom>
          <a:noFill/>
          <a:ln/>
        </p:spPr>
        <p:txBody>
          <a:bodyPr wrap="square" lIns="0" tIns="0" rIns="0" bIns="0" rtlCol="0" anchor="t"/>
          <a:lstStyle/>
          <a:p>
            <a:pPr indent="0" marL="0">
              <a:buNone/>
            </a:pPr>
            <a:r>
              <a:rPr lang="en-US" sz="1500" b="1" dirty="0">
                <a:solidFill>
                  <a:srgbClr val="167F71"/>
                </a:solidFill>
                <a:latin typeface="Cambria" pitchFamily="34" charset="0"/>
                <a:ea typeface="Cambria" pitchFamily="34" charset="-122"/>
                <a:cs typeface="Cambria" pitchFamily="34" charset="-120"/>
              </a:rPr>
              <a:t>Drug names: 100% everywhere</a:t>
            </a:r>
            <a:endParaRPr lang="en-US" sz="1500" dirty="0"/>
          </a:p>
          <a:p>
            <a:pPr indent="0" marL="0">
              <a:buNone/>
            </a:pPr>
            <a:r>
              <a:rPr lang="en-US" sz="1100" dirty="0">
                <a:solidFill>
                  <a:srgbClr val="16323A"/>
                </a:solidFill>
                <a:latin typeface="Calibri" pitchFamily="34" charset="0"/>
                <a:ea typeface="Calibri" pitchFamily="34" charset="-122"/>
                <a:cs typeface="Calibri" pitchFamily="34" charset="-120"/>
              </a:rPr>
              <a:t>Quantities, which drive stock-out numbers: 100% on clean pages, 93% on messy ones.</a:t>
            </a:r>
            <a:endParaRPr lang="en-US" sz="150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200" b="1" dirty="0">
                <a:solidFill>
                  <a:srgbClr val="16323A"/>
                </a:solidFill>
                <a:latin typeface="Calibri" pitchFamily="34" charset="0"/>
                <a:ea typeface="Calibri" pitchFamily="34" charset="-122"/>
                <a:cs typeface="Calibri" pitchFamily="34" charset="-120"/>
              </a:rPr>
              <a:t>The weak spot</a:t>
            </a:r>
            <a:endParaRPr lang="en-US" sz="1500" dirty="0"/>
          </a:p>
          <a:p>
            <a:pPr indent="0" marL="0">
              <a:buNone/>
            </a:pPr>
            <a:r>
              <a:rPr lang="en-US" sz="1100" dirty="0">
                <a:solidFill>
                  <a:srgbClr val="5B7780"/>
                </a:solidFill>
                <a:latin typeface="Calibri" pitchFamily="34" charset="0"/>
                <a:ea typeface="Calibri" pitchFamily="34" charset="-122"/>
                <a:cs typeface="Calibri" pitchFamily="34" charset="-120"/>
              </a:rPr>
              <a:t>Small cursive batch codes and expiry dates on messy pages (G/U, E/C, 3/8). Gemini's own confidence caught only 4 of 104 wrong values.</a:t>
            </a:r>
            <a:endParaRPr lang="en-US" sz="150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200" b="1" dirty="0">
                <a:solidFill>
                  <a:srgbClr val="16323A"/>
                </a:solidFill>
                <a:latin typeface="Calibri" pitchFamily="34" charset="0"/>
                <a:ea typeface="Calibri" pitchFamily="34" charset="-122"/>
                <a:cs typeface="Calibri" pitchFamily="34" charset="-120"/>
              </a:rPr>
              <a:t>Our fix</a:t>
            </a:r>
            <a:endParaRPr lang="en-US" sz="1500" dirty="0"/>
          </a:p>
          <a:p>
            <a:pPr indent="0" marL="0">
              <a:buNone/>
            </a:pPr>
            <a:r>
              <a:rPr lang="en-US" sz="1100" dirty="0">
                <a:solidFill>
                  <a:srgbClr val="5B7780"/>
                </a:solidFill>
                <a:latin typeface="Calibri" pitchFamily="34" charset="0"/>
                <a:ea typeface="Calibri" pitchFamily="34" charset="-122"/>
                <a:cs typeface="Calibri" pitchFamily="34" charset="-120"/>
              </a:rPr>
              <a:t>DVDMS batch cross-check + balance check flagged 63 of 74 lines with errors for the pharmacist, 0 false alarms.</a:t>
            </a:r>
            <a:endParaRPr lang="en-US" sz="1500" dirty="0"/>
          </a:p>
        </p:txBody>
      </p:sp>
      <p:sp>
        <p:nvSpPr>
          <p:cNvPr id="6" name="Text 3"/>
          <p:cNvSpPr txBox="1"/>
          <p:nvPr/>
        </p:nvSpPr>
        <p:spPr>
          <a:xfrm>
            <a:off x="457200" y="4526280"/>
            <a:ext cx="8229600" cy="457200"/>
          </a:xfrm>
          <a:prstGeom prst="rect">
            <a:avLst/>
          </a:prstGeom>
          <a:noFill/>
          <a:ln/>
        </p:spPr>
        <p:txBody>
          <a:bodyPr wrap="square" lIns="0" tIns="0" rIns="0" bIns="0" rtlCol="0" anchor="t"/>
          <a:lstStyle/>
          <a:p>
            <a:pPr indent="0" marL="0">
              <a:buNone/>
            </a:pPr>
            <a:r>
              <a:rPr lang="en-US" sz="950" i="1" dirty="0">
                <a:solidFill>
                  <a:srgbClr val="5B7780"/>
                </a:solidFill>
                <a:latin typeface="Calibri" pitchFamily="34" charset="0"/>
                <a:ea typeface="Calibri" pitchFamily="34" charset="-122"/>
                <a:cs typeface="Calibri" pitchFamily="34" charset="-120"/>
              </a:rPr>
              <a:t>Messy pages: ruled notebooks, no column lines, cursive, corrections, Hindi numerals, stains, folds, blur. All pages synthetic; the demo DVDMS is a mock seeded with correct batches, so the cross-check shows the mechanism, not a field catch rate.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Ask it anything. Use it on any phone.</a:t>
            </a:r>
            <a:endParaRPr lang="en-US" sz="3000" dirty="0"/>
          </a:p>
        </p:txBody>
      </p:sp>
      <p:pic>
        <p:nvPicPr>
          <p:cNvPr id="3" name="Image 0" descr="D:\RegisterLens\docs\deck\img_crop\chat.png">    </p:cNvPr>
          <p:cNvPicPr>
            <a:picLocks noChangeAspect="1"/>
          </p:cNvPicPr>
          <p:nvPr/>
        </p:nvPicPr>
        <p:blipFill>
          <a:blip r:embed="rId1"/>
          <a:stretch>
            <a:fillRect/>
          </a:stretch>
        </p:blipFill>
        <p:spPr>
          <a:xfrm>
            <a:off x="457200" y="1143000"/>
            <a:ext cx="2468880" cy="3566160"/>
          </a:xfrm>
          <a:prstGeom prst="rect">
            <a:avLst/>
          </a:prstGeom>
          <a:effectLst>
            <a:outerShdw sx="100000" sy="100000" kx="0" ky="0" algn="bl" rotWithShape="0" blurRad="127000" dist="38100" dir="5400000">
              <a:srgbClr val="14665C">
                <a:alpha val="18000"/>
              </a:srgbClr>
            </a:outerShdw>
          </a:effectLst>
        </p:spPr>
      </p:pic>
      <p:sp>
        <p:nvSpPr>
          <p:cNvPr id="4" name="Text 1"/>
          <p:cNvSpPr txBox="1"/>
          <p:nvPr/>
        </p:nvSpPr>
        <p:spPr>
          <a:xfrm>
            <a:off x="3108960" y="1143000"/>
            <a:ext cx="2377440" cy="2011680"/>
          </a:xfrm>
          <a:prstGeom prst="rect">
            <a:avLst/>
          </a:prstGeom>
          <a:noFill/>
          <a:ln/>
        </p:spPr>
        <p:txBody>
          <a:bodyPr wrap="square" lIns="0" tIns="0" rIns="0" bIns="0" rtlCol="0" anchor="t"/>
          <a:lstStyle/>
          <a:p>
            <a:pPr indent="0" marL="0">
              <a:buNone/>
            </a:pPr>
            <a:r>
              <a:rPr lang="en-US" sz="1400" b="1" dirty="0">
                <a:solidFill>
                  <a:srgbClr val="16323A"/>
                </a:solidFill>
                <a:latin typeface="Calibri" pitchFamily="34" charset="0"/>
                <a:ea typeface="Calibri" pitchFamily="34" charset="-122"/>
                <a:cs typeface="Calibri" pitchFamily="34" charset="-120"/>
              </a:rPr>
              <a:t>Gemini assistant with function calling</a:t>
            </a:r>
            <a:endParaRPr lang="en-US" sz="1400" dirty="0"/>
          </a:p>
          <a:p>
            <a:pPr indent="0" marL="0">
              <a:buNone/>
            </a:pPr>
            <a:r>
              <a:rPr lang="en-US" sz="1150" dirty="0">
                <a:solidFill>
                  <a:srgbClr val="5B7780"/>
                </a:solidFill>
                <a:latin typeface="Calibri" pitchFamily="34" charset="0"/>
                <a:ea typeface="Calibri" pitchFamily="34" charset="-122"/>
                <a:cs typeface="Calibri" pitchFamily="34" charset="-120"/>
              </a:rPr>
              <a:t>Looks up districts, facilities, nearby stock and transfer plans before answering, so it never invents a number. Replies in Hindi, Hinglish or English. Voice input.</a:t>
            </a:r>
            <a:endParaRPr lang="en-US" sz="1400" dirty="0"/>
          </a:p>
        </p:txBody>
      </p:sp>
      <p:sp>
        <p:nvSpPr>
          <p:cNvPr id="5" name="Text 2"/>
          <p:cNvSpPr txBox="1"/>
          <p:nvPr/>
        </p:nvSpPr>
        <p:spPr>
          <a:xfrm>
            <a:off x="3108960" y="3063240"/>
            <a:ext cx="2377440" cy="1645920"/>
          </a:xfrm>
          <a:prstGeom prst="rect">
            <a:avLst/>
          </a:prstGeom>
          <a:noFill/>
          <a:ln/>
        </p:spPr>
        <p:txBody>
          <a:bodyPr wrap="square" lIns="0" tIns="0" rIns="0" bIns="0" rtlCol="0" anchor="t"/>
          <a:lstStyle/>
          <a:p>
            <a:pPr indent="0" marL="0">
              <a:buNone/>
            </a:pPr>
            <a:r>
              <a:rPr lang="en-US" sz="1400" b="1" dirty="0">
                <a:solidFill>
                  <a:srgbClr val="16323A"/>
                </a:solidFill>
                <a:latin typeface="Calibri" pitchFamily="34" charset="0"/>
                <a:ea typeface="Calibri" pitchFamily="34" charset="-122"/>
                <a:cs typeface="Calibri" pitchFamily="34" charset="-120"/>
              </a:rPr>
              <a:t>Installable phone app (PWA)</a:t>
            </a:r>
            <a:endParaRPr lang="en-US" sz="1400" dirty="0"/>
          </a:p>
          <a:p>
            <a:pPr indent="0" marL="0">
              <a:buNone/>
            </a:pPr>
            <a:r>
              <a:rPr lang="en-US" sz="1150" dirty="0">
                <a:solidFill>
                  <a:srgbClr val="5B7780"/>
                </a:solidFill>
                <a:latin typeface="Calibri" pitchFamily="34" charset="0"/>
                <a:ea typeface="Calibri" pitchFamily="34" charset="-122"/>
                <a:cs typeface="Calibri" pitchFamily="34" charset="-120"/>
              </a:rPr>
              <a:t>Open the link in Chrome, tap Install. Own icon, full screen, Scan opens the camera. No app store needed.</a:t>
            </a:r>
            <a:endParaRPr lang="en-US" sz="1400" dirty="0"/>
          </a:p>
        </p:txBody>
      </p:sp>
      <p:pic>
        <p:nvPicPr>
          <p:cNvPr id="6" name="Image 1" descr="D:\RegisterLens\docs\deck\img_crop\11_mobile_home.png">    </p:cNvPr>
          <p:cNvPicPr>
            <a:picLocks noChangeAspect="1"/>
          </p:cNvPicPr>
          <p:nvPr/>
        </p:nvPicPr>
        <p:blipFill>
          <a:blip r:embed="rId2"/>
          <a:stretch>
            <a:fillRect/>
          </a:stretch>
        </p:blipFill>
        <p:spPr>
          <a:xfrm>
            <a:off x="5715000" y="1143000"/>
            <a:ext cx="1417320" cy="2523744"/>
          </a:xfrm>
          <a:prstGeom prst="rect">
            <a:avLst/>
          </a:prstGeom>
          <a:effectLst>
            <a:outerShdw sx="100000" sy="100000" kx="0" ky="0" algn="bl" rotWithShape="0" blurRad="127000" dist="38100" dir="5400000">
              <a:srgbClr val="14665C">
                <a:alpha val="18000"/>
              </a:srgbClr>
            </a:outerShdw>
          </a:effectLst>
        </p:spPr>
      </p:pic>
      <p:pic>
        <p:nvPicPr>
          <p:cNvPr id="7" name="Image 2" descr="D:\RegisterLens\docs\deck\img_crop\13_mobile_map.png">    </p:cNvPr>
          <p:cNvPicPr>
            <a:picLocks noChangeAspect="1"/>
          </p:cNvPicPr>
          <p:nvPr/>
        </p:nvPicPr>
        <p:blipFill>
          <a:blip r:embed="rId3"/>
          <a:stretch>
            <a:fillRect/>
          </a:stretch>
        </p:blipFill>
        <p:spPr>
          <a:xfrm>
            <a:off x="7269480" y="1143000"/>
            <a:ext cx="1417320" cy="2523744"/>
          </a:xfrm>
          <a:prstGeom prst="rect">
            <a:avLst/>
          </a:prstGeom>
          <a:effectLst>
            <a:outerShdw sx="100000" sy="100000" kx="0" ky="0" algn="bl" rotWithShape="0" blurRad="127000" dist="38100" dir="5400000">
              <a:srgbClr val="14665C">
                <a:alpha val="18000"/>
              </a:srgbClr>
            </a:outerShdw>
          </a:effectLst>
        </p:spPr>
      </p:pic>
      <p:sp>
        <p:nvSpPr>
          <p:cNvPr id="8" name="Text 3"/>
          <p:cNvSpPr txBox="1"/>
          <p:nvPr/>
        </p:nvSpPr>
        <p:spPr>
          <a:xfrm>
            <a:off x="5715000" y="3749040"/>
            <a:ext cx="3017520" cy="274320"/>
          </a:xfrm>
          <a:prstGeom prst="rect">
            <a:avLst/>
          </a:prstGeom>
          <a:noFill/>
          <a:ln/>
        </p:spPr>
        <p:txBody>
          <a:bodyPr wrap="square" lIns="0" tIns="0" rIns="0" bIns="0" rtlCol="0" anchor="ctr"/>
          <a:lstStyle/>
          <a:p>
            <a:pPr indent="0" marL="0">
              <a:buNone/>
            </a:pPr>
            <a:r>
              <a:rPr lang="en-US" sz="1000" dirty="0">
                <a:solidFill>
                  <a:srgbClr val="5B7780"/>
                </a:solidFill>
                <a:latin typeface="Calibri" pitchFamily="34" charset="0"/>
                <a:ea typeface="Calibri" pitchFamily="34" charset="-122"/>
                <a:cs typeface="Calibri" pitchFamily="34" charset="-120"/>
              </a:rPr>
              <a:t>Phone views: home and district map</a:t>
            </a:r>
            <a:endParaRPr lang="en-US" sz="1000" dirty="0"/>
          </a:p>
        </p:txBody>
      </p:sp>
      <p:sp>
        <p:nvSpPr>
          <p:cNvPr id="9" name="Text 4"/>
          <p:cNvSpPr txBox="1"/>
          <p:nvPr/>
        </p:nvSpPr>
        <p:spPr>
          <a:xfrm>
            <a:off x="5715000" y="4069080"/>
            <a:ext cx="3017520" cy="685800"/>
          </a:xfrm>
          <a:prstGeom prst="rect">
            <a:avLst/>
          </a:prstGeom>
          <a:noFill/>
          <a:ln/>
        </p:spPr>
        <p:txBody>
          <a:bodyPr wrap="square" lIns="0" tIns="0" rIns="0" bIns="0" rtlCol="0" anchor="t"/>
          <a:lstStyle/>
          <a:p>
            <a:pPr indent="0" marL="0">
              <a:buNone/>
            </a:pPr>
            <a:r>
              <a:rPr lang="en-US" sz="1050" b="1" dirty="0">
                <a:solidFill>
                  <a:srgbClr val="167F71"/>
                </a:solidFill>
                <a:latin typeface="Calibri" pitchFamily="34" charset="0"/>
                <a:ea typeface="Calibri" pitchFamily="34" charset="-122"/>
                <a:cs typeface="Calibri" pitchFamily="34" charset="-120"/>
              </a:rPr>
              <a:t>Safeguards: unsure cells yellow · balance errors red · batch cross-check · nothing uploaded automatically · officer approves every transfer.</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Pilot-ready in four weeks</a:t>
            </a:r>
            <a:endParaRPr lang="en-US" sz="3000" dirty="0"/>
          </a:p>
        </p:txBody>
      </p:sp>
      <p:sp>
        <p:nvSpPr>
          <p:cNvPr id="3" name="Shape 1"/>
          <p:cNvSpPr/>
          <p:nvPr/>
        </p:nvSpPr>
        <p:spPr>
          <a:xfrm>
            <a:off x="457200" y="1325880"/>
            <a:ext cx="1920240" cy="1920240"/>
          </a:xfrm>
          <a:prstGeom prst="roundRect">
            <a:avLst>
              <a:gd name="adj" fmla="val 571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4" name="Text 2"/>
          <p:cNvSpPr txBox="1"/>
          <p:nvPr/>
        </p:nvSpPr>
        <p:spPr>
          <a:xfrm>
            <a:off x="640080" y="1463040"/>
            <a:ext cx="1554480" cy="365760"/>
          </a:xfrm>
          <a:prstGeom prst="rect">
            <a:avLst/>
          </a:prstGeom>
          <a:noFill/>
          <a:ln/>
        </p:spPr>
        <p:txBody>
          <a:bodyPr wrap="square" lIns="0" tIns="0" rIns="0" bIns="0" rtlCol="0" anchor="ctr"/>
          <a:lstStyle/>
          <a:p>
            <a:pPr indent="0" marL="0">
              <a:buNone/>
            </a:pPr>
            <a:r>
              <a:rPr lang="en-US" sz="1600" b="1" dirty="0">
                <a:solidFill>
                  <a:srgbClr val="167F71"/>
                </a:solidFill>
                <a:latin typeface="Cambria" pitchFamily="34" charset="0"/>
                <a:ea typeface="Cambria" pitchFamily="34" charset="-122"/>
                <a:cs typeface="Cambria" pitchFamily="34" charset="-120"/>
              </a:rPr>
              <a:t>Week 1</a:t>
            </a:r>
            <a:endParaRPr lang="en-US" sz="1600" dirty="0"/>
          </a:p>
        </p:txBody>
      </p:sp>
      <p:sp>
        <p:nvSpPr>
          <p:cNvPr id="5" name="Text 3"/>
          <p:cNvSpPr txBox="1"/>
          <p:nvPr/>
        </p:nvSpPr>
        <p:spPr>
          <a:xfrm>
            <a:off x="640080" y="1874520"/>
            <a:ext cx="1554480" cy="1280160"/>
          </a:xfrm>
          <a:prstGeom prst="rect">
            <a:avLst/>
          </a:prstGeom>
          <a:noFill/>
          <a:ln/>
        </p:spPr>
        <p:txBody>
          <a:bodyPr wrap="square" lIns="0" tIns="0" rIns="0" bIns="0" rtlCol="0" anchor="t"/>
          <a:lstStyle/>
          <a:p>
            <a:pPr indent="0" marL="0">
              <a:buNone/>
            </a:pPr>
            <a:r>
              <a:rPr lang="en-US" sz="1150" dirty="0">
                <a:solidFill>
                  <a:srgbClr val="5B7780"/>
                </a:solidFill>
                <a:latin typeface="Calibri" pitchFamily="34" charset="0"/>
                <a:ea typeface="Calibri" pitchFamily="34" charset="-122"/>
                <a:cs typeface="Calibri" pitchFamily="34" charset="-120"/>
              </a:rPr>
              <a:t>Collect real register photos from 3–5 PHCs in one district. Measure accuracy.</a:t>
            </a:r>
            <a:endParaRPr lang="en-US" sz="1150" dirty="0"/>
          </a:p>
        </p:txBody>
      </p:sp>
      <p:sp>
        <p:nvSpPr>
          <p:cNvPr id="6" name="Shape 4"/>
          <p:cNvSpPr/>
          <p:nvPr/>
        </p:nvSpPr>
        <p:spPr>
          <a:xfrm>
            <a:off x="2578608" y="1325880"/>
            <a:ext cx="1920240" cy="1920240"/>
          </a:xfrm>
          <a:prstGeom prst="roundRect">
            <a:avLst>
              <a:gd name="adj" fmla="val 571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7" name="Text 5"/>
          <p:cNvSpPr txBox="1"/>
          <p:nvPr/>
        </p:nvSpPr>
        <p:spPr>
          <a:xfrm>
            <a:off x="2761488" y="1463040"/>
            <a:ext cx="1554480" cy="365760"/>
          </a:xfrm>
          <a:prstGeom prst="rect">
            <a:avLst/>
          </a:prstGeom>
          <a:noFill/>
          <a:ln/>
        </p:spPr>
        <p:txBody>
          <a:bodyPr wrap="square" lIns="0" tIns="0" rIns="0" bIns="0" rtlCol="0" anchor="ctr"/>
          <a:lstStyle/>
          <a:p>
            <a:pPr indent="0" marL="0">
              <a:buNone/>
            </a:pPr>
            <a:r>
              <a:rPr lang="en-US" sz="1600" b="1" dirty="0">
                <a:solidFill>
                  <a:srgbClr val="167F71"/>
                </a:solidFill>
                <a:latin typeface="Cambria" pitchFamily="34" charset="0"/>
                <a:ea typeface="Cambria" pitchFamily="34" charset="-122"/>
                <a:cs typeface="Cambria" pitchFamily="34" charset="-120"/>
              </a:rPr>
              <a:t>Week 2</a:t>
            </a:r>
            <a:endParaRPr lang="en-US" sz="1600" dirty="0"/>
          </a:p>
        </p:txBody>
      </p:sp>
      <p:sp>
        <p:nvSpPr>
          <p:cNvPr id="8" name="Text 6"/>
          <p:cNvSpPr txBox="1"/>
          <p:nvPr/>
        </p:nvSpPr>
        <p:spPr>
          <a:xfrm>
            <a:off x="2761488" y="1874520"/>
            <a:ext cx="1554480" cy="1280160"/>
          </a:xfrm>
          <a:prstGeom prst="rect">
            <a:avLst/>
          </a:prstGeom>
          <a:noFill/>
          <a:ln/>
        </p:spPr>
        <p:txBody>
          <a:bodyPr wrap="square" lIns="0" tIns="0" rIns="0" bIns="0" rtlCol="0" anchor="t"/>
          <a:lstStyle/>
          <a:p>
            <a:pPr indent="0" marL="0">
              <a:buNone/>
            </a:pPr>
            <a:r>
              <a:rPr lang="en-US" sz="1150" dirty="0">
                <a:solidFill>
                  <a:srgbClr val="5B7780"/>
                </a:solidFill>
                <a:latin typeface="Calibri" pitchFamily="34" charset="0"/>
                <a:ea typeface="Calibri" pitchFamily="34" charset="-122"/>
                <a:cs typeface="Calibri" pitchFamily="34" charset="-120"/>
              </a:rPr>
              <a:t>Map each register template. Match DVDMS bulk-entry fields with the state IT team.</a:t>
            </a:r>
            <a:endParaRPr lang="en-US" sz="1150" dirty="0"/>
          </a:p>
        </p:txBody>
      </p:sp>
      <p:sp>
        <p:nvSpPr>
          <p:cNvPr id="9" name="Shape 7"/>
          <p:cNvSpPr/>
          <p:nvPr/>
        </p:nvSpPr>
        <p:spPr>
          <a:xfrm>
            <a:off x="4700016" y="1325880"/>
            <a:ext cx="1920240" cy="1920240"/>
          </a:xfrm>
          <a:prstGeom prst="roundRect">
            <a:avLst>
              <a:gd name="adj" fmla="val 571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0" name="Text 8"/>
          <p:cNvSpPr txBox="1"/>
          <p:nvPr/>
        </p:nvSpPr>
        <p:spPr>
          <a:xfrm>
            <a:off x="4882896" y="1463040"/>
            <a:ext cx="1554480" cy="365760"/>
          </a:xfrm>
          <a:prstGeom prst="rect">
            <a:avLst/>
          </a:prstGeom>
          <a:noFill/>
          <a:ln/>
        </p:spPr>
        <p:txBody>
          <a:bodyPr wrap="square" lIns="0" tIns="0" rIns="0" bIns="0" rtlCol="0" anchor="ctr"/>
          <a:lstStyle/>
          <a:p>
            <a:pPr indent="0" marL="0">
              <a:buNone/>
            </a:pPr>
            <a:r>
              <a:rPr lang="en-US" sz="1600" b="1" dirty="0">
                <a:solidFill>
                  <a:srgbClr val="167F71"/>
                </a:solidFill>
                <a:latin typeface="Cambria" pitchFamily="34" charset="0"/>
                <a:ea typeface="Cambria" pitchFamily="34" charset="-122"/>
                <a:cs typeface="Cambria" pitchFamily="34" charset="-120"/>
              </a:rPr>
              <a:t>Week 3</a:t>
            </a:r>
            <a:endParaRPr lang="en-US" sz="1600" dirty="0"/>
          </a:p>
        </p:txBody>
      </p:sp>
      <p:sp>
        <p:nvSpPr>
          <p:cNvPr id="11" name="Text 9"/>
          <p:cNvSpPr txBox="1"/>
          <p:nvPr/>
        </p:nvSpPr>
        <p:spPr>
          <a:xfrm>
            <a:off x="4882896" y="1874520"/>
            <a:ext cx="1554480" cy="1280160"/>
          </a:xfrm>
          <a:prstGeom prst="rect">
            <a:avLst/>
          </a:prstGeom>
          <a:noFill/>
          <a:ln/>
        </p:spPr>
        <p:txBody>
          <a:bodyPr wrap="square" lIns="0" tIns="0" rIns="0" bIns="0" rtlCol="0" anchor="t"/>
          <a:lstStyle/>
          <a:p>
            <a:pPr indent="0" marL="0">
              <a:buNone/>
            </a:pPr>
            <a:r>
              <a:rPr lang="en-US" sz="1150" dirty="0">
                <a:solidFill>
                  <a:srgbClr val="5B7780"/>
                </a:solidFill>
                <a:latin typeface="Calibri" pitchFamily="34" charset="0"/>
                <a:ea typeface="Calibri" pitchFamily="34" charset="-122"/>
                <a:cs typeface="Calibri" pitchFamily="34" charset="-120"/>
              </a:rPr>
              <a:t>Shadow mode: run beside the current process and compare stock numbers.</a:t>
            </a:r>
            <a:endParaRPr lang="en-US" sz="1150" dirty="0"/>
          </a:p>
        </p:txBody>
      </p:sp>
      <p:sp>
        <p:nvSpPr>
          <p:cNvPr id="12" name="Shape 10"/>
          <p:cNvSpPr/>
          <p:nvPr/>
        </p:nvSpPr>
        <p:spPr>
          <a:xfrm>
            <a:off x="6821424" y="1325880"/>
            <a:ext cx="1920240" cy="1920240"/>
          </a:xfrm>
          <a:prstGeom prst="roundRect">
            <a:avLst>
              <a:gd name="adj" fmla="val 571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3" name="Text 11"/>
          <p:cNvSpPr txBox="1"/>
          <p:nvPr/>
        </p:nvSpPr>
        <p:spPr>
          <a:xfrm>
            <a:off x="7004304" y="1463040"/>
            <a:ext cx="1554480" cy="365760"/>
          </a:xfrm>
          <a:prstGeom prst="rect">
            <a:avLst/>
          </a:prstGeom>
          <a:noFill/>
          <a:ln/>
        </p:spPr>
        <p:txBody>
          <a:bodyPr wrap="square" lIns="0" tIns="0" rIns="0" bIns="0" rtlCol="0" anchor="ctr"/>
          <a:lstStyle/>
          <a:p>
            <a:pPr indent="0" marL="0">
              <a:buNone/>
            </a:pPr>
            <a:r>
              <a:rPr lang="en-US" sz="1600" b="1" dirty="0">
                <a:solidFill>
                  <a:srgbClr val="167F71"/>
                </a:solidFill>
                <a:latin typeface="Cambria" pitchFamily="34" charset="0"/>
                <a:ea typeface="Cambria" pitchFamily="34" charset="-122"/>
                <a:cs typeface="Cambria" pitchFamily="34" charset="-120"/>
              </a:rPr>
              <a:t>Week 4</a:t>
            </a:r>
            <a:endParaRPr lang="en-US" sz="1600" dirty="0"/>
          </a:p>
        </p:txBody>
      </p:sp>
      <p:sp>
        <p:nvSpPr>
          <p:cNvPr id="14" name="Text 12"/>
          <p:cNvSpPr txBox="1"/>
          <p:nvPr/>
        </p:nvSpPr>
        <p:spPr>
          <a:xfrm>
            <a:off x="7004304" y="1874520"/>
            <a:ext cx="1554480" cy="1280160"/>
          </a:xfrm>
          <a:prstGeom prst="rect">
            <a:avLst/>
          </a:prstGeom>
          <a:noFill/>
          <a:ln/>
        </p:spPr>
        <p:txBody>
          <a:bodyPr wrap="square" lIns="0" tIns="0" rIns="0" bIns="0" rtlCol="0" anchor="t"/>
          <a:lstStyle/>
          <a:p>
            <a:pPr indent="0" marL="0">
              <a:buNone/>
            </a:pPr>
            <a:r>
              <a:rPr lang="en-US" sz="1150" dirty="0">
                <a:solidFill>
                  <a:srgbClr val="5B7780"/>
                </a:solidFill>
                <a:latin typeface="Calibri" pitchFamily="34" charset="0"/>
                <a:ea typeface="Calibri" pitchFamily="34" charset="-122"/>
                <a:cs typeface="Calibri" pitchFamily="34" charset="-120"/>
              </a:rPr>
              <a:t>Go live with pharmacists, district officer sign-off on alerts.</a:t>
            </a:r>
            <a:endParaRPr lang="en-US" sz="1150" dirty="0"/>
          </a:p>
        </p:txBody>
      </p:sp>
      <p:sp>
        <p:nvSpPr>
          <p:cNvPr id="15" name="Text 13"/>
          <p:cNvSpPr txBox="1"/>
          <p:nvPr/>
        </p:nvSpPr>
        <p:spPr>
          <a:xfrm>
            <a:off x="457200" y="3520440"/>
            <a:ext cx="8229600" cy="822960"/>
          </a:xfrm>
          <a:prstGeom prst="rect">
            <a:avLst/>
          </a:prstGeom>
          <a:noFill/>
          <a:ln/>
        </p:spPr>
        <p:txBody>
          <a:bodyPr wrap="square" lIns="0" tIns="0" rIns="0" bIns="0" rtlCol="0" anchor="t"/>
          <a:lstStyle/>
          <a:p>
            <a:pPr indent="0" marL="0">
              <a:buNone/>
            </a:pPr>
            <a:r>
              <a:rPr lang="en-US" sz="1400" b="1" dirty="0">
                <a:solidFill>
                  <a:srgbClr val="16323A"/>
                </a:solidFill>
                <a:latin typeface="Calibri" pitchFamily="34" charset="0"/>
                <a:ea typeface="Calibri" pitchFamily="34" charset="-122"/>
                <a:cs typeface="Calibri" pitchFamily="34" charset="-120"/>
              </a:rPr>
              <a:t>What it needs: </a:t>
            </a:r>
            <a:pPr indent="0" marL="0">
              <a:buNone/>
            </a:pPr>
            <a:r>
              <a:rPr lang="en-US" sz="1400" dirty="0">
                <a:solidFill>
                  <a:srgbClr val="5B7780"/>
                </a:solidFill>
                <a:latin typeface="Calibri" pitchFamily="34" charset="0"/>
                <a:ea typeface="Calibri" pitchFamily="34" charset="-122"/>
                <a:cs typeface="Calibri" pitchFamily="34" charset="-120"/>
              </a:rPr>
              <a:t>a phone camera, a browser, a Gemini API key. It reads the register that already exists and outputs a bulk-entry file for the existing system, so there is no new hardware and no new workflow to learn.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Built to travel across states and BRICS nations</a:t>
            </a:r>
            <a:endParaRPr lang="en-US" sz="3000" dirty="0"/>
          </a:p>
        </p:txBody>
      </p:sp>
      <p:sp>
        <p:nvSpPr>
          <p:cNvPr id="3" name="Shape 1"/>
          <p:cNvSpPr/>
          <p:nvPr/>
        </p:nvSpPr>
        <p:spPr>
          <a:xfrm>
            <a:off x="457200" y="1280160"/>
            <a:ext cx="2606040" cy="2377440"/>
          </a:xfrm>
          <a:prstGeom prst="roundRect">
            <a:avLst>
              <a:gd name="adj" fmla="val 4615"/>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4" name="Shape 2"/>
          <p:cNvSpPr/>
          <p:nvPr/>
        </p:nvSpPr>
        <p:spPr>
          <a:xfrm>
            <a:off x="640080" y="1463040"/>
            <a:ext cx="365760" cy="365760"/>
          </a:xfrm>
          <a:prstGeom prst="ellipse">
            <a:avLst/>
          </a:prstGeom>
          <a:solidFill>
            <a:srgbClr val="3B9CE2"/>
          </a:solidFill>
          <a:ln w="12700">
            <a:solidFill>
              <a:srgbClr val="3B9CE2"/>
            </a:solidFill>
            <a:prstDash val="solid"/>
          </a:ln>
        </p:spPr>
      </p:sp>
      <p:sp>
        <p:nvSpPr>
          <p:cNvPr id="5" name="Text 3"/>
          <p:cNvSpPr txBox="1"/>
          <p:nvPr/>
        </p:nvSpPr>
        <p:spPr>
          <a:xfrm>
            <a:off x="1143000" y="1463040"/>
            <a:ext cx="17830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Language</a:t>
            </a:r>
            <a:endParaRPr lang="en-US" sz="1500" dirty="0"/>
          </a:p>
        </p:txBody>
      </p:sp>
      <p:sp>
        <p:nvSpPr>
          <p:cNvPr id="6" name="Text 4"/>
          <p:cNvSpPr txBox="1"/>
          <p:nvPr/>
        </p:nvSpPr>
        <p:spPr>
          <a:xfrm>
            <a:off x="640080" y="2011680"/>
            <a:ext cx="2286000" cy="914400"/>
          </a:xfrm>
          <a:prstGeom prst="rect">
            <a:avLst/>
          </a:prstGeom>
          <a:noFill/>
          <a:ln/>
        </p:spPr>
        <p:txBody>
          <a:bodyPr wrap="square" lIns="0" tIns="0" rIns="0" bIns="0" rtlCol="0" anchor="t"/>
          <a:lstStyle/>
          <a:p>
            <a:pPr indent="0" marL="0">
              <a:buNone/>
            </a:pPr>
            <a:r>
              <a:rPr lang="en-US" sz="1200" dirty="0">
                <a:solidFill>
                  <a:srgbClr val="5B7780"/>
                </a:solidFill>
                <a:latin typeface="Calibri" pitchFamily="34" charset="0"/>
                <a:ea typeface="Calibri" pitchFamily="34" charset="-122"/>
                <a:cs typeface="Calibri" pitchFamily="34" charset="-120"/>
              </a:rPr>
              <a:t>Phase 2, live: district alerts in 16 Indian languages; UP defaults to Hindi, Urdu, English.</a:t>
            </a:r>
            <a:endParaRPr lang="en-US" sz="1200" dirty="0"/>
          </a:p>
        </p:txBody>
      </p:sp>
      <p:sp>
        <p:nvSpPr>
          <p:cNvPr id="7" name="Text 5"/>
          <p:cNvSpPr txBox="1"/>
          <p:nvPr/>
        </p:nvSpPr>
        <p:spPr>
          <a:xfrm>
            <a:off x="640080" y="2926080"/>
            <a:ext cx="2286000" cy="685800"/>
          </a:xfrm>
          <a:prstGeom prst="rect">
            <a:avLst/>
          </a:prstGeom>
          <a:noFill/>
          <a:ln/>
        </p:spPr>
        <p:txBody>
          <a:bodyPr wrap="square" lIns="0" tIns="0" rIns="0" bIns="0" rtlCol="0" anchor="t"/>
          <a:lstStyle/>
          <a:p>
            <a:pPr indent="0" marL="0">
              <a:buNone/>
            </a:pPr>
            <a:r>
              <a:rPr lang="en-US" sz="1000" b="1" dirty="0">
                <a:solidFill>
                  <a:srgbClr val="3B9CE2"/>
                </a:solidFill>
                <a:latin typeface="Nirmala UI" pitchFamily="34" charset="0"/>
                <a:ea typeface="Nirmala UI" pitchFamily="34" charset="-122"/>
                <a:cs typeface="Nirmala UI" pitchFamily="34" charset="-120"/>
              </a:rPr>
              <a:t>हिन्दी  اردو  भोजपुरी  தமிழ்  తెలుగు  বাংলা  मराठी  ଓଡ଼ିଆ  ಕನ್ನಡ</a:t>
            </a:r>
            <a:endParaRPr lang="en-US" sz="1000" dirty="0"/>
          </a:p>
        </p:txBody>
      </p:sp>
      <p:sp>
        <p:nvSpPr>
          <p:cNvPr id="8" name="Shape 6"/>
          <p:cNvSpPr/>
          <p:nvPr/>
        </p:nvSpPr>
        <p:spPr>
          <a:xfrm>
            <a:off x="3246120" y="1280160"/>
            <a:ext cx="2606040" cy="2377440"/>
          </a:xfrm>
          <a:prstGeom prst="roundRect">
            <a:avLst>
              <a:gd name="adj" fmla="val 4615"/>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9" name="Shape 7"/>
          <p:cNvSpPr/>
          <p:nvPr/>
        </p:nvSpPr>
        <p:spPr>
          <a:xfrm>
            <a:off x="3429000" y="1463040"/>
            <a:ext cx="365760" cy="365760"/>
          </a:xfrm>
          <a:prstGeom prst="ellipse">
            <a:avLst/>
          </a:prstGeom>
          <a:solidFill>
            <a:srgbClr val="167F71"/>
          </a:solidFill>
          <a:ln w="12700">
            <a:solidFill>
              <a:srgbClr val="167F71"/>
            </a:solidFill>
            <a:prstDash val="solid"/>
          </a:ln>
        </p:spPr>
      </p:sp>
      <p:sp>
        <p:nvSpPr>
          <p:cNvPr id="10" name="Text 8"/>
          <p:cNvSpPr txBox="1"/>
          <p:nvPr/>
        </p:nvSpPr>
        <p:spPr>
          <a:xfrm>
            <a:off x="3931920" y="1463040"/>
            <a:ext cx="17830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Register templates</a:t>
            </a:r>
            <a:endParaRPr lang="en-US" sz="1500" dirty="0"/>
          </a:p>
        </p:txBody>
      </p:sp>
      <p:sp>
        <p:nvSpPr>
          <p:cNvPr id="11" name="Text 9"/>
          <p:cNvSpPr txBox="1"/>
          <p:nvPr/>
        </p:nvSpPr>
        <p:spPr>
          <a:xfrm>
            <a:off x="3429000" y="2011680"/>
            <a:ext cx="2286000" cy="914400"/>
          </a:xfrm>
          <a:prstGeom prst="rect">
            <a:avLst/>
          </a:prstGeom>
          <a:noFill/>
          <a:ln/>
        </p:spPr>
        <p:txBody>
          <a:bodyPr wrap="square" lIns="0" tIns="0" rIns="0" bIns="0" rtlCol="0" anchor="t"/>
          <a:lstStyle/>
          <a:p>
            <a:pPr indent="0" marL="0">
              <a:buNone/>
            </a:pPr>
            <a:r>
              <a:rPr lang="en-US" sz="1200" dirty="0">
                <a:solidFill>
                  <a:srgbClr val="5B7780"/>
                </a:solidFill>
                <a:latin typeface="Calibri" pitchFamily="34" charset="0"/>
                <a:ea typeface="Calibri" pitchFamily="34" charset="-122"/>
                <a:cs typeface="Calibri" pitchFamily="34" charset="-120"/>
              </a:rPr>
              <a:t>Layout differs by state; one template file per register lets Gemini read a new format without retraining.</a:t>
            </a:r>
            <a:endParaRPr lang="en-US" sz="1200" dirty="0"/>
          </a:p>
        </p:txBody>
      </p:sp>
      <p:sp>
        <p:nvSpPr>
          <p:cNvPr id="12" name="Text 10"/>
          <p:cNvSpPr txBox="1"/>
          <p:nvPr/>
        </p:nvSpPr>
        <p:spPr>
          <a:xfrm>
            <a:off x="3429000" y="2926080"/>
            <a:ext cx="2286000" cy="685800"/>
          </a:xfrm>
          <a:prstGeom prst="rect">
            <a:avLst/>
          </a:prstGeom>
          <a:noFill/>
          <a:ln/>
        </p:spPr>
        <p:txBody>
          <a:bodyPr wrap="square" lIns="0" tIns="0" rIns="0" bIns="0" rtlCol="0" anchor="t"/>
          <a:lstStyle/>
          <a:p>
            <a:pPr indent="0" marL="0">
              <a:buNone/>
            </a:pPr>
            <a:r>
              <a:rPr lang="en-US" sz="1000" b="1" dirty="0">
                <a:solidFill>
                  <a:srgbClr val="167F71"/>
                </a:solidFill>
                <a:latin typeface="Nirmala UI" pitchFamily="34" charset="0"/>
                <a:ea typeface="Nirmala UI" pitchFamily="34" charset="-122"/>
                <a:cs typeface="Nirmala UI" pitchFamily="34" charset="-120"/>
              </a:rPr>
              <a:t>column names · units · date style</a:t>
            </a:r>
            <a:endParaRPr lang="en-US" sz="1000" dirty="0"/>
          </a:p>
        </p:txBody>
      </p:sp>
      <p:sp>
        <p:nvSpPr>
          <p:cNvPr id="13" name="Shape 11"/>
          <p:cNvSpPr/>
          <p:nvPr/>
        </p:nvSpPr>
        <p:spPr>
          <a:xfrm>
            <a:off x="6035040" y="1280160"/>
            <a:ext cx="2606040" cy="2377440"/>
          </a:xfrm>
          <a:prstGeom prst="roundRect">
            <a:avLst>
              <a:gd name="adj" fmla="val 4615"/>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4" name="Shape 12"/>
          <p:cNvSpPr/>
          <p:nvPr/>
        </p:nvSpPr>
        <p:spPr>
          <a:xfrm>
            <a:off x="6217920" y="1463040"/>
            <a:ext cx="365760" cy="365760"/>
          </a:xfrm>
          <a:prstGeom prst="ellipse">
            <a:avLst/>
          </a:prstGeom>
          <a:solidFill>
            <a:srgbClr val="F0A23B"/>
          </a:solidFill>
          <a:ln w="12700">
            <a:solidFill>
              <a:srgbClr val="F0A23B"/>
            </a:solidFill>
            <a:prstDash val="solid"/>
          </a:ln>
        </p:spPr>
      </p:sp>
      <p:sp>
        <p:nvSpPr>
          <p:cNvPr id="15" name="Text 13"/>
          <p:cNvSpPr txBox="1"/>
          <p:nvPr/>
        </p:nvSpPr>
        <p:spPr>
          <a:xfrm>
            <a:off x="6720840" y="1463040"/>
            <a:ext cx="17830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Medicine catalogue</a:t>
            </a:r>
            <a:endParaRPr lang="en-US" sz="1500" dirty="0"/>
          </a:p>
        </p:txBody>
      </p:sp>
      <p:sp>
        <p:nvSpPr>
          <p:cNvPr id="16" name="Text 14"/>
          <p:cNvSpPr txBox="1"/>
          <p:nvPr/>
        </p:nvSpPr>
        <p:spPr>
          <a:xfrm>
            <a:off x="6217920" y="2011680"/>
            <a:ext cx="2286000" cy="914400"/>
          </a:xfrm>
          <a:prstGeom prst="rect">
            <a:avLst/>
          </a:prstGeom>
          <a:noFill/>
          <a:ln/>
        </p:spPr>
        <p:txBody>
          <a:bodyPr wrap="square" lIns="0" tIns="0" rIns="0" bIns="0" rtlCol="0" anchor="t"/>
          <a:lstStyle/>
          <a:p>
            <a:pPr indent="0" marL="0">
              <a:buNone/>
            </a:pPr>
            <a:r>
              <a:rPr lang="en-US" sz="1200" dirty="0">
                <a:solidFill>
                  <a:srgbClr val="5B7780"/>
                </a:solidFill>
                <a:latin typeface="Calibri" pitchFamily="34" charset="0"/>
                <a:ea typeface="Calibri" pitchFamily="34" charset="-122"/>
                <a:cs typeface="Calibri" pitchFamily="34" charset="-120"/>
              </a:rPr>
              <a:t>Each country brings its own essential-medicines list and local aliases.</a:t>
            </a:r>
            <a:endParaRPr lang="en-US" sz="1200" dirty="0"/>
          </a:p>
        </p:txBody>
      </p:sp>
      <p:sp>
        <p:nvSpPr>
          <p:cNvPr id="17" name="Text 15"/>
          <p:cNvSpPr txBox="1"/>
          <p:nvPr/>
        </p:nvSpPr>
        <p:spPr>
          <a:xfrm>
            <a:off x="6217920" y="2926080"/>
            <a:ext cx="2286000" cy="685800"/>
          </a:xfrm>
          <a:prstGeom prst="rect">
            <a:avLst/>
          </a:prstGeom>
          <a:noFill/>
          <a:ln/>
        </p:spPr>
        <p:txBody>
          <a:bodyPr wrap="square" lIns="0" tIns="0" rIns="0" bIns="0" rtlCol="0" anchor="t"/>
          <a:lstStyle/>
          <a:p>
            <a:pPr indent="0" marL="0">
              <a:buNone/>
            </a:pPr>
            <a:r>
              <a:rPr lang="en-US" sz="1000" b="1" dirty="0">
                <a:solidFill>
                  <a:srgbClr val="F0A23B"/>
                </a:solidFill>
                <a:latin typeface="Nirmala UI" pitchFamily="34" charset="0"/>
                <a:ea typeface="Nirmala UI" pitchFamily="34" charset="-122"/>
                <a:cs typeface="Nirmala UI" pitchFamily="34" charset="-120"/>
              </a:rPr>
              <a:t>NLEM (India) → other national lists</a:t>
            </a:r>
            <a:endParaRPr lang="en-US" sz="1000" dirty="0"/>
          </a:p>
        </p:txBody>
      </p:sp>
      <p:sp>
        <p:nvSpPr>
          <p:cNvPr id="18" name="Shape 16"/>
          <p:cNvSpPr/>
          <p:nvPr/>
        </p:nvSpPr>
        <p:spPr>
          <a:xfrm>
            <a:off x="457200" y="3840480"/>
            <a:ext cx="8275320" cy="868680"/>
          </a:xfrm>
          <a:prstGeom prst="roundRect">
            <a:avLst>
              <a:gd name="adj" fmla="val 12632"/>
            </a:avLst>
          </a:prstGeom>
          <a:solidFill>
            <a:srgbClr val="EEFAF7"/>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9" name="Text 17"/>
          <p:cNvSpPr txBox="1"/>
          <p:nvPr/>
        </p:nvSpPr>
        <p:spPr>
          <a:xfrm>
            <a:off x="640080" y="3886200"/>
            <a:ext cx="7909560" cy="777240"/>
          </a:xfrm>
          <a:prstGeom prst="rect">
            <a:avLst/>
          </a:prstGeom>
          <a:noFill/>
          <a:ln/>
        </p:spPr>
        <p:txBody>
          <a:bodyPr wrap="square" lIns="0" tIns="0" rIns="0" bIns="0" rtlCol="0" anchor="ctr"/>
          <a:lstStyle/>
          <a:p>
            <a:pPr indent="0" marL="0">
              <a:buNone/>
            </a:pPr>
            <a:r>
              <a:rPr lang="en-US" sz="1300" b="1" dirty="0">
                <a:solidFill>
                  <a:srgbClr val="167F71"/>
                </a:solidFill>
                <a:latin typeface="Calibri" pitchFamily="34" charset="0"/>
                <a:ea typeface="Calibri" pitchFamily="34" charset="-122"/>
                <a:cs typeface="Calibri" pitchFamily="34" charset="-120"/>
              </a:rPr>
              <a:t>Already statewide: </a:t>
            </a:r>
            <a:pPr indent="0" marL="0">
              <a:buNone/>
            </a:pPr>
            <a:r>
              <a:rPr lang="en-US" sz="1300" dirty="0">
                <a:solidFill>
                  <a:srgbClr val="5B7780"/>
                </a:solidFill>
                <a:latin typeface="Calibri" pitchFamily="34" charset="0"/>
                <a:ea typeface="Calibri" pitchFamily="34" charset="-122"/>
                <a:cs typeface="Calibri" pitchFamily="34" charset="-120"/>
              </a:rPr>
              <a:t>3,948 facilities in all 75 UP districts are on the map today. A new state needs its facility list, register template and languages, not new code.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How this maps to the judging criteria</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75320" cy="914400"/>
        </p:xfrm>
        <a:graphic>
          <a:graphicData uri="http://schemas.openxmlformats.org/drawingml/2006/table">
            <a:tbl>
              <a:tblPr/>
              <a:tblGrid>
                <a:gridCol w="2377440"/>
                <a:gridCol w="822960"/>
                <a:gridCol w="507492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167F7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167F7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Evidence you can open</a:t>
                      </a:r>
                      <a:endParaRPr lang="en-US" sz="120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167F71"/>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AI / Technical execution</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Gemini reads handwriting to JSON; function-calling assistant; multilingual alerts; OpenCV clean-up; 22-page evaluation</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Problem–solution fit</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Targets the audit-documented gap: DVDMS vs registers, at the pharmacist's end-of-day moment</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Depth &amp; reach across India</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All 75 UP districts, 3,948 facilities, villages far from care; 16 languages; config-driven for other states</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Deployability &amp; scalability</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Runs on Cloud Run; installable phone app; DVDMS bulk-entry output; four-week pilot plan</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Impact potential</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Stock-outs and expiry losses (reported in crores) at the source; expiry transfers with officer approval</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434840"/>
            <a:ext cx="8229600" cy="365760"/>
          </a:xfrm>
          <a:prstGeom prst="rect">
            <a:avLst/>
          </a:prstGeom>
          <a:noFill/>
          <a:ln/>
        </p:spPr>
        <p:txBody>
          <a:bodyPr wrap="square" lIns="0" tIns="0" rIns="0" bIns="0" rtlCol="0" anchor="ctr"/>
          <a:lstStyle/>
          <a:p>
            <a:pPr indent="0" marL="0">
              <a:buNone/>
            </a:pPr>
            <a:r>
              <a:rPr lang="en-US" sz="1200" dirty="0">
                <a:solidFill>
                  <a:srgbClr val="5B7780"/>
                </a:solidFill>
                <a:latin typeface="Calibri" pitchFamily="34" charset="0"/>
                <a:ea typeface="Calibri" pitchFamily="34" charset="-122"/>
                <a:cs typeface="Calibri" pitchFamily="34" charset="-120"/>
              </a:rPr>
              <a:t>Deliverables: source code repository · demo video (3–5 min) · this deck · live prototype link.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F39"/>
        </a:solidFill>
      </p:bgPr>
    </p:bg>
    <p:spTree>
      <p:nvGrpSpPr>
        <p:cNvPr id="1" name=""/>
        <p:cNvGrpSpPr/>
        <p:nvPr/>
      </p:nvGrpSpPr>
      <p:grpSpPr>
        <a:xfrm>
          <a:off x="0" y="0"/>
          <a:ext cx="0" cy="0"/>
          <a:chOff x="0" y="0"/>
          <a:chExt cx="0" cy="0"/>
        </a:xfrm>
      </p:grpSpPr>
      <p:sp>
        <p:nvSpPr>
          <p:cNvPr id="2" name="Text 0"/>
          <p:cNvSpPr txBox="1"/>
          <p:nvPr/>
        </p:nvSpPr>
        <p:spPr>
          <a:xfrm>
            <a:off x="548640" y="1097280"/>
            <a:ext cx="5669280" cy="14630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Your register already knows.</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Now DVDMS will too.</a:t>
            </a:r>
            <a:endParaRPr lang="en-US" sz="3400" dirty="0"/>
          </a:p>
        </p:txBody>
      </p:sp>
      <p:sp>
        <p:nvSpPr>
          <p:cNvPr id="3" name="Text 1"/>
          <p:cNvSpPr txBox="1"/>
          <p:nvPr/>
        </p:nvSpPr>
        <p:spPr>
          <a:xfrm>
            <a:off x="548640" y="2743200"/>
            <a:ext cx="5486400" cy="457200"/>
          </a:xfrm>
          <a:prstGeom prst="rect">
            <a:avLst/>
          </a:prstGeom>
          <a:noFill/>
          <a:ln/>
        </p:spPr>
        <p:txBody>
          <a:bodyPr wrap="square" lIns="0" tIns="0" rIns="0" bIns="0" rtlCol="0" anchor="ctr"/>
          <a:lstStyle/>
          <a:p>
            <a:pPr indent="0" marL="0">
              <a:buNone/>
            </a:pPr>
            <a:r>
              <a:rPr lang="en-US" sz="1600" dirty="0">
                <a:solidFill>
                  <a:srgbClr val="D5F3EC"/>
                </a:solidFill>
                <a:latin typeface="Calibri" pitchFamily="34" charset="0"/>
                <a:ea typeface="Calibri" pitchFamily="34" charset="-122"/>
                <a:cs typeface="Calibri" pitchFamily="34" charset="-120"/>
              </a:rPr>
              <a:t>One photo a day keeps the district's numbers true.</a:t>
            </a:r>
            <a:endParaRPr lang="en-US" sz="1600" dirty="0"/>
          </a:p>
        </p:txBody>
      </p:sp>
      <p:sp>
        <p:nvSpPr>
          <p:cNvPr id="4" name="Text 2"/>
          <p:cNvSpPr txBox="1"/>
          <p:nvPr/>
        </p:nvSpPr>
        <p:spPr>
          <a:xfrm>
            <a:off x="548640" y="4206240"/>
            <a:ext cx="6400800" cy="320040"/>
          </a:xfrm>
          <a:prstGeom prst="rect">
            <a:avLst/>
          </a:prstGeom>
          <a:noFill/>
          <a:ln/>
        </p:spPr>
        <p:txBody>
          <a:bodyPr wrap="square" lIns="0" tIns="0" rIns="0" bIns="0" rtlCol="0" anchor="ctr"/>
          <a:lstStyle/>
          <a:p>
            <a:pPr indent="0" marL="0">
              <a:buNone/>
            </a:pPr>
            <a:r>
              <a:rPr lang="en-US" sz="1200" dirty="0">
                <a:solidFill>
                  <a:srgbClr val="A9E5D7"/>
                </a:solidFill>
                <a:latin typeface="Calibri" pitchFamily="34" charset="0"/>
                <a:ea typeface="Calibri" pitchFamily="34" charset="-122"/>
                <a:cs typeface="Calibri" pitchFamily="34" charset="-120"/>
              </a:rPr>
              <a:t>Register Lens · Build with AI: Code for Communities 2.0 · Track 3</a:t>
            </a:r>
            <a:endParaRPr lang="en-US" sz="1200" dirty="0"/>
          </a:p>
        </p:txBody>
      </p:sp>
      <p:sp>
        <p:nvSpPr>
          <p:cNvPr id="5" name="Shape 3"/>
          <p:cNvSpPr/>
          <p:nvPr/>
        </p:nvSpPr>
        <p:spPr>
          <a:xfrm>
            <a:off x="6355080" y="1234440"/>
            <a:ext cx="2468880" cy="2468880"/>
          </a:xfrm>
          <a:prstGeom prst="ellipse">
            <a:avLst/>
          </a:prstGeom>
          <a:solidFill>
            <a:srgbClr val="FFFFFF"/>
          </a:solidFill>
          <a:ln w="12700">
            <a:solidFill>
              <a:srgbClr val="FFFFFF"/>
            </a:solidFill>
            <a:prstDash val="solid"/>
          </a:ln>
        </p:spPr>
      </p:sp>
      <p:pic>
        <p:nvPicPr>
          <p:cNvPr id="6" name="Image 0" descr="D:\RegisterLens\docs\deck\art\all-checked_d3u6.png">    </p:cNvPr>
          <p:cNvPicPr>
            <a:picLocks noChangeAspect="1"/>
          </p:cNvPicPr>
          <p:nvPr/>
        </p:nvPicPr>
        <p:blipFill>
          <a:blip r:embed="rId1"/>
          <a:srcRect l="0" r="0" t="0" b="0"/>
          <a:stretch/>
        </p:blipFill>
        <p:spPr>
          <a:xfrm>
            <a:off x="6583680" y="1463040"/>
            <a:ext cx="2011680" cy="2011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Register Lens</dc:title>
  <dc:subject>PptxGenJS Presentation</dc:subject>
  <dc:creator>Register Lens team</dc:creator>
  <cp:lastModifiedBy>Register Lens team</cp:lastModifiedBy>
  <cp:revision>1</cp:revision>
  <dcterms:created xsi:type="dcterms:W3CDTF">2026-09-30T18:02:55Z</dcterms:created>
  <dcterms:modified xsi:type="dcterms:W3CDTF">2026-09-30T18:02:55Z</dcterms:modified>
</cp:coreProperties>
</file>