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323A"/>
                </a:solidFill>
                <a:latin typeface="Calibri"/>
              </a:defRPr>
            </a:pPr>
            <a:r>
              <a:rPr sz="1200" b="0" i="0" u="none" strike="noStrike">
                <a:solidFill>
                  <a:srgbClr val="16323A"/>
                </a:solidFill>
                <a:latin typeface="Calibri"/>
              </a:rPr>
              <a:t>Cell accuracy by page difficulty (%)</a:t>
            </a:r>
          </a:p>
        </c:rich>
      </c:tx>
      <c:layout/>
      <c:overlay val="0"/>
    </c:title>
    <c:autoTitleDeleted val="0"/>
    <c:plotArea>
      <c:layout/>
      <c:barChart>
        <c:barDir val="col"/>
        <c:grouping val="clustered"/>
        <c:varyColors val="0"/>
        <c:ser>
          <c:idx val="0"/>
          <c:order val="0"/>
          <c:tx>
            <c:strRef>
              <c:f>Sheet1!$B$1</c:f>
              <c:strCache>
                <c:ptCount val="1"/>
                <c:pt idx="0">
                  <c:v>Quantities</c:v>
                </c:pt>
              </c:strCache>
            </c:strRef>
          </c:tx>
          <c:spPr>
            <a:solidFill>
              <a:srgbClr val="167F71"/>
            </a:solidFill>
            <a:effectLst/>
          </c:spPr>
          <c:invertIfNegative val="0"/>
          <c:dLbls>
            <c:numFmt formatCode="0.0" sourceLinked="0"/>
            <c:txPr>
              <a:bodyPr/>
              <a:lstStyle/>
              <a:p>
                <a:pPr>
                  <a:defRPr b="0" i="0" strike="noStrike" sz="900" u="none">
                    <a:solidFill>
                      <a:srgbClr val="16323A"/>
                    </a:solidFill>
                    <a:latin typeface="Arial"/>
                  </a:defRPr>
                </a:pPr>
              </a:p>
            </c:txPr>
            <c:showLegendKey val="0"/>
            <c:showVal val="1"/>
            <c:showCatName val="0"/>
            <c:showSerName val="0"/>
            <c:showPercent val="0"/>
            <c:showBubbleSize val="0"/>
            <c:showLeaderLines val="0"/>
          </c:dLbls>
          <c:cat>
            <c:multiLvlStrRef>
              <c:f>Sheet1!$A$2:$A$4</c:f>
              <c:multiLvlStrCache>
                <c:ptCount val="3"/>
                <c:lvl>
                  <c:pt idx="0">
                    <c:v>Easy (6 pages)</c:v>
                  </c:pt>
                  <c:pt idx="1">
                    <c:v>Medium (4)</c:v>
                  </c:pt>
                  <c:pt idx="2">
                    <c:v>Hard (2)</c:v>
                  </c:pt>
                </c:lvl>
              </c:multiLvlStrCache>
            </c:multiLvlStrRef>
          </c:cat>
          <c:val>
            <c:numRef>
              <c:f>Sheet1!$B$2:$B$4</c:f>
              <c:numCache>
                <c:formatCode>General</c:formatCode>
                <c:ptCount val="3"/>
                <c:pt idx="0">
                  <c:v>100</c:v>
                </c:pt>
                <c:pt idx="1">
                  <c:v>100</c:v>
                </c:pt>
                <c:pt idx="2">
                  <c:v>100</c:v>
                </c:pt>
              </c:numCache>
            </c:numRef>
          </c:val>
        </c:ser>
        <c:ser>
          <c:idx val="1"/>
          <c:order val="1"/>
          <c:tx>
            <c:strRef>
              <c:f>Sheet1!$C$1</c:f>
              <c:strCache>
                <c:ptCount val="1"/>
                <c:pt idx="0">
                  <c:v>Batch</c:v>
                </c:pt>
              </c:strCache>
            </c:strRef>
          </c:tx>
          <c:spPr>
            <a:solidFill>
              <a:srgbClr val="3B9CE2"/>
            </a:solidFill>
            <a:effectLst/>
          </c:spPr>
          <c:invertIfNegative val="0"/>
          <c:dLbls>
            <c:numFmt formatCode="0.0" sourceLinked="0"/>
            <c:txPr>
              <a:bodyPr/>
              <a:lstStyle/>
              <a:p>
                <a:pPr>
                  <a:defRPr b="0" i="0" strike="noStrike" sz="900" u="none">
                    <a:solidFill>
                      <a:srgbClr val="16323A"/>
                    </a:solidFill>
                    <a:latin typeface="Arial"/>
                  </a:defRPr>
                </a:pPr>
              </a:p>
            </c:txPr>
            <c:showLegendKey val="0"/>
            <c:showVal val="1"/>
            <c:showCatName val="0"/>
            <c:showSerName val="0"/>
            <c:showPercent val="0"/>
            <c:showBubbleSize val="0"/>
            <c:showLeaderLines val="0"/>
          </c:dLbls>
          <c:cat>
            <c:multiLvlStrRef>
              <c:f>Sheet1!$A$2:$A$4</c:f>
              <c:multiLvlStrCache>
                <c:ptCount val="3"/>
                <c:lvl>
                  <c:pt idx="0">
                    <c:v>Easy (6 pages)</c:v>
                  </c:pt>
                  <c:pt idx="1">
                    <c:v>Medium (4)</c:v>
                  </c:pt>
                  <c:pt idx="2">
                    <c:v>Hard (2)</c:v>
                  </c:pt>
                </c:lvl>
              </c:multiLvlStrCache>
            </c:multiLvlStrRef>
          </c:cat>
          <c:val>
            <c:numRef>
              <c:f>Sheet1!$C$2:$C$4</c:f>
              <c:numCache>
                <c:formatCode>General</c:formatCode>
                <c:ptCount val="3"/>
                <c:pt idx="0">
                  <c:v>100</c:v>
                </c:pt>
                <c:pt idx="1">
                  <c:v>100</c:v>
                </c:pt>
                <c:pt idx="2">
                  <c:v>89.3</c:v>
                </c:pt>
              </c:numCache>
            </c:numRef>
          </c:val>
        </c:ser>
        <c:ser>
          <c:idx val="2"/>
          <c:order val="2"/>
          <c:tx>
            <c:strRef>
              <c:f>Sheet1!$D$1</c:f>
              <c:strCache>
                <c:ptCount val="1"/>
                <c:pt idx="0">
                  <c:v>Expiry</c:v>
                </c:pt>
              </c:strCache>
            </c:strRef>
          </c:tx>
          <c:spPr>
            <a:solidFill>
              <a:srgbClr val="F0A23B"/>
            </a:solidFill>
            <a:effectLst/>
          </c:spPr>
          <c:invertIfNegative val="0"/>
          <c:dLbls>
            <c:numFmt formatCode="0.0" sourceLinked="0"/>
            <c:txPr>
              <a:bodyPr/>
              <a:lstStyle/>
              <a:p>
                <a:pPr>
                  <a:defRPr b="0" i="0" strike="noStrike" sz="900" u="none">
                    <a:solidFill>
                      <a:srgbClr val="16323A"/>
                    </a:solidFill>
                    <a:latin typeface="Arial"/>
                  </a:defRPr>
                </a:pPr>
              </a:p>
            </c:txPr>
            <c:showLegendKey val="0"/>
            <c:showVal val="1"/>
            <c:showCatName val="0"/>
            <c:showSerName val="0"/>
            <c:showPercent val="0"/>
            <c:showBubbleSize val="0"/>
            <c:showLeaderLines val="0"/>
          </c:dLbls>
          <c:cat>
            <c:multiLvlStrRef>
              <c:f>Sheet1!$A$2:$A$4</c:f>
              <c:multiLvlStrCache>
                <c:ptCount val="3"/>
                <c:lvl>
                  <c:pt idx="0">
                    <c:v>Easy (6 pages)</c:v>
                  </c:pt>
                  <c:pt idx="1">
                    <c:v>Medium (4)</c:v>
                  </c:pt>
                  <c:pt idx="2">
                    <c:v>Hard (2)</c:v>
                  </c:pt>
                </c:lvl>
              </c:multiLvlStrCache>
            </c:multiLvlStrRef>
          </c:cat>
          <c:val>
            <c:numRef>
              <c:f>Sheet1!$D$2:$D$4</c:f>
              <c:numCache>
                <c:formatCode>General</c:formatCode>
                <c:ptCount val="3"/>
                <c:pt idx="0">
                  <c:v>100</c:v>
                </c:pt>
                <c:pt idx="1">
                  <c:v>100</c:v>
                </c:pt>
                <c:pt idx="2">
                  <c:v>85.7</c:v>
                </c:pt>
              </c:numCache>
            </c:numRef>
          </c:val>
        </c:ser>
        <c:dLbls>
          <c:numFmt formatCode="0.0" sourceLinked="0"/>
          <c:txPr>
            <a:bodyPr/>
            <a:lstStyle/>
            <a:p>
              <a:pPr>
                <a:defRPr b="0" i="0" strike="noStrike" sz="900" u="none">
                  <a:solidFill>
                    <a:srgbClr val="1632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7780"/>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DCEB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7780"/>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1000">
              <a:solidFill>
                <a:srgbClr val="5B778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presenting Register Lens for Track 3, Smart Health and Supply Chain Resilience. In one line: we read the paper register a PHC already keeps, and use it to keep DVDMS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register is accurate because pharmacists must keep it. DVDMS is the system districts use to plan supply, but it lags because nobody has time to type twice. CAG audits describe exactly this: consumption not entered, stock not matching registers, dispensed drugs appearing as expired. Those are reported figures for expired drugs in Haryana and Karnataka.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people. The pharmacist who double-enters. The district officer who plans from an untrustworthy screen. And the patient who finds the shelf empty. Our wedge is the end-of-day moment when the register is on the desk and DVDMS is still not updated.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Snap, read, confirm, sync. The pharmacist takes one photo. Gemini reads it and says how sure it is about each cell. The pharmacist checks only the flagged cells. Then we produce a DVDMS-compatible bulk-entry file and a district alert in Hindi and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working prototype, not a mock-up. Left: the review screen, where flagged lines carry a plain-language reason. Middle: DVDMS versus the register with days of stock. Right: the bulk-entry download and the alert. Sample data is synthetic and labelled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Gemini does the three jobs a rules-based system cannot: reading messy bilingual handwriting, understanding drug-name variants, and writing the alert. Everything numeric is plain code, so an officer can audit it. We also fail over across Gemini models because free-tier quotas are per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are from 12 synthetic pages, 168 lines, checked cell by cell against an answer key. Quantities, which drive the stock-out numbers, were perfect. All seven misses were single-digit errors in batch or expiry on the two hardest pages, and the model was equally confident on them, so we added a cross-check against the batches DVDMS already lists. We are upfront that the demo DVDMS is a mock, so this demonstrates the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failure contract. A wrong reading costs the pharmacist a tap, not a wrong stock number in the system. Nothing goes to DVDMS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can be piloted in weeks because we do not ask anyone to change their process. The register stays; we read it. The bulk-entry route into DVDMS already exists according to the audit reports. Week one is measuring on real registers, which is the honest next step after synthetic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Scaling is configuration, not rebuilding: language, register template and medicine catalogue are separate files. Phase two adds state languages. Phase three turns the near-expiry batches we already detect into transfers, always with officer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judges: each criterion points to something openable. The accuracy evaluation and its caveats are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Register Lens: your register already knows, now DVDMS will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F39"/>
        </a:solidFill>
      </p:bgPr>
    </p:bg>
    <p:spTree>
      <p:nvGrpSpPr>
        <p:cNvPr id="1" name=""/>
        <p:cNvGrpSpPr/>
        <p:nvPr/>
      </p:nvGrpSpPr>
      <p:grpSpPr>
        <a:xfrm>
          <a:off x="0" y="0"/>
          <a:ext cx="0" cy="0"/>
          <a:chOff x="0" y="0"/>
          <a:chExt cx="0" cy="0"/>
        </a:xfrm>
      </p:grpSpPr>
      <p:sp>
        <p:nvSpPr>
          <p:cNvPr id="2" name="Text 0"/>
          <p:cNvSpPr txBox="1"/>
          <p:nvPr/>
        </p:nvSpPr>
        <p:spPr>
          <a:xfrm>
            <a:off x="548640" y="502920"/>
            <a:ext cx="5486400" cy="274320"/>
          </a:xfrm>
          <a:prstGeom prst="rect">
            <a:avLst/>
          </a:prstGeom>
          <a:noFill/>
          <a:ln/>
        </p:spPr>
        <p:txBody>
          <a:bodyPr wrap="square" lIns="0" tIns="0" rIns="0" bIns="0" rtlCol="0" anchor="ctr"/>
          <a:lstStyle/>
          <a:p>
            <a:pPr indent="0" marL="0">
              <a:buNone/>
            </a:pPr>
            <a:r>
              <a:rPr lang="en-US" sz="1100" b="1" spc="300" kern="0" dirty="0">
                <a:solidFill>
                  <a:srgbClr val="72D0BD"/>
                </a:solidFill>
                <a:latin typeface="Calibri" pitchFamily="34" charset="0"/>
                <a:ea typeface="Calibri" pitchFamily="34" charset="-122"/>
                <a:cs typeface="Calibri" pitchFamily="34" charset="-120"/>
              </a:rPr>
              <a:t>BUILD WITH AI  ·  CODE FOR COMMUNITIES 2.0  ·  TRACK 3</a:t>
            </a:r>
            <a:endParaRPr lang="en-US" sz="1100" dirty="0"/>
          </a:p>
        </p:txBody>
      </p:sp>
      <p:sp>
        <p:nvSpPr>
          <p:cNvPr id="3" name="Text 1"/>
          <p:cNvSpPr txBox="1"/>
          <p:nvPr/>
        </p:nvSpPr>
        <p:spPr>
          <a:xfrm>
            <a:off x="548640" y="1234440"/>
            <a:ext cx="548640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Register Lens</a:t>
            </a:r>
            <a:endParaRPr lang="en-US" sz="5400" dirty="0"/>
          </a:p>
        </p:txBody>
      </p:sp>
      <p:sp>
        <p:nvSpPr>
          <p:cNvPr id="4" name="Text 2"/>
          <p:cNvSpPr txBox="1"/>
          <p:nvPr/>
        </p:nvSpPr>
        <p:spPr>
          <a:xfrm>
            <a:off x="548640" y="2240280"/>
            <a:ext cx="5303520" cy="1005840"/>
          </a:xfrm>
          <a:prstGeom prst="rect">
            <a:avLst/>
          </a:prstGeom>
          <a:noFill/>
          <a:ln/>
        </p:spPr>
        <p:txBody>
          <a:bodyPr wrap="square" lIns="0" tIns="0" rIns="0" bIns="0" rtlCol="0" anchor="t"/>
          <a:lstStyle/>
          <a:p>
            <a:pPr indent="0" marL="0">
              <a:buNone/>
            </a:pPr>
            <a:r>
              <a:rPr lang="en-US" sz="2400" dirty="0">
                <a:solidFill>
                  <a:srgbClr val="D5F3EC"/>
                </a:solidFill>
                <a:latin typeface="Cambria" pitchFamily="34" charset="0"/>
                <a:ea typeface="Cambria" pitchFamily="34" charset="-122"/>
                <a:cs typeface="Cambria" pitchFamily="34" charset="-120"/>
              </a:rPr>
              <a:t>Your register already knows.</a:t>
            </a:r>
            <a:endParaRPr lang="en-US" sz="2400" dirty="0"/>
          </a:p>
          <a:p>
            <a:pPr indent="0" marL="0">
              <a:buNone/>
            </a:pPr>
            <a:r>
              <a:rPr lang="en-US" sz="2400" dirty="0">
                <a:solidFill>
                  <a:srgbClr val="D5F3EC"/>
                </a:solidFill>
                <a:latin typeface="Cambria" pitchFamily="34" charset="0"/>
                <a:ea typeface="Cambria" pitchFamily="34" charset="-122"/>
                <a:cs typeface="Cambria" pitchFamily="34" charset="-120"/>
              </a:rPr>
              <a:t>Now DVDMS will too.</a:t>
            </a:r>
            <a:endParaRPr lang="en-US" sz="2400" dirty="0"/>
          </a:p>
        </p:txBody>
      </p:sp>
      <p:sp>
        <p:nvSpPr>
          <p:cNvPr id="5" name="Text 3"/>
          <p:cNvSpPr txBox="1"/>
          <p:nvPr/>
        </p:nvSpPr>
        <p:spPr>
          <a:xfrm>
            <a:off x="548640" y="3977640"/>
            <a:ext cx="5486400" cy="320040"/>
          </a:xfrm>
          <a:prstGeom prst="rect">
            <a:avLst/>
          </a:prstGeom>
          <a:noFill/>
          <a:ln/>
        </p:spPr>
        <p:txBody>
          <a:bodyPr wrap="square" lIns="0" tIns="0" rIns="0" bIns="0" rtlCol="0" anchor="ctr"/>
          <a:lstStyle/>
          <a:p>
            <a:pPr indent="0" marL="0">
              <a:buNone/>
            </a:pPr>
            <a:r>
              <a:rPr lang="en-US" sz="1500" dirty="0">
                <a:solidFill>
                  <a:srgbClr val="A9E5D7"/>
                </a:solidFill>
                <a:latin typeface="Calibri" pitchFamily="34" charset="0"/>
                <a:ea typeface="Calibri" pitchFamily="34" charset="-122"/>
                <a:cs typeface="Calibri" pitchFamily="34" charset="-120"/>
              </a:rPr>
              <a:t>Smart Health &amp; Supply Chain Resilience</a:t>
            </a:r>
            <a:endParaRPr lang="en-US" sz="1500" dirty="0"/>
          </a:p>
        </p:txBody>
      </p:sp>
      <p:sp>
        <p:nvSpPr>
          <p:cNvPr id="6" name="Shape 4"/>
          <p:cNvSpPr/>
          <p:nvPr/>
        </p:nvSpPr>
        <p:spPr>
          <a:xfrm>
            <a:off x="5989320" y="868680"/>
            <a:ext cx="3017520" cy="3017520"/>
          </a:xfrm>
          <a:prstGeom prst="ellipse">
            <a:avLst/>
          </a:prstGeom>
          <a:solidFill>
            <a:srgbClr val="FFFFFF"/>
          </a:solidFill>
          <a:ln w="12700">
            <a:solidFill>
              <a:srgbClr val="FFFFFF"/>
            </a:solidFill>
            <a:prstDash val="solid"/>
          </a:ln>
        </p:spPr>
      </p:sp>
      <p:pic>
        <p:nvPicPr>
          <p:cNvPr id="7" name="Image 0" descr="D:\RegisterLens\docs\deck\art\medical-representative_k331.png">    </p:cNvPr>
          <p:cNvPicPr>
            <a:picLocks noChangeAspect="1"/>
          </p:cNvPicPr>
          <p:nvPr/>
        </p:nvPicPr>
        <p:blipFill>
          <a:blip r:embed="rId1"/>
          <a:srcRect l="0" r="0" t="0" b="0"/>
          <a:stretch/>
        </p:blipFill>
        <p:spPr>
          <a:xfrm>
            <a:off x="6263640" y="1097280"/>
            <a:ext cx="2468880" cy="24688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lstStyle/>
          <a:p>
            <a:pPr indent="0" marL="0">
              <a:buNone/>
            </a:pPr>
            <a:r>
              <a:rPr lang="en-US" sz="2600" b="1" dirty="0">
                <a:solidFill>
                  <a:srgbClr val="16323A"/>
                </a:solidFill>
                <a:latin typeface="Cambria" pitchFamily="34" charset="0"/>
                <a:ea typeface="Cambria" pitchFamily="34" charset="-122"/>
                <a:cs typeface="Cambria" pitchFamily="34" charset="-120"/>
              </a:rPr>
              <a:t>The notebook is right. The screen is out of date.</a:t>
            </a:r>
            <a:endParaRPr lang="en-US" sz="2600" dirty="0"/>
          </a:p>
        </p:txBody>
      </p:sp>
      <p:sp>
        <p:nvSpPr>
          <p:cNvPr id="3" name="Text 1"/>
          <p:cNvSpPr txBox="1"/>
          <p:nvPr/>
        </p:nvSpPr>
        <p:spPr>
          <a:xfrm>
            <a:off x="457200" y="1234440"/>
            <a:ext cx="4206240" cy="2651760"/>
          </a:xfrm>
          <a:prstGeom prst="rect">
            <a:avLst/>
          </a:prstGeom>
          <a:noFill/>
          <a:ln/>
        </p:spPr>
        <p:txBody>
          <a:bodyPr wrap="square" lIns="0" tIns="0" rIns="0" bIns="0" rtlCol="0" anchor="t"/>
          <a:lstStyle/>
          <a:p>
            <a:pPr indent="0" marL="0">
              <a:spcAft>
                <a:spcPts val="200"/>
              </a:spcAft>
              <a:buNone/>
            </a:pPr>
            <a:r>
              <a:rPr lang="en-US" sz="1500" b="1" dirty="0">
                <a:solidFill>
                  <a:srgbClr val="16323A"/>
                </a:solidFill>
                <a:latin typeface="Calibri" pitchFamily="34" charset="0"/>
                <a:ea typeface="Calibri" pitchFamily="34" charset="-122"/>
                <a:cs typeface="Calibri" pitchFamily="34" charset="-120"/>
              </a:rPr>
              <a:t>Busy OPD, no time to type twice.</a:t>
            </a:r>
            <a:endParaRPr lang="en-US" sz="1500" dirty="0"/>
          </a:p>
          <a:p>
            <a:pPr indent="0" marL="0">
              <a:spcAft>
                <a:spcPts val="200"/>
              </a:spcAft>
              <a:buNone/>
            </a:pPr>
            <a:r>
              <a:rPr lang="en-US" sz="1500" dirty="0">
                <a:solidFill>
                  <a:srgbClr val="5B7780"/>
                </a:solidFill>
                <a:latin typeface="Calibri" pitchFamily="34" charset="0"/>
                <a:ea typeface="Calibri" pitchFamily="34" charset="-122"/>
                <a:cs typeface="Calibri" pitchFamily="34" charset="-120"/>
              </a:rPr>
              <a:t>Auditors record that DVDMS is not updated regularly because of the rush of work and shortage of staff.</a:t>
            </a:r>
            <a:endParaRPr lang="en-US" sz="1500" dirty="0"/>
          </a:p>
          <a:p>
            <a:pPr indent="0" marL="0">
              <a:spcAft>
                <a:spcPts val="200"/>
              </a:spcAft>
              <a:buNone/>
            </a:pPr>
            <a:r>
              <a:rPr lang="en-US" sz="600" dirty="0">
                <a:solidFill>
                  <a:srgbClr val="000000"/>
                </a:solidFill>
                <a:latin typeface="Calibri" pitchFamily="34" charset="0"/>
                <a:ea typeface="Calibri" pitchFamily="34" charset="-122"/>
                <a:cs typeface="Calibri" pitchFamily="34" charset="-120"/>
              </a:rPr>
              <a:t> </a:t>
            </a:r>
            <a:endParaRPr lang="en-US" sz="1500" dirty="0"/>
          </a:p>
          <a:p>
            <a:pPr indent="0" marL="0">
              <a:spcAft>
                <a:spcPts val="200"/>
              </a:spcAft>
              <a:buNone/>
            </a:pPr>
            <a:r>
              <a:rPr lang="en-US" sz="1500" b="1" dirty="0">
                <a:solidFill>
                  <a:srgbClr val="16323A"/>
                </a:solidFill>
                <a:latin typeface="Calibri" pitchFamily="34" charset="0"/>
                <a:ea typeface="Calibri" pitchFamily="34" charset="-122"/>
                <a:cs typeface="Calibri" pitchFamily="34" charset="-120"/>
              </a:rPr>
              <a:t>So DVDMS drifts from reality.</a:t>
            </a:r>
            <a:endParaRPr lang="en-US" sz="1500" dirty="0"/>
          </a:p>
          <a:p>
            <a:pPr indent="0" marL="0">
              <a:spcAft>
                <a:spcPts val="200"/>
              </a:spcAft>
              <a:buNone/>
            </a:pPr>
            <a:r>
              <a:rPr lang="en-US" sz="1500" dirty="0">
                <a:solidFill>
                  <a:srgbClr val="5B7780"/>
                </a:solidFill>
                <a:latin typeface="Calibri" pitchFamily="34" charset="0"/>
                <a:ea typeface="Calibri" pitchFamily="34" charset="-122"/>
                <a:cs typeface="Calibri" pitchFamily="34" charset="-120"/>
              </a:rPr>
              <a:t>Stock differs from the registers, and dispensed medicines can even show as expired.</a:t>
            </a:r>
            <a:endParaRPr lang="en-US" sz="1500" dirty="0"/>
          </a:p>
          <a:p>
            <a:pPr indent="0" marL="0">
              <a:spcAft>
                <a:spcPts val="200"/>
              </a:spcAft>
              <a:buNone/>
            </a:pPr>
            <a:r>
              <a:rPr lang="en-US" sz="600" dirty="0">
                <a:solidFill>
                  <a:srgbClr val="000000"/>
                </a:solidFill>
                <a:latin typeface="Calibri" pitchFamily="34" charset="0"/>
                <a:ea typeface="Calibri" pitchFamily="34" charset="-122"/>
                <a:cs typeface="Calibri" pitchFamily="34" charset="-120"/>
              </a:rPr>
              <a:t> </a:t>
            </a:r>
            <a:endParaRPr lang="en-US" sz="1500" dirty="0"/>
          </a:p>
          <a:p>
            <a:pPr indent="0" marL="0">
              <a:spcAft>
                <a:spcPts val="200"/>
              </a:spcAft>
              <a:buNone/>
            </a:pPr>
            <a:r>
              <a:rPr lang="en-US" sz="1500" b="1" dirty="0">
                <a:solidFill>
                  <a:srgbClr val="16323A"/>
                </a:solidFill>
                <a:latin typeface="Calibri" pitchFamily="34" charset="0"/>
                <a:ea typeface="Calibri" pitchFamily="34" charset="-122"/>
                <a:cs typeface="Calibri" pitchFamily="34" charset="-120"/>
              </a:rPr>
              <a:t>Everything built on DVDMS inherits it.</a:t>
            </a:r>
            <a:endParaRPr lang="en-US" sz="1500" dirty="0"/>
          </a:p>
          <a:p>
            <a:pPr indent="0" marL="0">
              <a:spcAft>
                <a:spcPts val="200"/>
              </a:spcAft>
              <a:buNone/>
            </a:pPr>
            <a:r>
              <a:rPr lang="en-US" sz="1500" dirty="0">
                <a:solidFill>
                  <a:srgbClr val="5B7780"/>
                </a:solidFill>
                <a:latin typeface="Calibri" pitchFamily="34" charset="0"/>
                <a:ea typeface="Calibri" pitchFamily="34" charset="-122"/>
                <a:cs typeface="Calibri" pitchFamily="34" charset="-120"/>
              </a:rPr>
              <a:t>Dashboards and forecasts are only as good as the data underneath.</a:t>
            </a:r>
            <a:endParaRPr lang="en-US" sz="1500" dirty="0"/>
          </a:p>
        </p:txBody>
      </p:sp>
      <p:sp>
        <p:nvSpPr>
          <p:cNvPr id="4" name="Shape 2"/>
          <p:cNvSpPr/>
          <p:nvPr/>
        </p:nvSpPr>
        <p:spPr>
          <a:xfrm>
            <a:off x="5029200" y="1234440"/>
            <a:ext cx="3657600" cy="960120"/>
          </a:xfrm>
          <a:prstGeom prst="roundRect">
            <a:avLst>
              <a:gd name="adj" fmla="val 11429"/>
            </a:avLst>
          </a:prstGeom>
          <a:solidFill>
            <a:srgbClr val="EEFAF7"/>
          </a:solidFill>
          <a:ln w="9525">
            <a:solidFill>
              <a:srgbClr val="DCEBE7"/>
            </a:solidFill>
            <a:prstDash val="solid"/>
          </a:ln>
          <a:effectLst>
            <a:outerShdw sx="100000" sy="100000" kx="0" ky="0" algn="bl" rotWithShape="0" blurRad="127000" dist="38100" dir="5400000">
              <a:srgbClr val="14665C">
                <a:alpha val="18000"/>
              </a:srgbClr>
            </a:outerShdw>
          </a:effectLst>
        </p:spPr>
      </p:sp>
      <p:sp>
        <p:nvSpPr>
          <p:cNvPr id="5" name="Text 3"/>
          <p:cNvSpPr txBox="1"/>
          <p:nvPr/>
        </p:nvSpPr>
        <p:spPr>
          <a:xfrm>
            <a:off x="5212080" y="1280160"/>
            <a:ext cx="3383280" cy="868680"/>
          </a:xfrm>
          <a:prstGeom prst="rect">
            <a:avLst/>
          </a:prstGeom>
          <a:noFill/>
          <a:ln/>
        </p:spPr>
        <p:txBody>
          <a:bodyPr wrap="square" lIns="0" tIns="0" rIns="0" bIns="0" rtlCol="0" anchor="ctr"/>
          <a:lstStyle/>
          <a:p>
            <a:pPr indent="0" marL="0">
              <a:buNone/>
            </a:pPr>
            <a:r>
              <a:rPr lang="en-US" sz="2600" b="1" dirty="0">
                <a:solidFill>
                  <a:srgbClr val="167F71"/>
                </a:solidFill>
                <a:latin typeface="Cambria" pitchFamily="34" charset="0"/>
                <a:ea typeface="Cambria" pitchFamily="34" charset="-122"/>
                <a:cs typeface="Cambria" pitchFamily="34" charset="-120"/>
              </a:rPr>
              <a:t>₹14.52 crore</a:t>
            </a:r>
            <a:endParaRPr lang="en-US" sz="2600" dirty="0"/>
          </a:p>
          <a:p>
            <a:pPr indent="0" marL="0">
              <a:buNone/>
            </a:pPr>
            <a:r>
              <a:rPr lang="en-US" sz="1200" dirty="0">
                <a:solidFill>
                  <a:srgbClr val="5B7780"/>
                </a:solidFill>
                <a:latin typeface="Calibri" pitchFamily="34" charset="0"/>
                <a:ea typeface="Calibri" pitchFamily="34" charset="-122"/>
                <a:cs typeface="Calibri" pitchFamily="34" charset="-120"/>
              </a:rPr>
              <a:t>expired drugs reported lying in Haryana</a:t>
            </a:r>
            <a:endParaRPr lang="en-US" sz="2600" dirty="0"/>
          </a:p>
        </p:txBody>
      </p:sp>
      <p:sp>
        <p:nvSpPr>
          <p:cNvPr id="6" name="Shape 4"/>
          <p:cNvSpPr/>
          <p:nvPr/>
        </p:nvSpPr>
        <p:spPr>
          <a:xfrm>
            <a:off x="5029200" y="2331720"/>
            <a:ext cx="3657600" cy="960120"/>
          </a:xfrm>
          <a:prstGeom prst="roundRect">
            <a:avLst>
              <a:gd name="adj" fmla="val 11429"/>
            </a:avLst>
          </a:prstGeom>
          <a:solidFill>
            <a:srgbClr val="EEFAF7"/>
          </a:solidFill>
          <a:ln w="9525">
            <a:solidFill>
              <a:srgbClr val="DCEBE7"/>
            </a:solidFill>
            <a:prstDash val="solid"/>
          </a:ln>
          <a:effectLst>
            <a:outerShdw sx="100000" sy="100000" kx="0" ky="0" algn="bl" rotWithShape="0" blurRad="127000" dist="38100" dir="5400000">
              <a:srgbClr val="14665C">
                <a:alpha val="18000"/>
              </a:srgbClr>
            </a:outerShdw>
          </a:effectLst>
        </p:spPr>
      </p:sp>
      <p:sp>
        <p:nvSpPr>
          <p:cNvPr id="7" name="Text 5"/>
          <p:cNvSpPr txBox="1"/>
          <p:nvPr/>
        </p:nvSpPr>
        <p:spPr>
          <a:xfrm>
            <a:off x="5212080" y="2377440"/>
            <a:ext cx="3383280" cy="868680"/>
          </a:xfrm>
          <a:prstGeom prst="rect">
            <a:avLst/>
          </a:prstGeom>
          <a:noFill/>
          <a:ln/>
        </p:spPr>
        <p:txBody>
          <a:bodyPr wrap="square" lIns="0" tIns="0" rIns="0" bIns="0" rtlCol="0" anchor="ctr"/>
          <a:lstStyle/>
          <a:p>
            <a:pPr indent="0" marL="0">
              <a:buNone/>
            </a:pPr>
            <a:r>
              <a:rPr lang="en-US" sz="2600" b="1" dirty="0">
                <a:solidFill>
                  <a:srgbClr val="167F71"/>
                </a:solidFill>
                <a:latin typeface="Cambria" pitchFamily="34" charset="0"/>
                <a:ea typeface="Cambria" pitchFamily="34" charset="-122"/>
                <a:cs typeface="Cambria" pitchFamily="34" charset="-120"/>
              </a:rPr>
              <a:t>₹23.03 crore</a:t>
            </a:r>
            <a:endParaRPr lang="en-US" sz="2600" dirty="0"/>
          </a:p>
          <a:p>
            <a:pPr indent="0" marL="0">
              <a:buNone/>
            </a:pPr>
            <a:r>
              <a:rPr lang="en-US" sz="1200" dirty="0">
                <a:solidFill>
                  <a:srgbClr val="5B7780"/>
                </a:solidFill>
                <a:latin typeface="Calibri" pitchFamily="34" charset="0"/>
                <a:ea typeface="Calibri" pitchFamily="34" charset="-122"/>
                <a:cs typeface="Calibri" pitchFamily="34" charset="-120"/>
              </a:rPr>
              <a:t>expired drugs reported in Karnataka, 2019–22</a:t>
            </a:r>
            <a:endParaRPr lang="en-US" sz="2600" dirty="0"/>
          </a:p>
        </p:txBody>
      </p:sp>
      <p:pic>
        <p:nvPicPr>
          <p:cNvPr id="8" name="Image 0" descr="D:\RegisterLens\docs\deck\art\taking-notes_oyqz.png">    </p:cNvPr>
          <p:cNvPicPr>
            <a:picLocks noChangeAspect="1"/>
          </p:cNvPicPr>
          <p:nvPr/>
        </p:nvPicPr>
        <p:blipFill>
          <a:blip r:embed="rId1"/>
          <a:srcRect l="0" r="0" t="0" b="0"/>
          <a:stretch/>
        </p:blipFill>
        <p:spPr>
          <a:xfrm>
            <a:off x="5943600" y="3337560"/>
            <a:ext cx="2011680" cy="1463040"/>
          </a:xfrm>
          <a:prstGeom prst="rect">
            <a:avLst/>
          </a:prstGeom>
        </p:spPr>
      </p:pic>
      <p:sp>
        <p:nvSpPr>
          <p:cNvPr id="9" name="Text 6"/>
          <p:cNvSpPr txBox="1"/>
          <p:nvPr/>
        </p:nvSpPr>
        <p:spPr>
          <a:xfrm>
            <a:off x="457200" y="4617720"/>
            <a:ext cx="4937760" cy="274320"/>
          </a:xfrm>
          <a:prstGeom prst="rect">
            <a:avLst/>
          </a:prstGeom>
          <a:noFill/>
          <a:ln/>
        </p:spPr>
        <p:txBody>
          <a:bodyPr wrap="square" lIns="0" tIns="0" rIns="0" bIns="0" rtlCol="0" anchor="ctr"/>
          <a:lstStyle/>
          <a:p>
            <a:pPr indent="0" marL="0">
              <a:buNone/>
            </a:pPr>
            <a:r>
              <a:rPr lang="en-US" sz="900" dirty="0">
                <a:solidFill>
                  <a:srgbClr val="5B7780"/>
                </a:solidFill>
                <a:latin typeface="Calibri" pitchFamily="34" charset="0"/>
                <a:ea typeface="Calibri" pitchFamily="34" charset="-122"/>
                <a:cs typeface="Calibri" pitchFamily="34" charset="-120"/>
              </a:rPr>
              <a:t>Sources: CAG audit findings reported by The Tribune and Deccan Herald; CAG e-Aushadhi IT audit.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AF7"/>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lstStyle/>
          <a:p>
            <a:pPr indent="0" marL="0">
              <a:buNone/>
            </a:pPr>
            <a:r>
              <a:rPr lang="en-US" sz="3000" b="1" dirty="0">
                <a:solidFill>
                  <a:srgbClr val="16323A"/>
                </a:solidFill>
                <a:latin typeface="Cambria" pitchFamily="34" charset="0"/>
                <a:ea typeface="Cambria" pitchFamily="34" charset="-122"/>
                <a:cs typeface="Cambria" pitchFamily="34" charset="-120"/>
              </a:rPr>
              <a:t>Three people pay for the gap</a:t>
            </a:r>
            <a:endParaRPr lang="en-US" sz="3000" dirty="0"/>
          </a:p>
        </p:txBody>
      </p:sp>
      <p:sp>
        <p:nvSpPr>
          <p:cNvPr id="3" name="Shape 1"/>
          <p:cNvSpPr/>
          <p:nvPr/>
        </p:nvSpPr>
        <p:spPr>
          <a:xfrm>
            <a:off x="457200" y="1371600"/>
            <a:ext cx="2606040" cy="2651760"/>
          </a:xfrm>
          <a:prstGeom prst="roundRect">
            <a:avLst>
              <a:gd name="adj" fmla="val 4211"/>
            </a:avLst>
          </a:prstGeom>
          <a:solidFill>
            <a:srgbClr val="FFFFFF"/>
          </a:solidFill>
          <a:ln w="9525">
            <a:solidFill>
              <a:srgbClr val="DCEBE7"/>
            </a:solidFill>
            <a:prstDash val="solid"/>
          </a:ln>
          <a:effectLst>
            <a:outerShdw sx="100000" sy="100000" kx="0" ky="0" algn="bl" rotWithShape="0" blurRad="127000" dist="38100" dir="5400000">
              <a:srgbClr val="14665C">
                <a:alpha val="18000"/>
              </a:srgbClr>
            </a:outerShdw>
          </a:effectLst>
        </p:spPr>
      </p:sp>
      <p:sp>
        <p:nvSpPr>
          <p:cNvPr id="4" name="Shape 2"/>
          <p:cNvSpPr/>
          <p:nvPr/>
        </p:nvSpPr>
        <p:spPr>
          <a:xfrm>
            <a:off x="685800" y="1600200"/>
            <a:ext cx="548640" cy="548640"/>
          </a:xfrm>
          <a:prstGeom prst="ellipse">
            <a:avLst/>
          </a:prstGeom>
          <a:solidFill>
            <a:srgbClr val="167F71"/>
          </a:solidFill>
          <a:ln w="12700">
            <a:solidFill>
              <a:srgbClr val="167F71"/>
            </a:solidFill>
            <a:prstDash val="solid"/>
          </a:ln>
        </p:spPr>
      </p:sp>
      <p:sp>
        <p:nvSpPr>
          <p:cNvPr id="5" name="Text 3"/>
          <p:cNvSpPr txBox="1"/>
          <p:nvPr/>
        </p:nvSpPr>
        <p:spPr>
          <a:xfrm>
            <a:off x="685800"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685800" y="2286000"/>
            <a:ext cx="2194560" cy="548640"/>
          </a:xfrm>
          <a:prstGeom prst="rect">
            <a:avLst/>
          </a:prstGeom>
          <a:noFill/>
          <a:ln/>
        </p:spPr>
        <p:txBody>
          <a:bodyPr wrap="square" lIns="0" tIns="0" rIns="0" bIns="0" rtlCol="0" anchor="t"/>
          <a:lstStyle/>
          <a:p>
            <a:pPr indent="0" marL="0">
              <a:buNone/>
            </a:pPr>
            <a:r>
              <a:rPr lang="en-US" sz="1700" b="1" dirty="0">
                <a:solidFill>
                  <a:srgbClr val="16323A"/>
                </a:solidFill>
                <a:latin typeface="Cambria" pitchFamily="34" charset="0"/>
                <a:ea typeface="Cambria" pitchFamily="34" charset="-122"/>
                <a:cs typeface="Cambria" pitchFamily="34" charset="-120"/>
              </a:rPr>
              <a:t>PHC pharmacist</a:t>
            </a:r>
            <a:endParaRPr lang="en-US" sz="1700" dirty="0"/>
          </a:p>
        </p:txBody>
      </p:sp>
      <p:sp>
        <p:nvSpPr>
          <p:cNvPr id="7" name="Text 5"/>
          <p:cNvSpPr txBox="1"/>
          <p:nvPr/>
        </p:nvSpPr>
        <p:spPr>
          <a:xfrm>
            <a:off x="685800" y="2880360"/>
            <a:ext cx="2194560" cy="1051560"/>
          </a:xfrm>
          <a:prstGeom prst="rect">
            <a:avLst/>
          </a:prstGeom>
          <a:noFill/>
          <a:ln/>
        </p:spPr>
        <p:txBody>
          <a:bodyPr wrap="square" lIns="0" tIns="0" rIns="0" bIns="0" rtlCol="0" anchor="t"/>
          <a:lstStyle/>
          <a:p>
            <a:pPr indent="0" marL="0">
              <a:buNone/>
            </a:pPr>
            <a:r>
              <a:rPr lang="en-US" sz="1300" dirty="0">
                <a:solidFill>
                  <a:srgbClr val="5B7780"/>
                </a:solidFill>
                <a:latin typeface="Calibri" pitchFamily="34" charset="0"/>
                <a:ea typeface="Calibri" pitchFamily="34" charset="-122"/>
                <a:cs typeface="Calibri" pitchFamily="34" charset="-120"/>
              </a:rPr>
              <a:t>Copies the day's register into DVDMS every evening, or does not, and the numbers drift.</a:t>
            </a:r>
            <a:endParaRPr lang="en-US" sz="1300" dirty="0"/>
          </a:p>
        </p:txBody>
      </p:sp>
      <p:sp>
        <p:nvSpPr>
          <p:cNvPr id="8" name="Shape 6"/>
          <p:cNvSpPr/>
          <p:nvPr/>
        </p:nvSpPr>
        <p:spPr>
          <a:xfrm>
            <a:off x="3246120" y="1371600"/>
            <a:ext cx="2606040" cy="2651760"/>
          </a:xfrm>
          <a:prstGeom prst="roundRect">
            <a:avLst>
              <a:gd name="adj" fmla="val 4211"/>
            </a:avLst>
          </a:prstGeom>
          <a:solidFill>
            <a:srgbClr val="FFFFFF"/>
          </a:solidFill>
          <a:ln w="9525">
            <a:solidFill>
              <a:srgbClr val="DCEBE7"/>
            </a:solidFill>
            <a:prstDash val="solid"/>
          </a:ln>
          <a:effectLst>
            <a:outerShdw sx="100000" sy="100000" kx="0" ky="0" algn="bl" rotWithShape="0" blurRad="127000" dist="38100" dir="5400000">
              <a:srgbClr val="14665C">
                <a:alpha val="18000"/>
              </a:srgbClr>
            </a:outerShdw>
          </a:effectLst>
        </p:spPr>
      </p:sp>
      <p:sp>
        <p:nvSpPr>
          <p:cNvPr id="9" name="Shape 7"/>
          <p:cNvSpPr/>
          <p:nvPr/>
        </p:nvSpPr>
        <p:spPr>
          <a:xfrm>
            <a:off x="3474720" y="1600200"/>
            <a:ext cx="548640" cy="548640"/>
          </a:xfrm>
          <a:prstGeom prst="ellipse">
            <a:avLst/>
          </a:prstGeom>
          <a:solidFill>
            <a:srgbClr val="3B9CE2"/>
          </a:solidFill>
          <a:ln w="12700">
            <a:solidFill>
              <a:srgbClr val="3B9CE2"/>
            </a:solidFill>
            <a:prstDash val="solid"/>
          </a:ln>
        </p:spPr>
      </p:sp>
      <p:sp>
        <p:nvSpPr>
          <p:cNvPr id="10" name="Text 8"/>
          <p:cNvSpPr txBox="1"/>
          <p:nvPr/>
        </p:nvSpPr>
        <p:spPr>
          <a:xfrm>
            <a:off x="3474720"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txBox="1"/>
          <p:nvPr/>
        </p:nvSpPr>
        <p:spPr>
          <a:xfrm>
            <a:off x="3474720" y="2286000"/>
            <a:ext cx="2194560" cy="548640"/>
          </a:xfrm>
          <a:prstGeom prst="rect">
            <a:avLst/>
          </a:prstGeom>
          <a:noFill/>
          <a:ln/>
        </p:spPr>
        <p:txBody>
          <a:bodyPr wrap="square" lIns="0" tIns="0" rIns="0" bIns="0" rtlCol="0" anchor="t"/>
          <a:lstStyle/>
          <a:p>
            <a:pPr indent="0" marL="0">
              <a:buNone/>
            </a:pPr>
            <a:r>
              <a:rPr lang="en-US" sz="1700" b="1" dirty="0">
                <a:solidFill>
                  <a:srgbClr val="16323A"/>
                </a:solidFill>
                <a:latin typeface="Cambria" pitchFamily="34" charset="0"/>
                <a:ea typeface="Cambria" pitchFamily="34" charset="-122"/>
                <a:cs typeface="Cambria" pitchFamily="34" charset="-120"/>
              </a:rPr>
              <a:t>District drug store officer</a:t>
            </a:r>
            <a:endParaRPr lang="en-US" sz="1700" dirty="0"/>
          </a:p>
        </p:txBody>
      </p:sp>
      <p:sp>
        <p:nvSpPr>
          <p:cNvPr id="12" name="Text 10"/>
          <p:cNvSpPr txBox="1"/>
          <p:nvPr/>
        </p:nvSpPr>
        <p:spPr>
          <a:xfrm>
            <a:off x="3474720" y="2880360"/>
            <a:ext cx="2194560" cy="1051560"/>
          </a:xfrm>
          <a:prstGeom prst="rect">
            <a:avLst/>
          </a:prstGeom>
          <a:noFill/>
          <a:ln/>
        </p:spPr>
        <p:txBody>
          <a:bodyPr wrap="square" lIns="0" tIns="0" rIns="0" bIns="0" rtlCol="0" anchor="t"/>
          <a:lstStyle/>
          <a:p>
            <a:pPr indent="0" marL="0">
              <a:buNone/>
            </a:pPr>
            <a:r>
              <a:rPr lang="en-US" sz="1300" dirty="0">
                <a:solidFill>
                  <a:srgbClr val="5B7780"/>
                </a:solidFill>
                <a:latin typeface="Calibri" pitchFamily="34" charset="0"/>
                <a:ea typeface="Calibri" pitchFamily="34" charset="-122"/>
                <a:cs typeface="Calibri" pitchFamily="34" charset="-120"/>
              </a:rPr>
              <a:t>Plans indents from a screen that says 40 days of stock when the shelf says 6.</a:t>
            </a:r>
            <a:endParaRPr lang="en-US" sz="1300" dirty="0"/>
          </a:p>
        </p:txBody>
      </p:sp>
      <p:sp>
        <p:nvSpPr>
          <p:cNvPr id="13" name="Shape 11"/>
          <p:cNvSpPr/>
          <p:nvPr/>
        </p:nvSpPr>
        <p:spPr>
          <a:xfrm>
            <a:off x="6035040" y="1371600"/>
            <a:ext cx="2606040" cy="2651760"/>
          </a:xfrm>
          <a:prstGeom prst="roundRect">
            <a:avLst>
              <a:gd name="adj" fmla="val 4211"/>
            </a:avLst>
          </a:prstGeom>
          <a:solidFill>
            <a:srgbClr val="FFFFFF"/>
          </a:solidFill>
          <a:ln w="9525">
            <a:solidFill>
              <a:srgbClr val="DCEBE7"/>
            </a:solidFill>
            <a:prstDash val="solid"/>
          </a:ln>
          <a:effectLst>
            <a:outerShdw sx="100000" sy="100000" kx="0" ky="0" algn="bl" rotWithShape="0" blurRad="127000" dist="38100" dir="5400000">
              <a:srgbClr val="14665C">
                <a:alpha val="18000"/>
              </a:srgbClr>
            </a:outerShdw>
          </a:effectLst>
        </p:spPr>
      </p:sp>
      <p:sp>
        <p:nvSpPr>
          <p:cNvPr id="14" name="Shape 12"/>
          <p:cNvSpPr/>
          <p:nvPr/>
        </p:nvSpPr>
        <p:spPr>
          <a:xfrm>
            <a:off x="6263640" y="1600200"/>
            <a:ext cx="548640" cy="548640"/>
          </a:xfrm>
          <a:prstGeom prst="ellipse">
            <a:avLst/>
          </a:prstGeom>
          <a:solidFill>
            <a:srgbClr val="F0A23B"/>
          </a:solidFill>
          <a:ln w="12700">
            <a:solidFill>
              <a:srgbClr val="F0A23B"/>
            </a:solidFill>
            <a:prstDash val="solid"/>
          </a:ln>
        </p:spPr>
      </p:sp>
      <p:sp>
        <p:nvSpPr>
          <p:cNvPr id="15" name="Text 13"/>
          <p:cNvSpPr txBox="1"/>
          <p:nvPr/>
        </p:nvSpPr>
        <p:spPr>
          <a:xfrm>
            <a:off x="6263640" y="1600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6" name="Text 14"/>
          <p:cNvSpPr txBox="1"/>
          <p:nvPr/>
        </p:nvSpPr>
        <p:spPr>
          <a:xfrm>
            <a:off x="6263640" y="2286000"/>
            <a:ext cx="2194560" cy="548640"/>
          </a:xfrm>
          <a:prstGeom prst="rect">
            <a:avLst/>
          </a:prstGeom>
          <a:noFill/>
          <a:ln/>
        </p:spPr>
        <p:txBody>
          <a:bodyPr wrap="square" lIns="0" tIns="0" rIns="0" bIns="0" rtlCol="0" anchor="t"/>
          <a:lstStyle/>
          <a:p>
            <a:pPr indent="0" marL="0">
              <a:buNone/>
            </a:pPr>
            <a:r>
              <a:rPr lang="en-US" sz="1700" b="1" dirty="0">
                <a:solidFill>
                  <a:srgbClr val="16323A"/>
                </a:solidFill>
                <a:latin typeface="Cambria" pitchFamily="34" charset="0"/>
                <a:ea typeface="Cambria" pitchFamily="34" charset="-122"/>
                <a:cs typeface="Cambria" pitchFamily="34" charset="-120"/>
              </a:rPr>
              <a:t>The patient</a:t>
            </a:r>
            <a:endParaRPr lang="en-US" sz="1700" dirty="0"/>
          </a:p>
        </p:txBody>
      </p:sp>
      <p:sp>
        <p:nvSpPr>
          <p:cNvPr id="17" name="Text 15"/>
          <p:cNvSpPr txBox="1"/>
          <p:nvPr/>
        </p:nvSpPr>
        <p:spPr>
          <a:xfrm>
            <a:off x="6263640" y="2880360"/>
            <a:ext cx="2194560" cy="1051560"/>
          </a:xfrm>
          <a:prstGeom prst="rect">
            <a:avLst/>
          </a:prstGeom>
          <a:noFill/>
          <a:ln/>
        </p:spPr>
        <p:txBody>
          <a:bodyPr wrap="square" lIns="0" tIns="0" rIns="0" bIns="0" rtlCol="0" anchor="t"/>
          <a:lstStyle/>
          <a:p>
            <a:pPr indent="0" marL="0">
              <a:buNone/>
            </a:pPr>
            <a:r>
              <a:rPr lang="en-US" sz="1300" dirty="0">
                <a:solidFill>
                  <a:srgbClr val="5B7780"/>
                </a:solidFill>
                <a:latin typeface="Calibri" pitchFamily="34" charset="0"/>
                <a:ea typeface="Calibri" pitchFamily="34" charset="-122"/>
                <a:cs typeface="Calibri" pitchFamily="34" charset="-120"/>
              </a:rPr>
              <a:t>Walks in for ORS or a BP tablet and hears it is out of stock.</a:t>
            </a:r>
            <a:endParaRPr lang="en-US" sz="1300" dirty="0"/>
          </a:p>
        </p:txBody>
      </p:sp>
      <p:sp>
        <p:nvSpPr>
          <p:cNvPr id="18" name="Text 16"/>
          <p:cNvSpPr txBox="1"/>
          <p:nvPr/>
        </p:nvSpPr>
        <p:spPr>
          <a:xfrm>
            <a:off x="457200" y="4297680"/>
            <a:ext cx="8229600" cy="365760"/>
          </a:xfrm>
          <a:prstGeom prst="rect">
            <a:avLst/>
          </a:prstGeom>
          <a:noFill/>
          <a:ln/>
        </p:spPr>
        <p:txBody>
          <a:bodyPr wrap="square" lIns="0" tIns="0" rIns="0" bIns="0" rtlCol="0" anchor="ctr"/>
          <a:lstStyle/>
          <a:p>
            <a:pPr indent="0" marL="0">
              <a:buNone/>
            </a:pPr>
            <a:r>
              <a:rPr lang="en-US" sz="1400" i="1" dirty="0">
                <a:solidFill>
                  <a:srgbClr val="167F71"/>
                </a:solidFill>
                <a:latin typeface="Calibri" pitchFamily="34" charset="0"/>
                <a:ea typeface="Calibri" pitchFamily="34" charset="-122"/>
                <a:cs typeface="Calibri" pitchFamily="34" charset="-120"/>
              </a:rPr>
              <a:t>The moment we fix: the end of a busy day, register on the desk, DVDMS still open.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lstStyle/>
          <a:p>
            <a:pPr indent="0" marL="0">
              <a:buNone/>
            </a:pPr>
            <a:r>
              <a:rPr lang="en-US" sz="3000" b="1" dirty="0">
                <a:solidFill>
                  <a:srgbClr val="16323A"/>
                </a:solidFill>
                <a:latin typeface="Cambria" pitchFamily="34" charset="0"/>
                <a:ea typeface="Cambria" pitchFamily="34" charset="-122"/>
                <a:cs typeface="Cambria" pitchFamily="34" charset="-120"/>
              </a:rPr>
              <a:t>One photo. Four steps. Zero extra typing.</a:t>
            </a:r>
            <a:endParaRPr lang="en-US" sz="3000" dirty="0"/>
          </a:p>
        </p:txBody>
      </p:sp>
      <p:sp>
        <p:nvSpPr>
          <p:cNvPr id="3" name="Shape 1"/>
          <p:cNvSpPr/>
          <p:nvPr/>
        </p:nvSpPr>
        <p:spPr>
          <a:xfrm>
            <a:off x="457200" y="1463040"/>
            <a:ext cx="1874520" cy="2286000"/>
          </a:xfrm>
          <a:prstGeom prst="roundRect">
            <a:avLst>
              <a:gd name="adj" fmla="val 5854"/>
            </a:avLst>
          </a:prstGeom>
          <a:solidFill>
            <a:srgbClr val="FFFFFF"/>
          </a:solidFill>
          <a:ln w="9525">
            <a:solidFill>
              <a:srgbClr val="DCEBE7"/>
            </a:solidFill>
            <a:prstDash val="solid"/>
          </a:ln>
          <a:effectLst>
            <a:outerShdw sx="100000" sy="100000" kx="0" ky="0" algn="bl" rotWithShape="0" blurRad="127000" dist="38100" dir="5400000">
              <a:srgbClr val="14665C">
                <a:alpha val="18000"/>
              </a:srgbClr>
            </a:outerShdw>
          </a:effectLst>
        </p:spPr>
      </p:sp>
      <p:sp>
        <p:nvSpPr>
          <p:cNvPr id="4" name="Shape 2"/>
          <p:cNvSpPr/>
          <p:nvPr/>
        </p:nvSpPr>
        <p:spPr>
          <a:xfrm>
            <a:off x="1115568" y="1691640"/>
            <a:ext cx="566928" cy="566928"/>
          </a:xfrm>
          <a:prstGeom prst="ellipse">
            <a:avLst/>
          </a:prstGeom>
          <a:solidFill>
            <a:srgbClr val="3B9CE2"/>
          </a:solidFill>
          <a:ln w="12700">
            <a:solidFill>
              <a:srgbClr val="3B9CE2"/>
            </a:solidFill>
            <a:prstDash val="solid"/>
          </a:ln>
        </p:spPr>
      </p:sp>
      <p:sp>
        <p:nvSpPr>
          <p:cNvPr id="5" name="Text 3"/>
          <p:cNvSpPr txBox="1"/>
          <p:nvPr/>
        </p:nvSpPr>
        <p:spPr>
          <a:xfrm>
            <a:off x="1115568" y="169164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594360" y="2377440"/>
            <a:ext cx="1600200" cy="365760"/>
          </a:xfrm>
          <a:prstGeom prst="rect">
            <a:avLst/>
          </a:prstGeom>
          <a:noFill/>
          <a:ln/>
        </p:spPr>
        <p:txBody>
          <a:bodyPr wrap="square" lIns="0" tIns="0" rIns="0" bIns="0" rtlCol="0" anchor="ctr"/>
          <a:lstStyle/>
          <a:p>
            <a:pPr algn="ctr" indent="0" marL="0">
              <a:buNone/>
            </a:pPr>
            <a:r>
              <a:rPr lang="en-US" sz="1900" b="1" dirty="0">
                <a:solidFill>
                  <a:srgbClr val="16323A"/>
                </a:solidFill>
                <a:latin typeface="Cambria" pitchFamily="34" charset="0"/>
                <a:ea typeface="Cambria" pitchFamily="34" charset="-122"/>
                <a:cs typeface="Cambria" pitchFamily="34" charset="-120"/>
              </a:rPr>
              <a:t>Snap</a:t>
            </a:r>
            <a:endParaRPr lang="en-US" sz="1900" dirty="0"/>
          </a:p>
        </p:txBody>
      </p:sp>
      <p:sp>
        <p:nvSpPr>
          <p:cNvPr id="7" name="Text 5"/>
          <p:cNvSpPr txBox="1"/>
          <p:nvPr/>
        </p:nvSpPr>
        <p:spPr>
          <a:xfrm>
            <a:off x="640080" y="2788920"/>
            <a:ext cx="1508760" cy="868680"/>
          </a:xfrm>
          <a:prstGeom prst="rect">
            <a:avLst/>
          </a:prstGeom>
          <a:noFill/>
          <a:ln/>
        </p:spPr>
        <p:txBody>
          <a:bodyPr wrap="square" lIns="0" tIns="0" rIns="0" bIns="0" rtlCol="0" anchor="t"/>
          <a:lstStyle/>
          <a:p>
            <a:pPr algn="ctr" indent="0" marL="0">
              <a:buNone/>
            </a:pPr>
            <a:r>
              <a:rPr lang="en-US" sz="1200" dirty="0">
                <a:solidFill>
                  <a:srgbClr val="5B7780"/>
                </a:solidFill>
                <a:latin typeface="Calibri" pitchFamily="34" charset="0"/>
                <a:ea typeface="Calibri" pitchFamily="34" charset="-122"/>
                <a:cs typeface="Calibri" pitchFamily="34" charset="-120"/>
              </a:rPr>
              <a:t>Photograph the day's register page.</a:t>
            </a:r>
            <a:endParaRPr lang="en-US" sz="1200" dirty="0"/>
          </a:p>
        </p:txBody>
      </p:sp>
      <p:sp>
        <p:nvSpPr>
          <p:cNvPr id="8" name="Text 6"/>
          <p:cNvSpPr txBox="1"/>
          <p:nvPr/>
        </p:nvSpPr>
        <p:spPr>
          <a:xfrm>
            <a:off x="2331720" y="2103120"/>
            <a:ext cx="246888" cy="457200"/>
          </a:xfrm>
          <a:prstGeom prst="rect">
            <a:avLst/>
          </a:prstGeom>
          <a:noFill/>
          <a:ln/>
        </p:spPr>
        <p:txBody>
          <a:bodyPr wrap="square" lIns="0" tIns="0" rIns="0" bIns="0" rtlCol="0" anchor="ctr"/>
          <a:lstStyle/>
          <a:p>
            <a:pPr algn="ctr" indent="0" marL="0">
              <a:buNone/>
            </a:pPr>
            <a:r>
              <a:rPr lang="en-US" sz="2600" b="1" dirty="0">
                <a:solidFill>
                  <a:srgbClr val="72D0BD"/>
                </a:solidFill>
                <a:latin typeface="Calibri" pitchFamily="34" charset="0"/>
                <a:ea typeface="Calibri" pitchFamily="34" charset="-122"/>
                <a:cs typeface="Calibri" pitchFamily="34" charset="-120"/>
              </a:rPr>
              <a:t>›</a:t>
            </a:r>
            <a:endParaRPr lang="en-US" sz="2600" dirty="0"/>
          </a:p>
        </p:txBody>
      </p:sp>
      <p:sp>
        <p:nvSpPr>
          <p:cNvPr id="9" name="Shape 7"/>
          <p:cNvSpPr/>
          <p:nvPr/>
        </p:nvSpPr>
        <p:spPr>
          <a:xfrm>
            <a:off x="2578608" y="1463040"/>
            <a:ext cx="1874520" cy="2286000"/>
          </a:xfrm>
          <a:prstGeom prst="roundRect">
            <a:avLst>
              <a:gd name="adj" fmla="val 5854"/>
            </a:avLst>
          </a:prstGeom>
          <a:solidFill>
            <a:srgbClr val="FFFFFF"/>
          </a:solidFill>
          <a:ln w="9525">
            <a:solidFill>
              <a:srgbClr val="DCEBE7"/>
            </a:solidFill>
            <a:prstDash val="solid"/>
          </a:ln>
          <a:effectLst>
            <a:outerShdw sx="100000" sy="100000" kx="0" ky="0" algn="bl" rotWithShape="0" blurRad="127000" dist="38100" dir="5400000">
              <a:srgbClr val="14665C">
                <a:alpha val="18000"/>
              </a:srgbClr>
            </a:outerShdw>
          </a:effectLst>
        </p:spPr>
      </p:sp>
      <p:sp>
        <p:nvSpPr>
          <p:cNvPr id="10" name="Shape 8"/>
          <p:cNvSpPr/>
          <p:nvPr/>
        </p:nvSpPr>
        <p:spPr>
          <a:xfrm>
            <a:off x="3236976" y="1691640"/>
            <a:ext cx="566928" cy="566928"/>
          </a:xfrm>
          <a:prstGeom prst="ellipse">
            <a:avLst/>
          </a:prstGeom>
          <a:solidFill>
            <a:srgbClr val="167F71"/>
          </a:solidFill>
          <a:ln w="12700">
            <a:solidFill>
              <a:srgbClr val="167F71"/>
            </a:solidFill>
            <a:prstDash val="solid"/>
          </a:ln>
        </p:spPr>
      </p:sp>
      <p:sp>
        <p:nvSpPr>
          <p:cNvPr id="11" name="Text 9"/>
          <p:cNvSpPr txBox="1"/>
          <p:nvPr/>
        </p:nvSpPr>
        <p:spPr>
          <a:xfrm>
            <a:off x="3236976" y="169164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2715768" y="2377440"/>
            <a:ext cx="1600200" cy="365760"/>
          </a:xfrm>
          <a:prstGeom prst="rect">
            <a:avLst/>
          </a:prstGeom>
          <a:noFill/>
          <a:ln/>
        </p:spPr>
        <p:txBody>
          <a:bodyPr wrap="square" lIns="0" tIns="0" rIns="0" bIns="0" rtlCol="0" anchor="ctr"/>
          <a:lstStyle/>
          <a:p>
            <a:pPr algn="ctr" indent="0" marL="0">
              <a:buNone/>
            </a:pPr>
            <a:r>
              <a:rPr lang="en-US" sz="1900" b="1" dirty="0">
                <a:solidFill>
                  <a:srgbClr val="16323A"/>
                </a:solidFill>
                <a:latin typeface="Cambria" pitchFamily="34" charset="0"/>
                <a:ea typeface="Cambria" pitchFamily="34" charset="-122"/>
                <a:cs typeface="Cambria" pitchFamily="34" charset="-120"/>
              </a:rPr>
              <a:t>Read</a:t>
            </a:r>
            <a:endParaRPr lang="en-US" sz="1900" dirty="0"/>
          </a:p>
        </p:txBody>
      </p:sp>
      <p:sp>
        <p:nvSpPr>
          <p:cNvPr id="13" name="Text 11"/>
          <p:cNvSpPr txBox="1"/>
          <p:nvPr/>
        </p:nvSpPr>
        <p:spPr>
          <a:xfrm>
            <a:off x="2761488" y="2788920"/>
            <a:ext cx="1508760" cy="868680"/>
          </a:xfrm>
          <a:prstGeom prst="rect">
            <a:avLst/>
          </a:prstGeom>
          <a:noFill/>
          <a:ln/>
        </p:spPr>
        <p:txBody>
          <a:bodyPr wrap="square" lIns="0" tIns="0" rIns="0" bIns="0" rtlCol="0" anchor="t"/>
          <a:lstStyle/>
          <a:p>
            <a:pPr algn="ctr" indent="0" marL="0">
              <a:buNone/>
            </a:pPr>
            <a:r>
              <a:rPr lang="en-US" sz="1200" dirty="0">
                <a:solidFill>
                  <a:srgbClr val="5B7780"/>
                </a:solidFill>
                <a:latin typeface="Calibri" pitchFamily="34" charset="0"/>
                <a:ea typeface="Calibri" pitchFamily="34" charset="-122"/>
                <a:cs typeface="Calibri" pitchFamily="34" charset="-120"/>
              </a:rPr>
              <a:t>Gemini reads Hindi + English handwriting and scores each cell.</a:t>
            </a:r>
            <a:endParaRPr lang="en-US" sz="1200" dirty="0"/>
          </a:p>
        </p:txBody>
      </p:sp>
      <p:sp>
        <p:nvSpPr>
          <p:cNvPr id="14" name="Text 12"/>
          <p:cNvSpPr txBox="1"/>
          <p:nvPr/>
        </p:nvSpPr>
        <p:spPr>
          <a:xfrm>
            <a:off x="4453128" y="2103120"/>
            <a:ext cx="246888" cy="457200"/>
          </a:xfrm>
          <a:prstGeom prst="rect">
            <a:avLst/>
          </a:prstGeom>
          <a:noFill/>
          <a:ln/>
        </p:spPr>
        <p:txBody>
          <a:bodyPr wrap="square" lIns="0" tIns="0" rIns="0" bIns="0" rtlCol="0" anchor="ctr"/>
          <a:lstStyle/>
          <a:p>
            <a:pPr algn="ctr" indent="0" marL="0">
              <a:buNone/>
            </a:pPr>
            <a:r>
              <a:rPr lang="en-US" sz="2600" b="1" dirty="0">
                <a:solidFill>
                  <a:srgbClr val="72D0BD"/>
                </a:solidFill>
                <a:latin typeface="Calibri" pitchFamily="34" charset="0"/>
                <a:ea typeface="Calibri" pitchFamily="34" charset="-122"/>
                <a:cs typeface="Calibri" pitchFamily="34" charset="-120"/>
              </a:rPr>
              <a:t>›</a:t>
            </a:r>
            <a:endParaRPr lang="en-US" sz="2600" dirty="0"/>
          </a:p>
        </p:txBody>
      </p:sp>
      <p:sp>
        <p:nvSpPr>
          <p:cNvPr id="15" name="Shape 13"/>
          <p:cNvSpPr/>
          <p:nvPr/>
        </p:nvSpPr>
        <p:spPr>
          <a:xfrm>
            <a:off x="4700016" y="1463040"/>
            <a:ext cx="1874520" cy="2286000"/>
          </a:xfrm>
          <a:prstGeom prst="roundRect">
            <a:avLst>
              <a:gd name="adj" fmla="val 5854"/>
            </a:avLst>
          </a:prstGeom>
          <a:solidFill>
            <a:srgbClr val="FFFFFF"/>
          </a:solidFill>
          <a:ln w="9525">
            <a:solidFill>
              <a:srgbClr val="DCEBE7"/>
            </a:solidFill>
            <a:prstDash val="solid"/>
          </a:ln>
          <a:effectLst>
            <a:outerShdw sx="100000" sy="100000" kx="0" ky="0" algn="bl" rotWithShape="0" blurRad="127000" dist="38100" dir="5400000">
              <a:srgbClr val="14665C">
                <a:alpha val="18000"/>
              </a:srgbClr>
            </a:outerShdw>
          </a:effectLst>
        </p:spPr>
      </p:sp>
      <p:sp>
        <p:nvSpPr>
          <p:cNvPr id="16" name="Shape 14"/>
          <p:cNvSpPr/>
          <p:nvPr/>
        </p:nvSpPr>
        <p:spPr>
          <a:xfrm>
            <a:off x="5358384" y="1691640"/>
            <a:ext cx="566928" cy="566928"/>
          </a:xfrm>
          <a:prstGeom prst="ellipse">
            <a:avLst/>
          </a:prstGeom>
          <a:solidFill>
            <a:srgbClr val="F0A23B"/>
          </a:solidFill>
          <a:ln w="12700">
            <a:solidFill>
              <a:srgbClr val="F0A23B"/>
            </a:solidFill>
            <a:prstDash val="solid"/>
          </a:ln>
        </p:spPr>
      </p:sp>
      <p:sp>
        <p:nvSpPr>
          <p:cNvPr id="17" name="Text 15"/>
          <p:cNvSpPr txBox="1"/>
          <p:nvPr/>
        </p:nvSpPr>
        <p:spPr>
          <a:xfrm>
            <a:off x="5358384" y="169164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txBox="1"/>
          <p:nvPr/>
        </p:nvSpPr>
        <p:spPr>
          <a:xfrm>
            <a:off x="4837176" y="2377440"/>
            <a:ext cx="1600200" cy="365760"/>
          </a:xfrm>
          <a:prstGeom prst="rect">
            <a:avLst/>
          </a:prstGeom>
          <a:noFill/>
          <a:ln/>
        </p:spPr>
        <p:txBody>
          <a:bodyPr wrap="square" lIns="0" tIns="0" rIns="0" bIns="0" rtlCol="0" anchor="ctr"/>
          <a:lstStyle/>
          <a:p>
            <a:pPr algn="ctr" indent="0" marL="0">
              <a:buNone/>
            </a:pPr>
            <a:r>
              <a:rPr lang="en-US" sz="1900" b="1" dirty="0">
                <a:solidFill>
                  <a:srgbClr val="16323A"/>
                </a:solidFill>
                <a:latin typeface="Cambria" pitchFamily="34" charset="0"/>
                <a:ea typeface="Cambria" pitchFamily="34" charset="-122"/>
                <a:cs typeface="Cambria" pitchFamily="34" charset="-120"/>
              </a:rPr>
              <a:t>Confirm</a:t>
            </a:r>
            <a:endParaRPr lang="en-US" sz="1900" dirty="0"/>
          </a:p>
        </p:txBody>
      </p:sp>
      <p:sp>
        <p:nvSpPr>
          <p:cNvPr id="19" name="Text 17"/>
          <p:cNvSpPr txBox="1"/>
          <p:nvPr/>
        </p:nvSpPr>
        <p:spPr>
          <a:xfrm>
            <a:off x="4882896" y="2788920"/>
            <a:ext cx="1508760" cy="868680"/>
          </a:xfrm>
          <a:prstGeom prst="rect">
            <a:avLst/>
          </a:prstGeom>
          <a:noFill/>
          <a:ln/>
        </p:spPr>
        <p:txBody>
          <a:bodyPr wrap="square" lIns="0" tIns="0" rIns="0" bIns="0" rtlCol="0" anchor="t"/>
          <a:lstStyle/>
          <a:p>
            <a:pPr algn="ctr" indent="0" marL="0">
              <a:buNone/>
            </a:pPr>
            <a:r>
              <a:rPr lang="en-US" sz="1200" dirty="0">
                <a:solidFill>
                  <a:srgbClr val="5B7780"/>
                </a:solidFill>
                <a:latin typeface="Calibri" pitchFamily="34" charset="0"/>
                <a:ea typeface="Calibri" pitchFamily="34" charset="-122"/>
                <a:cs typeface="Calibri" pitchFamily="34" charset="-120"/>
              </a:rPr>
              <a:t>The pharmacist checks only flagged cells.</a:t>
            </a:r>
            <a:endParaRPr lang="en-US" sz="1200" dirty="0"/>
          </a:p>
        </p:txBody>
      </p:sp>
      <p:sp>
        <p:nvSpPr>
          <p:cNvPr id="20" name="Text 18"/>
          <p:cNvSpPr txBox="1"/>
          <p:nvPr/>
        </p:nvSpPr>
        <p:spPr>
          <a:xfrm>
            <a:off x="6574536" y="2103120"/>
            <a:ext cx="246888" cy="457200"/>
          </a:xfrm>
          <a:prstGeom prst="rect">
            <a:avLst/>
          </a:prstGeom>
          <a:noFill/>
          <a:ln/>
        </p:spPr>
        <p:txBody>
          <a:bodyPr wrap="square" lIns="0" tIns="0" rIns="0" bIns="0" rtlCol="0" anchor="ctr"/>
          <a:lstStyle/>
          <a:p>
            <a:pPr algn="ctr" indent="0" marL="0">
              <a:buNone/>
            </a:pPr>
            <a:r>
              <a:rPr lang="en-US" sz="2600" b="1" dirty="0">
                <a:solidFill>
                  <a:srgbClr val="72D0BD"/>
                </a:solidFill>
                <a:latin typeface="Calibri" pitchFamily="34" charset="0"/>
                <a:ea typeface="Calibri" pitchFamily="34" charset="-122"/>
                <a:cs typeface="Calibri" pitchFamily="34" charset="-120"/>
              </a:rPr>
              <a:t>›</a:t>
            </a:r>
            <a:endParaRPr lang="en-US" sz="2600" dirty="0"/>
          </a:p>
        </p:txBody>
      </p:sp>
      <p:sp>
        <p:nvSpPr>
          <p:cNvPr id="21" name="Shape 19"/>
          <p:cNvSpPr/>
          <p:nvPr/>
        </p:nvSpPr>
        <p:spPr>
          <a:xfrm>
            <a:off x="6821424" y="1463040"/>
            <a:ext cx="1874520" cy="2286000"/>
          </a:xfrm>
          <a:prstGeom prst="roundRect">
            <a:avLst>
              <a:gd name="adj" fmla="val 5854"/>
            </a:avLst>
          </a:prstGeom>
          <a:solidFill>
            <a:srgbClr val="FFFFFF"/>
          </a:solidFill>
          <a:ln w="9525">
            <a:solidFill>
              <a:srgbClr val="DCEBE7"/>
            </a:solidFill>
            <a:prstDash val="solid"/>
          </a:ln>
          <a:effectLst>
            <a:outerShdw sx="100000" sy="100000" kx="0" ky="0" algn="bl" rotWithShape="0" blurRad="127000" dist="38100" dir="5400000">
              <a:srgbClr val="14665C">
                <a:alpha val="18000"/>
              </a:srgbClr>
            </a:outerShdw>
          </a:effectLst>
        </p:spPr>
      </p:sp>
      <p:sp>
        <p:nvSpPr>
          <p:cNvPr id="22" name="Shape 20"/>
          <p:cNvSpPr/>
          <p:nvPr/>
        </p:nvSpPr>
        <p:spPr>
          <a:xfrm>
            <a:off x="7479792" y="1691640"/>
            <a:ext cx="566928" cy="566928"/>
          </a:xfrm>
          <a:prstGeom prst="ellipse">
            <a:avLst/>
          </a:prstGeom>
          <a:solidFill>
            <a:srgbClr val="E5484D"/>
          </a:solidFill>
          <a:ln w="12700">
            <a:solidFill>
              <a:srgbClr val="E5484D"/>
            </a:solidFill>
            <a:prstDash val="solid"/>
          </a:ln>
        </p:spPr>
      </p:sp>
      <p:sp>
        <p:nvSpPr>
          <p:cNvPr id="23" name="Text 21"/>
          <p:cNvSpPr txBox="1"/>
          <p:nvPr/>
        </p:nvSpPr>
        <p:spPr>
          <a:xfrm>
            <a:off x="7479792" y="169164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4" name="Text 22"/>
          <p:cNvSpPr txBox="1"/>
          <p:nvPr/>
        </p:nvSpPr>
        <p:spPr>
          <a:xfrm>
            <a:off x="6958584" y="2377440"/>
            <a:ext cx="1600200" cy="365760"/>
          </a:xfrm>
          <a:prstGeom prst="rect">
            <a:avLst/>
          </a:prstGeom>
          <a:noFill/>
          <a:ln/>
        </p:spPr>
        <p:txBody>
          <a:bodyPr wrap="square" lIns="0" tIns="0" rIns="0" bIns="0" rtlCol="0" anchor="ctr"/>
          <a:lstStyle/>
          <a:p>
            <a:pPr algn="ctr" indent="0" marL="0">
              <a:buNone/>
            </a:pPr>
            <a:r>
              <a:rPr lang="en-US" sz="1900" b="1" dirty="0">
                <a:solidFill>
                  <a:srgbClr val="16323A"/>
                </a:solidFill>
                <a:latin typeface="Cambria" pitchFamily="34" charset="0"/>
                <a:ea typeface="Cambria" pitchFamily="34" charset="-122"/>
                <a:cs typeface="Cambria" pitchFamily="34" charset="-120"/>
              </a:rPr>
              <a:t>Sync</a:t>
            </a:r>
            <a:endParaRPr lang="en-US" sz="1900" dirty="0"/>
          </a:p>
        </p:txBody>
      </p:sp>
      <p:sp>
        <p:nvSpPr>
          <p:cNvPr id="25" name="Text 23"/>
          <p:cNvSpPr txBox="1"/>
          <p:nvPr/>
        </p:nvSpPr>
        <p:spPr>
          <a:xfrm>
            <a:off x="7004304" y="2788920"/>
            <a:ext cx="1508760" cy="868680"/>
          </a:xfrm>
          <a:prstGeom prst="rect">
            <a:avLst/>
          </a:prstGeom>
          <a:noFill/>
          <a:ln/>
        </p:spPr>
        <p:txBody>
          <a:bodyPr wrap="square" lIns="0" tIns="0" rIns="0" bIns="0" rtlCol="0" anchor="t"/>
          <a:lstStyle/>
          <a:p>
            <a:pPr algn="ctr" indent="0" marL="0">
              <a:buNone/>
            </a:pPr>
            <a:r>
              <a:rPr lang="en-US" sz="1200" dirty="0">
                <a:solidFill>
                  <a:srgbClr val="5B7780"/>
                </a:solidFill>
                <a:latin typeface="Calibri" pitchFamily="34" charset="0"/>
                <a:ea typeface="Calibri" pitchFamily="34" charset="-122"/>
                <a:cs typeface="Calibri" pitchFamily="34" charset="-120"/>
              </a:rPr>
              <a:t>DVDMS bulk entry + Hindi/English district alert.</a:t>
            </a:r>
            <a:endParaRPr lang="en-US" sz="1200" dirty="0"/>
          </a:p>
        </p:txBody>
      </p:sp>
      <p:sp>
        <p:nvSpPr>
          <p:cNvPr id="26" name="Text 24"/>
          <p:cNvSpPr txBox="1"/>
          <p:nvPr/>
        </p:nvSpPr>
        <p:spPr>
          <a:xfrm>
            <a:off x="457200" y="4160520"/>
            <a:ext cx="8229600" cy="365760"/>
          </a:xfrm>
          <a:prstGeom prst="rect">
            <a:avLst/>
          </a:prstGeom>
          <a:noFill/>
          <a:ln/>
        </p:spPr>
        <p:txBody>
          <a:bodyPr wrap="square" lIns="0" tIns="0" rIns="0" bIns="0" rtlCol="0" anchor="ctr"/>
          <a:lstStyle/>
          <a:p>
            <a:pPr algn="ctr" indent="0" marL="0">
              <a:buNone/>
            </a:pPr>
            <a:r>
              <a:rPr lang="en-US" sz="1500" b="1" dirty="0">
                <a:solidFill>
                  <a:srgbClr val="167F71"/>
                </a:solidFill>
                <a:latin typeface="Calibri" pitchFamily="34" charset="0"/>
                <a:ea typeface="Calibri" pitchFamily="34" charset="-122"/>
                <a:cs typeface="Calibri" pitchFamily="34" charset="-120"/>
              </a:rPr>
              <a:t>No new hardware  ·  no new forms  ·  the pharmacist always approves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AF7"/>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lstStyle/>
          <a:p>
            <a:pPr indent="0" marL="0">
              <a:buNone/>
            </a:pPr>
            <a:r>
              <a:rPr lang="en-US" sz="3000" b="1" dirty="0">
                <a:solidFill>
                  <a:srgbClr val="16323A"/>
                </a:solidFill>
                <a:latin typeface="Cambria" pitchFamily="34" charset="0"/>
                <a:ea typeface="Cambria" pitchFamily="34" charset="-122"/>
                <a:cs typeface="Cambria" pitchFamily="34" charset="-120"/>
              </a:rPr>
              <a:t>The working prototype</a:t>
            </a:r>
            <a:endParaRPr lang="en-US" sz="3000" dirty="0"/>
          </a:p>
        </p:txBody>
      </p:sp>
      <p:pic>
        <p:nvPicPr>
          <p:cNvPr id="3" name="Image 0" descr="D:\RegisterLens\docs\deck\img_crop\03_review_hard.png">    </p:cNvPr>
          <p:cNvPicPr>
            <a:picLocks noChangeAspect="1"/>
          </p:cNvPicPr>
          <p:nvPr/>
        </p:nvPicPr>
        <p:blipFill>
          <a:blip r:embed="rId1"/>
          <a:stretch>
            <a:fillRect/>
          </a:stretch>
        </p:blipFill>
        <p:spPr>
          <a:xfrm>
            <a:off x="457200" y="1280160"/>
            <a:ext cx="2606040" cy="1293876"/>
          </a:xfrm>
          <a:prstGeom prst="rect">
            <a:avLst/>
          </a:prstGeom>
          <a:effectLst>
            <a:outerShdw sx="100000" sy="100000" kx="0" ky="0" algn="bl" rotWithShape="0" blurRad="127000" dist="38100" dir="5400000">
              <a:srgbClr val="14665C">
                <a:alpha val="18000"/>
              </a:srgbClr>
            </a:outerShdw>
          </a:effectLst>
        </p:spPr>
      </p:pic>
      <p:sp>
        <p:nvSpPr>
          <p:cNvPr id="4" name="Text 1"/>
          <p:cNvSpPr txBox="1"/>
          <p:nvPr/>
        </p:nvSpPr>
        <p:spPr>
          <a:xfrm>
            <a:off x="457200" y="2697480"/>
            <a:ext cx="2606040" cy="365760"/>
          </a:xfrm>
          <a:prstGeom prst="rect">
            <a:avLst/>
          </a:prstGeom>
          <a:noFill/>
          <a:ln/>
        </p:spPr>
        <p:txBody>
          <a:bodyPr wrap="square" lIns="0" tIns="0" rIns="0" bIns="0" rtlCol="0" anchor="ctr"/>
          <a:lstStyle/>
          <a:p>
            <a:pPr indent="0" marL="0">
              <a:buNone/>
            </a:pPr>
            <a:r>
              <a:rPr lang="en-US" sz="1200" b="1" dirty="0">
                <a:solidFill>
                  <a:srgbClr val="16323A"/>
                </a:solidFill>
                <a:latin typeface="Calibri" pitchFamily="34" charset="0"/>
                <a:ea typeface="Calibri" pitchFamily="34" charset="-122"/>
                <a:cs typeface="Calibri" pitchFamily="34" charset="-120"/>
              </a:rPr>
              <a:t>Review: flagged lines with reasons</a:t>
            </a:r>
            <a:endParaRPr lang="en-US" sz="1200" dirty="0"/>
          </a:p>
        </p:txBody>
      </p:sp>
      <p:pic>
        <p:nvPicPr>
          <p:cNvPr id="5" name="Image 1" descr="D:\RegisterLens\docs\deck\img_crop\04_reconcile.png">    </p:cNvPr>
          <p:cNvPicPr>
            <a:picLocks noChangeAspect="1"/>
          </p:cNvPicPr>
          <p:nvPr/>
        </p:nvPicPr>
        <p:blipFill>
          <a:blip r:embed="rId2"/>
          <a:stretch>
            <a:fillRect/>
          </a:stretch>
        </p:blipFill>
        <p:spPr>
          <a:xfrm>
            <a:off x="3246120" y="1280160"/>
            <a:ext cx="2606040" cy="1293876"/>
          </a:xfrm>
          <a:prstGeom prst="rect">
            <a:avLst/>
          </a:prstGeom>
          <a:effectLst>
            <a:outerShdw sx="100000" sy="100000" kx="0" ky="0" algn="bl" rotWithShape="0" blurRad="127000" dist="38100" dir="5400000">
              <a:srgbClr val="14665C">
                <a:alpha val="18000"/>
              </a:srgbClr>
            </a:outerShdw>
          </a:effectLst>
        </p:spPr>
      </p:pic>
      <p:sp>
        <p:nvSpPr>
          <p:cNvPr id="6" name="Text 2"/>
          <p:cNvSpPr txBox="1"/>
          <p:nvPr/>
        </p:nvSpPr>
        <p:spPr>
          <a:xfrm>
            <a:off x="3246120" y="2697480"/>
            <a:ext cx="2606040" cy="365760"/>
          </a:xfrm>
          <a:prstGeom prst="rect">
            <a:avLst/>
          </a:prstGeom>
          <a:noFill/>
          <a:ln/>
        </p:spPr>
        <p:txBody>
          <a:bodyPr wrap="square" lIns="0" tIns="0" rIns="0" bIns="0" rtlCol="0" anchor="ctr"/>
          <a:lstStyle/>
          <a:p>
            <a:pPr indent="0" marL="0">
              <a:buNone/>
            </a:pPr>
            <a:r>
              <a:rPr lang="en-US" sz="1200" b="1" dirty="0">
                <a:solidFill>
                  <a:srgbClr val="16323A"/>
                </a:solidFill>
                <a:latin typeface="Calibri" pitchFamily="34" charset="0"/>
                <a:ea typeface="Calibri" pitchFamily="34" charset="-122"/>
                <a:cs typeface="Calibri" pitchFamily="34" charset="-120"/>
              </a:rPr>
              <a:t>Reconcile: DVDMS vs the register</a:t>
            </a:r>
            <a:endParaRPr lang="en-US" sz="1200" dirty="0"/>
          </a:p>
        </p:txBody>
      </p:sp>
      <p:pic>
        <p:nvPicPr>
          <p:cNvPr id="7" name="Image 2" descr="D:\RegisterLens\docs\deck\img_crop\05_sync.png">    </p:cNvPr>
          <p:cNvPicPr>
            <a:picLocks noChangeAspect="1"/>
          </p:cNvPicPr>
          <p:nvPr/>
        </p:nvPicPr>
        <p:blipFill>
          <a:blip r:embed="rId3"/>
          <a:stretch>
            <a:fillRect/>
          </a:stretch>
        </p:blipFill>
        <p:spPr>
          <a:xfrm>
            <a:off x="6035040" y="1280160"/>
            <a:ext cx="2606040" cy="1293876"/>
          </a:xfrm>
          <a:prstGeom prst="rect">
            <a:avLst/>
          </a:prstGeom>
          <a:effectLst>
            <a:outerShdw sx="100000" sy="100000" kx="0" ky="0" algn="bl" rotWithShape="0" blurRad="127000" dist="38100" dir="5400000">
              <a:srgbClr val="14665C">
                <a:alpha val="18000"/>
              </a:srgbClr>
            </a:outerShdw>
          </a:effectLst>
        </p:spPr>
      </p:pic>
      <p:sp>
        <p:nvSpPr>
          <p:cNvPr id="8" name="Text 3"/>
          <p:cNvSpPr txBox="1"/>
          <p:nvPr/>
        </p:nvSpPr>
        <p:spPr>
          <a:xfrm>
            <a:off x="6035040" y="2697480"/>
            <a:ext cx="2606040" cy="365760"/>
          </a:xfrm>
          <a:prstGeom prst="rect">
            <a:avLst/>
          </a:prstGeom>
          <a:noFill/>
          <a:ln/>
        </p:spPr>
        <p:txBody>
          <a:bodyPr wrap="square" lIns="0" tIns="0" rIns="0" bIns="0" rtlCol="0" anchor="ctr"/>
          <a:lstStyle/>
          <a:p>
            <a:pPr indent="0" marL="0">
              <a:buNone/>
            </a:pPr>
            <a:r>
              <a:rPr lang="en-US" sz="1200" b="1" dirty="0">
                <a:solidFill>
                  <a:srgbClr val="16323A"/>
                </a:solidFill>
                <a:latin typeface="Calibri" pitchFamily="34" charset="0"/>
                <a:ea typeface="Calibri" pitchFamily="34" charset="-122"/>
                <a:cs typeface="Calibri" pitchFamily="34" charset="-120"/>
              </a:rPr>
              <a:t>Sync: bulk entry + Hindi/English alert</a:t>
            </a:r>
            <a:endParaRPr lang="en-US" sz="1200" dirty="0"/>
          </a:p>
        </p:txBody>
      </p:sp>
      <p:sp>
        <p:nvSpPr>
          <p:cNvPr id="9" name="Text 4"/>
          <p:cNvSpPr txBox="1"/>
          <p:nvPr/>
        </p:nvSpPr>
        <p:spPr>
          <a:xfrm>
            <a:off x="457200" y="3429000"/>
            <a:ext cx="8229600" cy="731520"/>
          </a:xfrm>
          <a:prstGeom prst="rect">
            <a:avLst/>
          </a:prstGeom>
          <a:noFill/>
          <a:ln/>
        </p:spPr>
        <p:txBody>
          <a:bodyPr wrap="square" lIns="0" tIns="0" rIns="0" bIns="0" rtlCol="0" anchor="t"/>
          <a:lstStyle/>
          <a:p>
            <a:pPr indent="0" marL="0">
              <a:buNone/>
            </a:pPr>
            <a:r>
              <a:rPr lang="en-US" sz="1400" b="1" dirty="0">
                <a:solidFill>
                  <a:srgbClr val="167F71"/>
                </a:solidFill>
                <a:latin typeface="Calibri" pitchFamily="34" charset="0"/>
                <a:ea typeface="Calibri" pitchFamily="34" charset="-122"/>
                <a:cs typeface="Calibri" pitchFamily="34" charset="-120"/>
              </a:rPr>
              <a:t>Live end to end: </a:t>
            </a:r>
            <a:pPr indent="0" marL="0">
              <a:buNone/>
            </a:pPr>
            <a:r>
              <a:rPr lang="en-US" sz="1400" dirty="0">
                <a:solidFill>
                  <a:srgbClr val="5B7780"/>
                </a:solidFill>
                <a:latin typeface="Calibri" pitchFamily="34" charset="0"/>
                <a:ea typeface="Calibri" pitchFamily="34" charset="-122"/>
                <a:cs typeface="Calibri" pitchFamily="34" charset="-120"/>
              </a:rPr>
              <a:t>photo upload or sample page, image clean-up, Gemini read, review, reconcile, Excel export, Hindi/English alert, district view.</a:t>
            </a:r>
            <a:endParaRPr lang="en-US" sz="1400" dirty="0"/>
          </a:p>
        </p:txBody>
      </p:sp>
      <p:sp>
        <p:nvSpPr>
          <p:cNvPr id="10" name="Text 5"/>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100" dirty="0">
                <a:solidFill>
                  <a:srgbClr val="5B7780"/>
                </a:solidFill>
                <a:latin typeface="Calibri" pitchFamily="34" charset="0"/>
                <a:ea typeface="Calibri" pitchFamily="34" charset="-122"/>
                <a:cs typeface="Calibri" pitchFamily="34" charset="-120"/>
              </a:rPr>
              <a:t>React + FastAPI + Gemini API · built for a PC browser first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lstStyle/>
          <a:p>
            <a:pPr indent="0" marL="0">
              <a:buNone/>
            </a:pPr>
            <a:r>
              <a:rPr lang="en-US" sz="3000" b="1" dirty="0">
                <a:solidFill>
                  <a:srgbClr val="16323A"/>
                </a:solidFill>
                <a:latin typeface="Cambria" pitchFamily="34" charset="0"/>
                <a:ea typeface="Cambria" pitchFamily="34" charset="-122"/>
                <a:cs typeface="Cambria" pitchFamily="34" charset="-120"/>
              </a:rPr>
              <a:t>Where AI works, and where plain code does</a:t>
            </a:r>
            <a:endParaRPr lang="en-US" sz="3000" dirty="0"/>
          </a:p>
        </p:txBody>
      </p:sp>
      <p:sp>
        <p:nvSpPr>
          <p:cNvPr id="3" name="Shape 1"/>
          <p:cNvSpPr/>
          <p:nvPr/>
        </p:nvSpPr>
        <p:spPr>
          <a:xfrm>
            <a:off x="457200" y="1234440"/>
            <a:ext cx="4206240" cy="530352"/>
          </a:xfrm>
          <a:prstGeom prst="roundRect">
            <a:avLst>
              <a:gd name="adj" fmla="val 17241"/>
            </a:avLst>
          </a:prstGeom>
          <a:solidFill>
            <a:srgbClr val="D5F3EC"/>
          </a:solidFill>
          <a:ln w="12700">
            <a:solidFill>
              <a:srgbClr val="D5F3EC"/>
            </a:solidFill>
            <a:prstDash val="solid"/>
          </a:ln>
        </p:spPr>
      </p:sp>
      <p:sp>
        <p:nvSpPr>
          <p:cNvPr id="4" name="Text 2"/>
          <p:cNvSpPr txBox="1"/>
          <p:nvPr/>
        </p:nvSpPr>
        <p:spPr>
          <a:xfrm>
            <a:off x="594360" y="1234440"/>
            <a:ext cx="3977640" cy="530352"/>
          </a:xfrm>
          <a:prstGeom prst="rect">
            <a:avLst/>
          </a:prstGeom>
          <a:noFill/>
          <a:ln/>
        </p:spPr>
        <p:txBody>
          <a:bodyPr wrap="square" lIns="0" tIns="0" rIns="0" bIns="0" rtlCol="0" anchor="ctr"/>
          <a:lstStyle/>
          <a:p>
            <a:pPr indent="0" marL="0">
              <a:buNone/>
            </a:pPr>
            <a:r>
              <a:rPr lang="en-US" sz="1400" b="1" dirty="0">
                <a:solidFill>
                  <a:srgbClr val="16323A"/>
                </a:solidFill>
                <a:latin typeface="Cambria" pitchFamily="34" charset="0"/>
                <a:ea typeface="Cambria" pitchFamily="34" charset="-122"/>
                <a:cs typeface="Cambria" pitchFamily="34" charset="-120"/>
              </a:rPr>
              <a:t>Photo  </a:t>
            </a:r>
            <a:pPr indent="0" marL="0">
              <a:buNone/>
            </a:pPr>
            <a:r>
              <a:rPr lang="en-US" sz="1150" dirty="0">
                <a:solidFill>
                  <a:srgbClr val="16323A"/>
                </a:solidFill>
                <a:latin typeface="Calibri" pitchFamily="34" charset="0"/>
                <a:ea typeface="Calibri" pitchFamily="34" charset="-122"/>
                <a:cs typeface="Calibri" pitchFamily="34" charset="-120"/>
              </a:rPr>
              <a:t>phone camera</a:t>
            </a:r>
            <a:endParaRPr lang="en-US" sz="1400" dirty="0"/>
          </a:p>
        </p:txBody>
      </p:sp>
      <p:sp>
        <p:nvSpPr>
          <p:cNvPr id="5" name="Shape 3"/>
          <p:cNvSpPr/>
          <p:nvPr/>
        </p:nvSpPr>
        <p:spPr>
          <a:xfrm>
            <a:off x="457200" y="1874520"/>
            <a:ext cx="4206240" cy="530352"/>
          </a:xfrm>
          <a:prstGeom prst="roundRect">
            <a:avLst>
              <a:gd name="adj" fmla="val 17241"/>
            </a:avLst>
          </a:prstGeom>
          <a:solidFill>
            <a:srgbClr val="D5F3EC"/>
          </a:solidFill>
          <a:ln w="12700">
            <a:solidFill>
              <a:srgbClr val="D5F3EC"/>
            </a:solidFill>
            <a:prstDash val="solid"/>
          </a:ln>
        </p:spPr>
      </p:sp>
      <p:sp>
        <p:nvSpPr>
          <p:cNvPr id="6" name="Text 4"/>
          <p:cNvSpPr txBox="1"/>
          <p:nvPr/>
        </p:nvSpPr>
        <p:spPr>
          <a:xfrm>
            <a:off x="594360" y="1874520"/>
            <a:ext cx="3977640" cy="530352"/>
          </a:xfrm>
          <a:prstGeom prst="rect">
            <a:avLst/>
          </a:prstGeom>
          <a:noFill/>
          <a:ln/>
        </p:spPr>
        <p:txBody>
          <a:bodyPr wrap="square" lIns="0" tIns="0" rIns="0" bIns="0" rtlCol="0" anchor="ctr"/>
          <a:lstStyle/>
          <a:p>
            <a:pPr indent="0" marL="0">
              <a:buNone/>
            </a:pPr>
            <a:r>
              <a:rPr lang="en-US" sz="1400" b="1" dirty="0">
                <a:solidFill>
                  <a:srgbClr val="16323A"/>
                </a:solidFill>
                <a:latin typeface="Cambria" pitchFamily="34" charset="0"/>
                <a:ea typeface="Cambria" pitchFamily="34" charset="-122"/>
                <a:cs typeface="Cambria" pitchFamily="34" charset="-120"/>
              </a:rPr>
              <a:t>OpenCV clean-up  </a:t>
            </a:r>
            <a:pPr indent="0" marL="0">
              <a:buNone/>
            </a:pPr>
            <a:r>
              <a:rPr lang="en-US" sz="1150" dirty="0">
                <a:solidFill>
                  <a:srgbClr val="16323A"/>
                </a:solidFill>
                <a:latin typeface="Calibri" pitchFamily="34" charset="0"/>
                <a:ea typeface="Calibri" pitchFamily="34" charset="-122"/>
                <a:cs typeface="Calibri" pitchFamily="34" charset="-120"/>
              </a:rPr>
              <a:t>flatten page, remove shadows, boost ink</a:t>
            </a:r>
            <a:endParaRPr lang="en-US" sz="1400" dirty="0"/>
          </a:p>
        </p:txBody>
      </p:sp>
      <p:sp>
        <p:nvSpPr>
          <p:cNvPr id="7" name="Shape 5"/>
          <p:cNvSpPr/>
          <p:nvPr/>
        </p:nvSpPr>
        <p:spPr>
          <a:xfrm>
            <a:off x="457200" y="2514600"/>
            <a:ext cx="4206240" cy="530352"/>
          </a:xfrm>
          <a:prstGeom prst="roundRect">
            <a:avLst>
              <a:gd name="adj" fmla="val 17241"/>
            </a:avLst>
          </a:prstGeom>
          <a:solidFill>
            <a:srgbClr val="167F71"/>
          </a:solidFill>
          <a:ln w="12700">
            <a:solidFill>
              <a:srgbClr val="167F71"/>
            </a:solidFill>
            <a:prstDash val="solid"/>
          </a:ln>
        </p:spPr>
      </p:sp>
      <p:sp>
        <p:nvSpPr>
          <p:cNvPr id="8" name="Text 6"/>
          <p:cNvSpPr txBox="1"/>
          <p:nvPr/>
        </p:nvSpPr>
        <p:spPr>
          <a:xfrm>
            <a:off x="594360" y="2514600"/>
            <a:ext cx="3977640" cy="530352"/>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Gemini reads  </a:t>
            </a:r>
            <a:pPr indent="0" marL="0">
              <a:buNone/>
            </a:pPr>
            <a:r>
              <a:rPr lang="en-US" sz="1150" dirty="0">
                <a:solidFill>
                  <a:srgbClr val="FFFFFF"/>
                </a:solidFill>
                <a:latin typeface="Calibri" pitchFamily="34" charset="0"/>
                <a:ea typeface="Calibri" pitchFamily="34" charset="-122"/>
                <a:cs typeface="Calibri" pitchFamily="34" charset="-120"/>
              </a:rPr>
              <a:t>handwriting to JSON + confidence</a:t>
            </a:r>
            <a:endParaRPr lang="en-US" sz="1400" dirty="0"/>
          </a:p>
        </p:txBody>
      </p:sp>
      <p:sp>
        <p:nvSpPr>
          <p:cNvPr id="9" name="Shape 7"/>
          <p:cNvSpPr/>
          <p:nvPr/>
        </p:nvSpPr>
        <p:spPr>
          <a:xfrm>
            <a:off x="457200" y="3154680"/>
            <a:ext cx="4206240" cy="530352"/>
          </a:xfrm>
          <a:prstGeom prst="roundRect">
            <a:avLst>
              <a:gd name="adj" fmla="val 17241"/>
            </a:avLst>
          </a:prstGeom>
          <a:solidFill>
            <a:srgbClr val="0B3F39"/>
          </a:solidFill>
          <a:ln w="12700">
            <a:solidFill>
              <a:srgbClr val="0B3F39"/>
            </a:solidFill>
            <a:prstDash val="solid"/>
          </a:ln>
        </p:spPr>
      </p:sp>
      <p:sp>
        <p:nvSpPr>
          <p:cNvPr id="10" name="Text 8"/>
          <p:cNvSpPr txBox="1"/>
          <p:nvPr/>
        </p:nvSpPr>
        <p:spPr>
          <a:xfrm>
            <a:off x="594360" y="3154680"/>
            <a:ext cx="3977640" cy="530352"/>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Code checks  </a:t>
            </a:r>
            <a:pPr indent="0" marL="0">
              <a:buNone/>
            </a:pPr>
            <a:r>
              <a:rPr lang="en-US" sz="1150" dirty="0">
                <a:solidFill>
                  <a:srgbClr val="FFFFFF"/>
                </a:solidFill>
                <a:latin typeface="Calibri" pitchFamily="34" charset="0"/>
                <a:ea typeface="Calibri" pitchFamily="34" charset="-122"/>
                <a:cs typeface="Calibri" pitchFamily="34" charset="-120"/>
              </a:rPr>
              <a:t>match drugs, balances, DVDMS drift, days of stock</a:t>
            </a:r>
            <a:endParaRPr lang="en-US" sz="1400" dirty="0"/>
          </a:p>
        </p:txBody>
      </p:sp>
      <p:sp>
        <p:nvSpPr>
          <p:cNvPr id="11" name="Shape 9"/>
          <p:cNvSpPr/>
          <p:nvPr/>
        </p:nvSpPr>
        <p:spPr>
          <a:xfrm>
            <a:off x="457200" y="3794760"/>
            <a:ext cx="4206240" cy="530352"/>
          </a:xfrm>
          <a:prstGeom prst="roundRect">
            <a:avLst>
              <a:gd name="adj" fmla="val 17241"/>
            </a:avLst>
          </a:prstGeom>
          <a:solidFill>
            <a:srgbClr val="167F71"/>
          </a:solidFill>
          <a:ln w="12700">
            <a:solidFill>
              <a:srgbClr val="167F71"/>
            </a:solidFill>
            <a:prstDash val="solid"/>
          </a:ln>
        </p:spPr>
      </p:sp>
      <p:sp>
        <p:nvSpPr>
          <p:cNvPr id="12" name="Text 10"/>
          <p:cNvSpPr txBox="1"/>
          <p:nvPr/>
        </p:nvSpPr>
        <p:spPr>
          <a:xfrm>
            <a:off x="594360" y="3794760"/>
            <a:ext cx="3977640" cy="530352"/>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Gemini writes  </a:t>
            </a:r>
            <a:pPr indent="0" marL="0">
              <a:buNone/>
            </a:pPr>
            <a:r>
              <a:rPr lang="en-US" sz="1150" dirty="0">
                <a:solidFill>
                  <a:srgbClr val="FFFFFF"/>
                </a:solidFill>
                <a:latin typeface="Calibri" pitchFamily="34" charset="0"/>
                <a:ea typeface="Calibri" pitchFamily="34" charset="-122"/>
                <a:cs typeface="Calibri" pitchFamily="34" charset="-120"/>
              </a:rPr>
              <a:t>district alert, Hindi + English</a:t>
            </a:r>
            <a:endParaRPr lang="en-US" sz="1400" dirty="0"/>
          </a:p>
        </p:txBody>
      </p:sp>
      <p:sp>
        <p:nvSpPr>
          <p:cNvPr id="13" name="Text 11"/>
          <p:cNvSpPr txBox="1"/>
          <p:nvPr/>
        </p:nvSpPr>
        <p:spPr>
          <a:xfrm>
            <a:off x="457200" y="4480560"/>
            <a:ext cx="4206240" cy="457200"/>
          </a:xfrm>
          <a:prstGeom prst="rect">
            <a:avLst/>
          </a:prstGeom>
          <a:noFill/>
          <a:ln/>
        </p:spPr>
        <p:txBody>
          <a:bodyPr wrap="square" lIns="0" tIns="0" rIns="0" bIns="0" rtlCol="0" anchor="t"/>
          <a:lstStyle/>
          <a:p>
            <a:pPr indent="0" marL="0">
              <a:buNone/>
            </a:pPr>
            <a:r>
              <a:rPr lang="en-US" sz="1100" i="1" dirty="0">
                <a:solidFill>
                  <a:srgbClr val="167F71"/>
                </a:solidFill>
                <a:latin typeface="Calibri" pitchFamily="34" charset="0"/>
                <a:ea typeface="Calibri" pitchFamily="34" charset="-122"/>
                <a:cs typeface="Calibri" pitchFamily="34" charset="-120"/>
              </a:rPr>
              <a:t>The pharmacist confirms between “reads” and “checks”. Nothing is uploaded without a human yes.</a:t>
            </a:r>
            <a:endParaRPr lang="en-US" sz="1100" dirty="0"/>
          </a:p>
        </p:txBody>
      </p:sp>
      <p:sp>
        <p:nvSpPr>
          <p:cNvPr id="14" name="Shape 12"/>
          <p:cNvSpPr/>
          <p:nvPr/>
        </p:nvSpPr>
        <p:spPr>
          <a:xfrm>
            <a:off x="5074920" y="1280160"/>
            <a:ext cx="329184" cy="329184"/>
          </a:xfrm>
          <a:prstGeom prst="ellipse">
            <a:avLst/>
          </a:prstGeom>
          <a:solidFill>
            <a:srgbClr val="167F71"/>
          </a:solidFill>
          <a:ln w="12700">
            <a:solidFill>
              <a:srgbClr val="167F71"/>
            </a:solidFill>
            <a:prstDash val="solid"/>
          </a:ln>
        </p:spPr>
      </p:sp>
      <p:sp>
        <p:nvSpPr>
          <p:cNvPr id="15" name="Text 13"/>
          <p:cNvSpPr txBox="1"/>
          <p:nvPr/>
        </p:nvSpPr>
        <p:spPr>
          <a:xfrm>
            <a:off x="5074920" y="128016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6" name="Text 14"/>
          <p:cNvSpPr txBox="1"/>
          <p:nvPr/>
        </p:nvSpPr>
        <p:spPr>
          <a:xfrm>
            <a:off x="5532120" y="1234440"/>
            <a:ext cx="3200400" cy="777240"/>
          </a:xfrm>
          <a:prstGeom prst="rect">
            <a:avLst/>
          </a:prstGeom>
          <a:noFill/>
          <a:ln/>
        </p:spPr>
        <p:txBody>
          <a:bodyPr wrap="square" lIns="0" tIns="0" rIns="0" bIns="0" rtlCol="0" anchor="t"/>
          <a:lstStyle/>
          <a:p>
            <a:pPr indent="0" marL="0">
              <a:buNone/>
            </a:pPr>
            <a:r>
              <a:rPr lang="en-US" sz="1350" b="1" dirty="0">
                <a:solidFill>
                  <a:srgbClr val="16323A"/>
                </a:solidFill>
                <a:latin typeface="Calibri" pitchFamily="34" charset="0"/>
                <a:ea typeface="Calibri" pitchFamily="34" charset="-122"/>
                <a:cs typeface="Calibri" pitchFamily="34" charset="-120"/>
              </a:rPr>
              <a:t>Structured output</a:t>
            </a:r>
            <a:endParaRPr lang="en-US" sz="1350" dirty="0"/>
          </a:p>
          <a:p>
            <a:pPr indent="0" marL="0">
              <a:buNone/>
            </a:pPr>
            <a:r>
              <a:rPr lang="en-US" sz="1150" dirty="0">
                <a:solidFill>
                  <a:srgbClr val="5B7780"/>
                </a:solidFill>
                <a:latin typeface="Calibri" pitchFamily="34" charset="0"/>
                <a:ea typeface="Calibri" pitchFamily="34" charset="-122"/>
                <a:cs typeface="Calibri" pitchFamily="34" charset="-120"/>
              </a:rPr>
              <a:t>Gemini returns schema-checked JSON with a confidence score per cell.</a:t>
            </a:r>
            <a:endParaRPr lang="en-US" sz="1350" dirty="0"/>
          </a:p>
        </p:txBody>
      </p:sp>
      <p:sp>
        <p:nvSpPr>
          <p:cNvPr id="17" name="Shape 15"/>
          <p:cNvSpPr/>
          <p:nvPr/>
        </p:nvSpPr>
        <p:spPr>
          <a:xfrm>
            <a:off x="5074920" y="2148840"/>
            <a:ext cx="329184" cy="329184"/>
          </a:xfrm>
          <a:prstGeom prst="ellipse">
            <a:avLst/>
          </a:prstGeom>
          <a:solidFill>
            <a:srgbClr val="167F71"/>
          </a:solidFill>
          <a:ln w="12700">
            <a:solidFill>
              <a:srgbClr val="167F71"/>
            </a:solidFill>
            <a:prstDash val="solid"/>
          </a:ln>
        </p:spPr>
      </p:sp>
      <p:sp>
        <p:nvSpPr>
          <p:cNvPr id="18" name="Text 16"/>
          <p:cNvSpPr txBox="1"/>
          <p:nvPr/>
        </p:nvSpPr>
        <p:spPr>
          <a:xfrm>
            <a:off x="5074920" y="214884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9" name="Text 17"/>
          <p:cNvSpPr txBox="1"/>
          <p:nvPr/>
        </p:nvSpPr>
        <p:spPr>
          <a:xfrm>
            <a:off x="5532120" y="2103120"/>
            <a:ext cx="3200400" cy="777240"/>
          </a:xfrm>
          <a:prstGeom prst="rect">
            <a:avLst/>
          </a:prstGeom>
          <a:noFill/>
          <a:ln/>
        </p:spPr>
        <p:txBody>
          <a:bodyPr wrap="square" lIns="0" tIns="0" rIns="0" bIns="0" rtlCol="0" anchor="t"/>
          <a:lstStyle/>
          <a:p>
            <a:pPr indent="0" marL="0">
              <a:buNone/>
            </a:pPr>
            <a:r>
              <a:rPr lang="en-US" sz="1350" b="1" dirty="0">
                <a:solidFill>
                  <a:srgbClr val="16323A"/>
                </a:solidFill>
                <a:latin typeface="Calibri" pitchFamily="34" charset="0"/>
                <a:ea typeface="Calibri" pitchFamily="34" charset="-122"/>
                <a:cs typeface="Calibri" pitchFamily="34" charset="-120"/>
              </a:rPr>
              <a:t>Numbers are never generated</a:t>
            </a:r>
            <a:endParaRPr lang="en-US" sz="1350" dirty="0"/>
          </a:p>
          <a:p>
            <a:pPr indent="0" marL="0">
              <a:buNone/>
            </a:pPr>
            <a:r>
              <a:rPr lang="en-US" sz="1150" dirty="0">
                <a:solidFill>
                  <a:srgbClr val="5B7780"/>
                </a:solidFill>
                <a:latin typeface="Calibri" pitchFamily="34" charset="0"/>
                <a:ea typeface="Calibri" pitchFamily="34" charset="-122"/>
                <a:cs typeface="Calibri" pitchFamily="34" charset="-120"/>
              </a:rPr>
              <a:t>Drift and days of stock are computed by checkable code.</a:t>
            </a:r>
            <a:endParaRPr lang="en-US" sz="1350" dirty="0"/>
          </a:p>
        </p:txBody>
      </p:sp>
      <p:sp>
        <p:nvSpPr>
          <p:cNvPr id="20" name="Shape 18"/>
          <p:cNvSpPr/>
          <p:nvPr/>
        </p:nvSpPr>
        <p:spPr>
          <a:xfrm>
            <a:off x="5074920" y="3017520"/>
            <a:ext cx="329184" cy="329184"/>
          </a:xfrm>
          <a:prstGeom prst="ellipse">
            <a:avLst/>
          </a:prstGeom>
          <a:solidFill>
            <a:srgbClr val="167F71"/>
          </a:solidFill>
          <a:ln w="12700">
            <a:solidFill>
              <a:srgbClr val="167F71"/>
            </a:solidFill>
            <a:prstDash val="solid"/>
          </a:ln>
        </p:spPr>
      </p:sp>
      <p:sp>
        <p:nvSpPr>
          <p:cNvPr id="21" name="Text 19"/>
          <p:cNvSpPr txBox="1"/>
          <p:nvPr/>
        </p:nvSpPr>
        <p:spPr>
          <a:xfrm>
            <a:off x="5074920" y="301752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2" name="Text 20"/>
          <p:cNvSpPr txBox="1"/>
          <p:nvPr/>
        </p:nvSpPr>
        <p:spPr>
          <a:xfrm>
            <a:off x="5532120" y="2971800"/>
            <a:ext cx="3200400" cy="777240"/>
          </a:xfrm>
          <a:prstGeom prst="rect">
            <a:avLst/>
          </a:prstGeom>
          <a:noFill/>
          <a:ln/>
        </p:spPr>
        <p:txBody>
          <a:bodyPr wrap="square" lIns="0" tIns="0" rIns="0" bIns="0" rtlCol="0" anchor="t"/>
          <a:lstStyle/>
          <a:p>
            <a:pPr indent="0" marL="0">
              <a:buNone/>
            </a:pPr>
            <a:r>
              <a:rPr lang="en-US" sz="1350" b="1" dirty="0">
                <a:solidFill>
                  <a:srgbClr val="16323A"/>
                </a:solidFill>
                <a:latin typeface="Calibri" pitchFamily="34" charset="0"/>
                <a:ea typeface="Calibri" pitchFamily="34" charset="-122"/>
                <a:cs typeface="Calibri" pitchFamily="34" charset="-120"/>
              </a:rPr>
              <a:t>Resilient to limits</a:t>
            </a:r>
            <a:endParaRPr lang="en-US" sz="1350" dirty="0"/>
          </a:p>
          <a:p>
            <a:pPr indent="0" marL="0">
              <a:buNone/>
            </a:pPr>
            <a:r>
              <a:rPr lang="en-US" sz="1150" dirty="0">
                <a:solidFill>
                  <a:srgbClr val="5B7780"/>
                </a:solidFill>
                <a:latin typeface="Calibri" pitchFamily="34" charset="0"/>
                <a:ea typeface="Calibri" pitchFamily="34" charset="-122"/>
                <a:cs typeface="Calibri" pitchFamily="34" charset="-120"/>
              </a:rPr>
              <a:t>Fails over across Gemini models, skips exhausted ones, lighter models for alerts, stored readings for demo pages.</a:t>
            </a:r>
            <a:endParaRPr lang="en-US" sz="1350" dirty="0"/>
          </a:p>
        </p:txBody>
      </p:sp>
      <p:sp>
        <p:nvSpPr>
          <p:cNvPr id="23" name="Shape 21"/>
          <p:cNvSpPr/>
          <p:nvPr/>
        </p:nvSpPr>
        <p:spPr>
          <a:xfrm>
            <a:off x="5074920" y="3886200"/>
            <a:ext cx="329184" cy="329184"/>
          </a:xfrm>
          <a:prstGeom prst="ellipse">
            <a:avLst/>
          </a:prstGeom>
          <a:solidFill>
            <a:srgbClr val="167F71"/>
          </a:solidFill>
          <a:ln w="12700">
            <a:solidFill>
              <a:srgbClr val="167F71"/>
            </a:solidFill>
            <a:prstDash val="solid"/>
          </a:ln>
        </p:spPr>
      </p:sp>
      <p:sp>
        <p:nvSpPr>
          <p:cNvPr id="24" name="Text 22"/>
          <p:cNvSpPr txBox="1"/>
          <p:nvPr/>
        </p:nvSpPr>
        <p:spPr>
          <a:xfrm>
            <a:off x="5074920" y="388620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5" name="Text 23"/>
          <p:cNvSpPr txBox="1"/>
          <p:nvPr/>
        </p:nvSpPr>
        <p:spPr>
          <a:xfrm>
            <a:off x="5532120" y="3840480"/>
            <a:ext cx="3200400" cy="777240"/>
          </a:xfrm>
          <a:prstGeom prst="rect">
            <a:avLst/>
          </a:prstGeom>
          <a:noFill/>
          <a:ln/>
        </p:spPr>
        <p:txBody>
          <a:bodyPr wrap="square" lIns="0" tIns="0" rIns="0" bIns="0" rtlCol="0" anchor="t"/>
          <a:lstStyle/>
          <a:p>
            <a:pPr indent="0" marL="0">
              <a:buNone/>
            </a:pPr>
            <a:r>
              <a:rPr lang="en-US" sz="1350" b="1" dirty="0">
                <a:solidFill>
                  <a:srgbClr val="16323A"/>
                </a:solidFill>
                <a:latin typeface="Calibri" pitchFamily="34" charset="0"/>
                <a:ea typeface="Calibri" pitchFamily="34" charset="-122"/>
                <a:cs typeface="Calibri" pitchFamily="34" charset="-120"/>
              </a:rPr>
              <a:t>Names in two languages</a:t>
            </a:r>
            <a:endParaRPr lang="en-US" sz="1350" dirty="0"/>
          </a:p>
          <a:p>
            <a:pPr indent="0" marL="0">
              <a:buNone/>
            </a:pPr>
            <a:r>
              <a:rPr lang="en-US" sz="1150" dirty="0">
                <a:solidFill>
                  <a:srgbClr val="5B7780"/>
                </a:solidFill>
                <a:latin typeface="Calibri" pitchFamily="34" charset="0"/>
                <a:ea typeface="Calibri" pitchFamily="34" charset="-122"/>
                <a:cs typeface="Calibri" pitchFamily="34" charset="-120"/>
              </a:rPr>
              <a:t>PCM, Paracetamol and पैरासिटामोल resolve to one medicine.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AF7"/>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lstStyle/>
          <a:p>
            <a:pPr indent="0" marL="0">
              <a:buNone/>
            </a:pPr>
            <a:r>
              <a:rPr lang="en-US" sz="3000" b="1" dirty="0">
                <a:solidFill>
                  <a:srgbClr val="16323A"/>
                </a:solidFill>
                <a:latin typeface="Cambria" pitchFamily="34" charset="0"/>
                <a:ea typeface="Cambria" pitchFamily="34" charset="-122"/>
                <a:cs typeface="Cambria" pitchFamily="34" charset="-120"/>
              </a:rPr>
              <a:t>Does it work? Measured, with the misses.</a:t>
            </a:r>
            <a:endParaRPr lang="en-US" sz="3000" dirty="0"/>
          </a:p>
        </p:txBody>
      </p:sp>
      <p:graphicFrame>
        <p:nvGraphicFramePr>
          <p:cNvPr id="3" name="Chart 0" descr=""/>
          <p:cNvGraphicFramePr/>
          <p:nvPr/>
        </p:nvGraphicFramePr>
        <p:xfrm>
          <a:off x="365760" y="1143000"/>
          <a:ext cx="4937760" cy="32461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532120" y="1188720"/>
            <a:ext cx="3154680" cy="3200400"/>
          </a:xfrm>
          <a:prstGeom prst="roundRect">
            <a:avLst>
              <a:gd name="adj" fmla="val 3478"/>
            </a:avLst>
          </a:prstGeom>
          <a:solidFill>
            <a:srgbClr val="FFFFFF"/>
          </a:solidFill>
          <a:ln w="9525">
            <a:solidFill>
              <a:srgbClr val="DCEBE7"/>
            </a:solidFill>
            <a:prstDash val="solid"/>
          </a:ln>
          <a:effectLst>
            <a:outerShdw sx="100000" sy="100000" kx="0" ky="0" algn="bl" rotWithShape="0" blurRad="127000" dist="38100" dir="5400000">
              <a:srgbClr val="14665C">
                <a:alpha val="18000"/>
              </a:srgbClr>
            </a:outerShdw>
          </a:effectLst>
        </p:spPr>
      </p:sp>
      <p:sp>
        <p:nvSpPr>
          <p:cNvPr id="5" name="Text 2"/>
          <p:cNvSpPr txBox="1"/>
          <p:nvPr/>
        </p:nvSpPr>
        <p:spPr>
          <a:xfrm>
            <a:off x="5715000" y="1280160"/>
            <a:ext cx="2834640" cy="3017520"/>
          </a:xfrm>
          <a:prstGeom prst="rect">
            <a:avLst/>
          </a:prstGeom>
          <a:noFill/>
          <a:ln/>
        </p:spPr>
        <p:txBody>
          <a:bodyPr wrap="square" lIns="0" tIns="0" rIns="0" bIns="0" rtlCol="0" anchor="t"/>
          <a:lstStyle/>
          <a:p>
            <a:pPr indent="0" marL="0">
              <a:buNone/>
            </a:pPr>
            <a:r>
              <a:rPr lang="en-US" sz="1800" b="1" dirty="0">
                <a:solidFill>
                  <a:srgbClr val="167F71"/>
                </a:solidFill>
                <a:latin typeface="Cambria" pitchFamily="34" charset="0"/>
                <a:ea typeface="Cambria" pitchFamily="34" charset="-122"/>
                <a:cs typeface="Cambria" pitchFamily="34" charset="-120"/>
              </a:rPr>
              <a:t>168 lines · 12 pages</a:t>
            </a:r>
            <a:endParaRPr lang="en-US" sz="1800" dirty="0"/>
          </a:p>
          <a:p>
            <a:pPr indent="0" marL="0">
              <a:buNone/>
            </a:pPr>
            <a:r>
              <a:rPr lang="en-US" sz="1200" dirty="0">
                <a:solidFill>
                  <a:srgbClr val="16323A"/>
                </a:solidFill>
                <a:latin typeface="Calibri" pitchFamily="34" charset="0"/>
                <a:ea typeface="Calibri" pitchFamily="34" charset="-122"/>
                <a:cs typeface="Calibri" pitchFamily="34" charset="-120"/>
              </a:rPr>
              <a:t>Drug names and every quantity: 100%.</a:t>
            </a:r>
            <a:endParaRPr lang="en-US" sz="1800" dirty="0"/>
          </a:p>
          <a:p>
            <a:pPr indent="0" marL="0">
              <a:buNone/>
            </a:pPr>
            <a:r>
              <a:rPr lang="en-US" sz="500" dirty="0">
                <a:solidFill>
                  <a:srgbClr val="000000"/>
                </a:solidFill>
                <a:latin typeface="Calibri" pitchFamily="34" charset="0"/>
                <a:ea typeface="Calibri" pitchFamily="34" charset="-122"/>
                <a:cs typeface="Calibri" pitchFamily="34" charset="-120"/>
              </a:rPr>
              <a:t> </a:t>
            </a:r>
            <a:endParaRPr lang="en-US" sz="1800" dirty="0"/>
          </a:p>
          <a:p>
            <a:pPr indent="0" marL="0">
              <a:buNone/>
            </a:pPr>
            <a:r>
              <a:rPr lang="en-US" sz="1250" b="1" dirty="0">
                <a:solidFill>
                  <a:srgbClr val="16323A"/>
                </a:solidFill>
                <a:latin typeface="Calibri" pitchFamily="34" charset="0"/>
                <a:ea typeface="Calibri" pitchFamily="34" charset="-122"/>
                <a:cs typeface="Calibri" pitchFamily="34" charset="-120"/>
              </a:rPr>
              <a:t>The 7 misses</a:t>
            </a:r>
            <a:endParaRPr lang="en-US" sz="1800" dirty="0"/>
          </a:p>
          <a:p>
            <a:pPr indent="0" marL="0">
              <a:buNone/>
            </a:pPr>
            <a:r>
              <a:rPr lang="en-US" sz="1150" dirty="0">
                <a:solidFill>
                  <a:srgbClr val="5B7780"/>
                </a:solidFill>
                <a:latin typeface="Calibri" pitchFamily="34" charset="0"/>
                <a:ea typeface="Calibri" pitchFamily="34" charset="-122"/>
                <a:cs typeface="Calibri" pitchFamily="34" charset="-120"/>
              </a:rPr>
              <a:t>All on hard pages, single digits in batch or expiry. Gemini scored every one at 0.95, so its confidence did not catch them.</a:t>
            </a:r>
            <a:endParaRPr lang="en-US" sz="1800" dirty="0"/>
          </a:p>
          <a:p>
            <a:pPr indent="0" marL="0">
              <a:buNone/>
            </a:pPr>
            <a:r>
              <a:rPr lang="en-US" sz="500" dirty="0">
                <a:solidFill>
                  <a:srgbClr val="000000"/>
                </a:solidFill>
                <a:latin typeface="Calibri" pitchFamily="34" charset="0"/>
                <a:ea typeface="Calibri" pitchFamily="34" charset="-122"/>
                <a:cs typeface="Calibri" pitchFamily="34" charset="-120"/>
              </a:rPr>
              <a:t> </a:t>
            </a:r>
            <a:endParaRPr lang="en-US" sz="1800" dirty="0"/>
          </a:p>
          <a:p>
            <a:pPr indent="0" marL="0">
              <a:buNone/>
            </a:pPr>
            <a:r>
              <a:rPr lang="en-US" sz="1250" b="1" dirty="0">
                <a:solidFill>
                  <a:srgbClr val="16323A"/>
                </a:solidFill>
                <a:latin typeface="Calibri" pitchFamily="34" charset="0"/>
                <a:ea typeface="Calibri" pitchFamily="34" charset="-122"/>
                <a:cs typeface="Calibri" pitchFamily="34" charset="-120"/>
              </a:rPr>
              <a:t>Our fix</a:t>
            </a:r>
            <a:endParaRPr lang="en-US" sz="1800" dirty="0"/>
          </a:p>
          <a:p>
            <a:pPr indent="0" marL="0">
              <a:buNone/>
            </a:pPr>
            <a:r>
              <a:rPr lang="en-US" sz="1150" dirty="0">
                <a:solidFill>
                  <a:srgbClr val="5B7780"/>
                </a:solidFill>
                <a:latin typeface="Calibri" pitchFamily="34" charset="0"/>
                <a:ea typeface="Calibri" pitchFamily="34" charset="-122"/>
                <a:cs typeface="Calibri" pitchFamily="34" charset="-120"/>
              </a:rPr>
              <a:t>Cross-check against batches DVDMS already lists: 7 of 7 flagged, 0 false alarms on 161 correct lines.</a:t>
            </a:r>
            <a:endParaRPr lang="en-US" sz="1800" dirty="0"/>
          </a:p>
        </p:txBody>
      </p:sp>
      <p:sp>
        <p:nvSpPr>
          <p:cNvPr id="6" name="Text 3"/>
          <p:cNvSpPr txBox="1"/>
          <p:nvPr/>
        </p:nvSpPr>
        <p:spPr>
          <a:xfrm>
            <a:off x="457200" y="4498848"/>
            <a:ext cx="8229600" cy="457200"/>
          </a:xfrm>
          <a:prstGeom prst="rect">
            <a:avLst/>
          </a:prstGeom>
          <a:noFill/>
          <a:ln/>
        </p:spPr>
        <p:txBody>
          <a:bodyPr wrap="square" lIns="0" tIns="0" rIns="0" bIns="0" rtlCol="0" anchor="t"/>
          <a:lstStyle/>
          <a:p>
            <a:pPr indent="0" marL="0">
              <a:buNone/>
            </a:pPr>
            <a:r>
              <a:rPr lang="en-US" sz="1000" i="1" dirty="0">
                <a:solidFill>
                  <a:srgbClr val="5B7780"/>
                </a:solidFill>
                <a:latin typeface="Calibri" pitchFamily="34" charset="0"/>
                <a:ea typeface="Calibri" pitchFamily="34" charset="-122"/>
                <a:cs typeface="Calibri" pitchFamily="34" charset="-120"/>
              </a:rPr>
              <a:t>Synthetic handwritten pages; real registers will be messier. The demo DVDMS is a mock seeded with the correct batches, so the cross-check shows the mechanism, not a field catch rate.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lstStyle/>
          <a:p>
            <a:pPr indent="0" marL="0">
              <a:buNone/>
            </a:pPr>
            <a:r>
              <a:rPr lang="en-US" sz="3000" b="1" dirty="0">
                <a:solidFill>
                  <a:srgbClr val="16323A"/>
                </a:solidFill>
                <a:latin typeface="Cambria" pitchFamily="34" charset="0"/>
                <a:ea typeface="Cambria" pitchFamily="34" charset="-122"/>
                <a:cs typeface="Cambria" pitchFamily="34" charset="-120"/>
              </a:rPr>
              <a:t>When it is wrong, a person catches it</a:t>
            </a:r>
            <a:endParaRPr lang="en-US" sz="3000" dirty="0"/>
          </a:p>
        </p:txBody>
      </p:sp>
      <p:sp>
        <p:nvSpPr>
          <p:cNvPr id="3" name="Shape 1"/>
          <p:cNvSpPr/>
          <p:nvPr/>
        </p:nvSpPr>
        <p:spPr>
          <a:xfrm>
            <a:off x="457200" y="1280160"/>
            <a:ext cx="2606040" cy="1417320"/>
          </a:xfrm>
          <a:prstGeom prst="roundRect">
            <a:avLst>
              <a:gd name="adj" fmla="val 7742"/>
            </a:avLst>
          </a:prstGeom>
          <a:solidFill>
            <a:srgbClr val="FFFFFF"/>
          </a:solidFill>
          <a:ln w="9525">
            <a:solidFill>
              <a:srgbClr val="DCEBE7"/>
            </a:solidFill>
            <a:prstDash val="solid"/>
          </a:ln>
          <a:effectLst>
            <a:outerShdw sx="100000" sy="100000" kx="0" ky="0" algn="bl" rotWithShape="0" blurRad="127000" dist="38100" dir="5400000">
              <a:srgbClr val="14665C">
                <a:alpha val="18000"/>
              </a:srgbClr>
            </a:outerShdw>
          </a:effectLst>
        </p:spPr>
      </p:sp>
      <p:sp>
        <p:nvSpPr>
          <p:cNvPr id="4" name="Shape 2"/>
          <p:cNvSpPr/>
          <p:nvPr/>
        </p:nvSpPr>
        <p:spPr>
          <a:xfrm>
            <a:off x="640080" y="1463040"/>
            <a:ext cx="310896" cy="310896"/>
          </a:xfrm>
          <a:prstGeom prst="ellipse">
            <a:avLst/>
          </a:prstGeom>
          <a:solidFill>
            <a:srgbClr val="F0A23B"/>
          </a:solidFill>
          <a:ln w="12700">
            <a:solidFill>
              <a:srgbClr val="F0A23B"/>
            </a:solidFill>
            <a:prstDash val="solid"/>
          </a:ln>
        </p:spPr>
      </p:sp>
      <p:sp>
        <p:nvSpPr>
          <p:cNvPr id="5" name="Text 3"/>
          <p:cNvSpPr txBox="1"/>
          <p:nvPr/>
        </p:nvSpPr>
        <p:spPr>
          <a:xfrm>
            <a:off x="1051560" y="1417320"/>
            <a:ext cx="1874520" cy="411480"/>
          </a:xfrm>
          <a:prstGeom prst="rect">
            <a:avLst/>
          </a:prstGeom>
          <a:noFill/>
          <a:ln/>
        </p:spPr>
        <p:txBody>
          <a:bodyPr wrap="square" lIns="0" tIns="0" rIns="0" bIns="0" rtlCol="0" anchor="ctr"/>
          <a:lstStyle/>
          <a:p>
            <a:pPr indent="0" marL="0">
              <a:buNone/>
            </a:pPr>
            <a:r>
              <a:rPr lang="en-US" sz="1350" b="1" dirty="0">
                <a:solidFill>
                  <a:srgbClr val="16323A"/>
                </a:solidFill>
                <a:latin typeface="Cambria" pitchFamily="34" charset="0"/>
                <a:ea typeface="Cambria" pitchFamily="34" charset="-122"/>
                <a:cs typeface="Cambria" pitchFamily="34" charset="-120"/>
              </a:rPr>
              <a:t>Unsure cell</a:t>
            </a:r>
            <a:endParaRPr lang="en-US" sz="1350" dirty="0"/>
          </a:p>
        </p:txBody>
      </p:sp>
      <p:sp>
        <p:nvSpPr>
          <p:cNvPr id="6" name="Text 4"/>
          <p:cNvSpPr txBox="1"/>
          <p:nvPr/>
        </p:nvSpPr>
        <p:spPr>
          <a:xfrm>
            <a:off x="640080" y="1920240"/>
            <a:ext cx="2286000" cy="713232"/>
          </a:xfrm>
          <a:prstGeom prst="rect">
            <a:avLst/>
          </a:prstGeom>
          <a:noFill/>
          <a:ln/>
        </p:spPr>
        <p:txBody>
          <a:bodyPr wrap="square" lIns="0" tIns="0" rIns="0" bIns="0" rtlCol="0" anchor="t"/>
          <a:lstStyle/>
          <a:p>
            <a:pPr indent="0" marL="0">
              <a:buNone/>
            </a:pPr>
            <a:r>
              <a:rPr lang="en-US" sz="1150" dirty="0">
                <a:solidFill>
                  <a:srgbClr val="5B7780"/>
                </a:solidFill>
                <a:latin typeface="Calibri" pitchFamily="34" charset="0"/>
                <a:ea typeface="Calibri" pitchFamily="34" charset="-122"/>
                <a:cs typeface="Calibri" pitchFamily="34" charset="-120"/>
              </a:rPr>
              <a:t>Highlighted yellow; the pharmacist confirms or edits it.</a:t>
            </a:r>
            <a:endParaRPr lang="en-US" sz="1150" dirty="0"/>
          </a:p>
        </p:txBody>
      </p:sp>
      <p:sp>
        <p:nvSpPr>
          <p:cNvPr id="7" name="Shape 5"/>
          <p:cNvSpPr/>
          <p:nvPr/>
        </p:nvSpPr>
        <p:spPr>
          <a:xfrm>
            <a:off x="3246120" y="1280160"/>
            <a:ext cx="2606040" cy="1417320"/>
          </a:xfrm>
          <a:prstGeom prst="roundRect">
            <a:avLst>
              <a:gd name="adj" fmla="val 7742"/>
            </a:avLst>
          </a:prstGeom>
          <a:solidFill>
            <a:srgbClr val="FFFFFF"/>
          </a:solidFill>
          <a:ln w="9525">
            <a:solidFill>
              <a:srgbClr val="DCEBE7"/>
            </a:solidFill>
            <a:prstDash val="solid"/>
          </a:ln>
          <a:effectLst>
            <a:outerShdw sx="100000" sy="100000" kx="0" ky="0" algn="bl" rotWithShape="0" blurRad="127000" dist="38100" dir="5400000">
              <a:srgbClr val="14665C">
                <a:alpha val="18000"/>
              </a:srgbClr>
            </a:outerShdw>
          </a:effectLst>
        </p:spPr>
      </p:sp>
      <p:sp>
        <p:nvSpPr>
          <p:cNvPr id="8" name="Shape 6"/>
          <p:cNvSpPr/>
          <p:nvPr/>
        </p:nvSpPr>
        <p:spPr>
          <a:xfrm>
            <a:off x="3429000" y="1463040"/>
            <a:ext cx="310896" cy="310896"/>
          </a:xfrm>
          <a:prstGeom prst="ellipse">
            <a:avLst/>
          </a:prstGeom>
          <a:solidFill>
            <a:srgbClr val="E5484D"/>
          </a:solidFill>
          <a:ln w="12700">
            <a:solidFill>
              <a:srgbClr val="E5484D"/>
            </a:solidFill>
            <a:prstDash val="solid"/>
          </a:ln>
        </p:spPr>
      </p:sp>
      <p:sp>
        <p:nvSpPr>
          <p:cNvPr id="9" name="Text 7"/>
          <p:cNvSpPr txBox="1"/>
          <p:nvPr/>
        </p:nvSpPr>
        <p:spPr>
          <a:xfrm>
            <a:off x="3840480" y="1417320"/>
            <a:ext cx="1874520" cy="411480"/>
          </a:xfrm>
          <a:prstGeom prst="rect">
            <a:avLst/>
          </a:prstGeom>
          <a:noFill/>
          <a:ln/>
        </p:spPr>
        <p:txBody>
          <a:bodyPr wrap="square" lIns="0" tIns="0" rIns="0" bIns="0" rtlCol="0" anchor="ctr"/>
          <a:lstStyle/>
          <a:p>
            <a:pPr indent="0" marL="0">
              <a:buNone/>
            </a:pPr>
            <a:r>
              <a:rPr lang="en-US" sz="1350" b="1" dirty="0">
                <a:solidFill>
                  <a:srgbClr val="16323A"/>
                </a:solidFill>
                <a:latin typeface="Cambria" pitchFamily="34" charset="0"/>
                <a:ea typeface="Cambria" pitchFamily="34" charset="-122"/>
                <a:cs typeface="Cambria" pitchFamily="34" charset="-120"/>
              </a:rPr>
              <a:t>Numbers do not add up</a:t>
            </a:r>
            <a:endParaRPr lang="en-US" sz="1350" dirty="0"/>
          </a:p>
        </p:txBody>
      </p:sp>
      <p:sp>
        <p:nvSpPr>
          <p:cNvPr id="10" name="Text 8"/>
          <p:cNvSpPr txBox="1"/>
          <p:nvPr/>
        </p:nvSpPr>
        <p:spPr>
          <a:xfrm>
            <a:off x="3429000" y="1920240"/>
            <a:ext cx="2286000" cy="713232"/>
          </a:xfrm>
          <a:prstGeom prst="rect">
            <a:avLst/>
          </a:prstGeom>
          <a:noFill/>
          <a:ln/>
        </p:spPr>
        <p:txBody>
          <a:bodyPr wrap="square" lIns="0" tIns="0" rIns="0" bIns="0" rtlCol="0" anchor="t"/>
          <a:lstStyle/>
          <a:p>
            <a:pPr indent="0" marL="0">
              <a:buNone/>
            </a:pPr>
            <a:r>
              <a:rPr lang="en-US" sz="1150" dirty="0">
                <a:solidFill>
                  <a:srgbClr val="5B7780"/>
                </a:solidFill>
                <a:latin typeface="Calibri" pitchFamily="34" charset="0"/>
                <a:ea typeface="Calibri" pitchFamily="34" charset="-122"/>
                <a:cs typeface="Calibri" pitchFamily="34" charset="-120"/>
              </a:rPr>
              <a:t>Opening + received − issued ≠ closing turns red.</a:t>
            </a:r>
            <a:endParaRPr lang="en-US" sz="1150" dirty="0"/>
          </a:p>
        </p:txBody>
      </p:sp>
      <p:sp>
        <p:nvSpPr>
          <p:cNvPr id="11" name="Shape 9"/>
          <p:cNvSpPr/>
          <p:nvPr/>
        </p:nvSpPr>
        <p:spPr>
          <a:xfrm>
            <a:off x="6035040" y="1280160"/>
            <a:ext cx="2606040" cy="1417320"/>
          </a:xfrm>
          <a:prstGeom prst="roundRect">
            <a:avLst>
              <a:gd name="adj" fmla="val 7742"/>
            </a:avLst>
          </a:prstGeom>
          <a:solidFill>
            <a:srgbClr val="FFFFFF"/>
          </a:solidFill>
          <a:ln w="9525">
            <a:solidFill>
              <a:srgbClr val="DCEBE7"/>
            </a:solidFill>
            <a:prstDash val="solid"/>
          </a:ln>
          <a:effectLst>
            <a:outerShdw sx="100000" sy="100000" kx="0" ky="0" algn="bl" rotWithShape="0" blurRad="127000" dist="38100" dir="5400000">
              <a:srgbClr val="14665C">
                <a:alpha val="18000"/>
              </a:srgbClr>
            </a:outerShdw>
          </a:effectLst>
        </p:spPr>
      </p:sp>
      <p:sp>
        <p:nvSpPr>
          <p:cNvPr id="12" name="Shape 10"/>
          <p:cNvSpPr/>
          <p:nvPr/>
        </p:nvSpPr>
        <p:spPr>
          <a:xfrm>
            <a:off x="6217920" y="1463040"/>
            <a:ext cx="310896" cy="310896"/>
          </a:xfrm>
          <a:prstGeom prst="ellipse">
            <a:avLst/>
          </a:prstGeom>
          <a:solidFill>
            <a:srgbClr val="3B9CE2"/>
          </a:solidFill>
          <a:ln w="12700">
            <a:solidFill>
              <a:srgbClr val="3B9CE2"/>
            </a:solidFill>
            <a:prstDash val="solid"/>
          </a:ln>
        </p:spPr>
      </p:sp>
      <p:sp>
        <p:nvSpPr>
          <p:cNvPr id="13" name="Text 11"/>
          <p:cNvSpPr txBox="1"/>
          <p:nvPr/>
        </p:nvSpPr>
        <p:spPr>
          <a:xfrm>
            <a:off x="6629400" y="1417320"/>
            <a:ext cx="1874520" cy="411480"/>
          </a:xfrm>
          <a:prstGeom prst="rect">
            <a:avLst/>
          </a:prstGeom>
          <a:noFill/>
          <a:ln/>
        </p:spPr>
        <p:txBody>
          <a:bodyPr wrap="square" lIns="0" tIns="0" rIns="0" bIns="0" rtlCol="0" anchor="ctr"/>
          <a:lstStyle/>
          <a:p>
            <a:pPr indent="0" marL="0">
              <a:buNone/>
            </a:pPr>
            <a:r>
              <a:rPr lang="en-US" sz="1350" b="1" dirty="0">
                <a:solidFill>
                  <a:srgbClr val="16323A"/>
                </a:solidFill>
                <a:latin typeface="Cambria" pitchFamily="34" charset="0"/>
                <a:ea typeface="Cambria" pitchFamily="34" charset="-122"/>
                <a:cs typeface="Cambria" pitchFamily="34" charset="-120"/>
              </a:rPr>
              <a:t>Batch looks off</a:t>
            </a:r>
            <a:endParaRPr lang="en-US" sz="1350" dirty="0"/>
          </a:p>
        </p:txBody>
      </p:sp>
      <p:sp>
        <p:nvSpPr>
          <p:cNvPr id="14" name="Text 12"/>
          <p:cNvSpPr txBox="1"/>
          <p:nvPr/>
        </p:nvSpPr>
        <p:spPr>
          <a:xfrm>
            <a:off x="6217920" y="1920240"/>
            <a:ext cx="2286000" cy="713232"/>
          </a:xfrm>
          <a:prstGeom prst="rect">
            <a:avLst/>
          </a:prstGeom>
          <a:noFill/>
          <a:ln/>
        </p:spPr>
        <p:txBody>
          <a:bodyPr wrap="square" lIns="0" tIns="0" rIns="0" bIns="0" rtlCol="0" anchor="t"/>
          <a:lstStyle/>
          <a:p>
            <a:pPr indent="0" marL="0">
              <a:buNone/>
            </a:pPr>
            <a:r>
              <a:rPr lang="en-US" sz="1150" dirty="0">
                <a:solidFill>
                  <a:srgbClr val="5B7780"/>
                </a:solidFill>
                <a:latin typeface="Calibri" pitchFamily="34" charset="0"/>
                <a:ea typeface="Calibri" pitchFamily="34" charset="-122"/>
                <a:cs typeface="Calibri" pitchFamily="34" charset="-120"/>
              </a:rPr>
              <a:t>Compared with DVDMS batches; “looks like BC7284” prompts a check.</a:t>
            </a:r>
            <a:endParaRPr lang="en-US" sz="1150" dirty="0"/>
          </a:p>
        </p:txBody>
      </p:sp>
      <p:sp>
        <p:nvSpPr>
          <p:cNvPr id="15" name="Shape 13"/>
          <p:cNvSpPr/>
          <p:nvPr/>
        </p:nvSpPr>
        <p:spPr>
          <a:xfrm>
            <a:off x="457200" y="2880360"/>
            <a:ext cx="2606040" cy="1417320"/>
          </a:xfrm>
          <a:prstGeom prst="roundRect">
            <a:avLst>
              <a:gd name="adj" fmla="val 7742"/>
            </a:avLst>
          </a:prstGeom>
          <a:solidFill>
            <a:srgbClr val="FFFFFF"/>
          </a:solidFill>
          <a:ln w="9525">
            <a:solidFill>
              <a:srgbClr val="DCEBE7"/>
            </a:solidFill>
            <a:prstDash val="solid"/>
          </a:ln>
          <a:effectLst>
            <a:outerShdw sx="100000" sy="100000" kx="0" ky="0" algn="bl" rotWithShape="0" blurRad="127000" dist="38100" dir="5400000">
              <a:srgbClr val="14665C">
                <a:alpha val="18000"/>
              </a:srgbClr>
            </a:outerShdw>
          </a:effectLst>
        </p:spPr>
      </p:sp>
      <p:sp>
        <p:nvSpPr>
          <p:cNvPr id="16" name="Shape 14"/>
          <p:cNvSpPr/>
          <p:nvPr/>
        </p:nvSpPr>
        <p:spPr>
          <a:xfrm>
            <a:off x="640080" y="3063240"/>
            <a:ext cx="310896" cy="310896"/>
          </a:xfrm>
          <a:prstGeom prst="ellipse">
            <a:avLst/>
          </a:prstGeom>
          <a:solidFill>
            <a:srgbClr val="167F71"/>
          </a:solidFill>
          <a:ln w="12700">
            <a:solidFill>
              <a:srgbClr val="167F71"/>
            </a:solidFill>
            <a:prstDash val="solid"/>
          </a:ln>
        </p:spPr>
      </p:sp>
      <p:sp>
        <p:nvSpPr>
          <p:cNvPr id="17" name="Text 15"/>
          <p:cNvSpPr txBox="1"/>
          <p:nvPr/>
        </p:nvSpPr>
        <p:spPr>
          <a:xfrm>
            <a:off x="1051560" y="3017520"/>
            <a:ext cx="1874520" cy="411480"/>
          </a:xfrm>
          <a:prstGeom prst="rect">
            <a:avLst/>
          </a:prstGeom>
          <a:noFill/>
          <a:ln/>
        </p:spPr>
        <p:txBody>
          <a:bodyPr wrap="square" lIns="0" tIns="0" rIns="0" bIns="0" rtlCol="0" anchor="ctr"/>
          <a:lstStyle/>
          <a:p>
            <a:pPr indent="0" marL="0">
              <a:buNone/>
            </a:pPr>
            <a:r>
              <a:rPr lang="en-US" sz="1350" b="1" dirty="0">
                <a:solidFill>
                  <a:srgbClr val="16323A"/>
                </a:solidFill>
                <a:latin typeface="Cambria" pitchFamily="34" charset="0"/>
                <a:ea typeface="Cambria" pitchFamily="34" charset="-122"/>
                <a:cs typeface="Cambria" pitchFamily="34" charset="-120"/>
              </a:rPr>
              <a:t>AI unavailable</a:t>
            </a:r>
            <a:endParaRPr lang="en-US" sz="1350" dirty="0"/>
          </a:p>
        </p:txBody>
      </p:sp>
      <p:sp>
        <p:nvSpPr>
          <p:cNvPr id="18" name="Text 16"/>
          <p:cNvSpPr txBox="1"/>
          <p:nvPr/>
        </p:nvSpPr>
        <p:spPr>
          <a:xfrm>
            <a:off x="640080" y="3520440"/>
            <a:ext cx="2286000" cy="713232"/>
          </a:xfrm>
          <a:prstGeom prst="rect">
            <a:avLst/>
          </a:prstGeom>
          <a:noFill/>
          <a:ln/>
        </p:spPr>
        <p:txBody>
          <a:bodyPr wrap="square" lIns="0" tIns="0" rIns="0" bIns="0" rtlCol="0" anchor="t"/>
          <a:lstStyle/>
          <a:p>
            <a:pPr indent="0" marL="0">
              <a:buNone/>
            </a:pPr>
            <a:r>
              <a:rPr lang="en-US" sz="1150" dirty="0">
                <a:solidFill>
                  <a:srgbClr val="5B7780"/>
                </a:solidFill>
                <a:latin typeface="Calibri" pitchFamily="34" charset="0"/>
                <a:ea typeface="Calibri" pitchFamily="34" charset="-122"/>
                <a:cs typeface="Calibri" pitchFamily="34" charset="-120"/>
              </a:rPr>
              <a:t>Clear message, nothing lost; sample pages work without the API.</a:t>
            </a:r>
            <a:endParaRPr lang="en-US" sz="1150" dirty="0"/>
          </a:p>
        </p:txBody>
      </p:sp>
      <p:sp>
        <p:nvSpPr>
          <p:cNvPr id="19" name="Shape 17"/>
          <p:cNvSpPr/>
          <p:nvPr/>
        </p:nvSpPr>
        <p:spPr>
          <a:xfrm>
            <a:off x="3246120" y="2880360"/>
            <a:ext cx="2606040" cy="1417320"/>
          </a:xfrm>
          <a:prstGeom prst="roundRect">
            <a:avLst>
              <a:gd name="adj" fmla="val 7742"/>
            </a:avLst>
          </a:prstGeom>
          <a:solidFill>
            <a:srgbClr val="FFFFFF"/>
          </a:solidFill>
          <a:ln w="9525">
            <a:solidFill>
              <a:srgbClr val="DCEBE7"/>
            </a:solidFill>
            <a:prstDash val="solid"/>
          </a:ln>
          <a:effectLst>
            <a:outerShdw sx="100000" sy="100000" kx="0" ky="0" algn="bl" rotWithShape="0" blurRad="127000" dist="38100" dir="5400000">
              <a:srgbClr val="14665C">
                <a:alpha val="18000"/>
              </a:srgbClr>
            </a:outerShdw>
          </a:effectLst>
        </p:spPr>
      </p:sp>
      <p:sp>
        <p:nvSpPr>
          <p:cNvPr id="20" name="Shape 18"/>
          <p:cNvSpPr/>
          <p:nvPr/>
        </p:nvSpPr>
        <p:spPr>
          <a:xfrm>
            <a:off x="3429000" y="3063240"/>
            <a:ext cx="310896" cy="310896"/>
          </a:xfrm>
          <a:prstGeom prst="ellipse">
            <a:avLst/>
          </a:prstGeom>
          <a:solidFill>
            <a:srgbClr val="167F71"/>
          </a:solidFill>
          <a:ln w="12700">
            <a:solidFill>
              <a:srgbClr val="167F71"/>
            </a:solidFill>
            <a:prstDash val="solid"/>
          </a:ln>
        </p:spPr>
      </p:sp>
      <p:sp>
        <p:nvSpPr>
          <p:cNvPr id="21" name="Text 19"/>
          <p:cNvSpPr txBox="1"/>
          <p:nvPr/>
        </p:nvSpPr>
        <p:spPr>
          <a:xfrm>
            <a:off x="3840480" y="3017520"/>
            <a:ext cx="1874520" cy="411480"/>
          </a:xfrm>
          <a:prstGeom prst="rect">
            <a:avLst/>
          </a:prstGeom>
          <a:noFill/>
          <a:ln/>
        </p:spPr>
        <p:txBody>
          <a:bodyPr wrap="square" lIns="0" tIns="0" rIns="0" bIns="0" rtlCol="0" anchor="ctr"/>
          <a:lstStyle/>
          <a:p>
            <a:pPr indent="0" marL="0">
              <a:buNone/>
            </a:pPr>
            <a:r>
              <a:rPr lang="en-US" sz="1350" b="1" dirty="0">
                <a:solidFill>
                  <a:srgbClr val="16323A"/>
                </a:solidFill>
                <a:latin typeface="Cambria" pitchFamily="34" charset="0"/>
                <a:ea typeface="Cambria" pitchFamily="34" charset="-122"/>
                <a:cs typeface="Cambria" pitchFamily="34" charset="-120"/>
              </a:rPr>
              <a:t>Alert wording</a:t>
            </a:r>
            <a:endParaRPr lang="en-US" sz="1350" dirty="0"/>
          </a:p>
        </p:txBody>
      </p:sp>
      <p:sp>
        <p:nvSpPr>
          <p:cNvPr id="22" name="Text 20"/>
          <p:cNvSpPr txBox="1"/>
          <p:nvPr/>
        </p:nvSpPr>
        <p:spPr>
          <a:xfrm>
            <a:off x="3429000" y="3520440"/>
            <a:ext cx="2286000" cy="713232"/>
          </a:xfrm>
          <a:prstGeom prst="rect">
            <a:avLst/>
          </a:prstGeom>
          <a:noFill/>
          <a:ln/>
        </p:spPr>
        <p:txBody>
          <a:bodyPr wrap="square" lIns="0" tIns="0" rIns="0" bIns="0" rtlCol="0" anchor="t"/>
          <a:lstStyle/>
          <a:p>
            <a:pPr indent="0" marL="0">
              <a:buNone/>
            </a:pPr>
            <a:r>
              <a:rPr lang="en-US" sz="1150" dirty="0">
                <a:solidFill>
                  <a:srgbClr val="5B7780"/>
                </a:solidFill>
                <a:latin typeface="Calibri" pitchFamily="34" charset="0"/>
                <a:ea typeface="Calibri" pitchFamily="34" charset="-122"/>
                <a:cs typeface="Calibri" pitchFamily="34" charset="-120"/>
              </a:rPr>
              <a:t>Written only from computed numbers; the pharmacist sends it.</a:t>
            </a:r>
            <a:endParaRPr lang="en-US" sz="1150" dirty="0"/>
          </a:p>
        </p:txBody>
      </p:sp>
      <p:sp>
        <p:nvSpPr>
          <p:cNvPr id="23" name="Shape 21"/>
          <p:cNvSpPr/>
          <p:nvPr/>
        </p:nvSpPr>
        <p:spPr>
          <a:xfrm>
            <a:off x="6035040" y="2880360"/>
            <a:ext cx="2606040" cy="1417320"/>
          </a:xfrm>
          <a:prstGeom prst="roundRect">
            <a:avLst>
              <a:gd name="adj" fmla="val 7742"/>
            </a:avLst>
          </a:prstGeom>
          <a:solidFill>
            <a:srgbClr val="FFFFFF"/>
          </a:solidFill>
          <a:ln w="9525">
            <a:solidFill>
              <a:srgbClr val="DCEBE7"/>
            </a:solidFill>
            <a:prstDash val="solid"/>
          </a:ln>
          <a:effectLst>
            <a:outerShdw sx="100000" sy="100000" kx="0" ky="0" algn="bl" rotWithShape="0" blurRad="127000" dist="38100" dir="5400000">
              <a:srgbClr val="14665C">
                <a:alpha val="18000"/>
              </a:srgbClr>
            </a:outerShdw>
          </a:effectLst>
        </p:spPr>
      </p:sp>
      <p:sp>
        <p:nvSpPr>
          <p:cNvPr id="24" name="Shape 22"/>
          <p:cNvSpPr/>
          <p:nvPr/>
        </p:nvSpPr>
        <p:spPr>
          <a:xfrm>
            <a:off x="6217920" y="3063240"/>
            <a:ext cx="310896" cy="310896"/>
          </a:xfrm>
          <a:prstGeom prst="ellipse">
            <a:avLst/>
          </a:prstGeom>
          <a:solidFill>
            <a:srgbClr val="0B3F39"/>
          </a:solidFill>
          <a:ln w="12700">
            <a:solidFill>
              <a:srgbClr val="0B3F39"/>
            </a:solidFill>
            <a:prstDash val="solid"/>
          </a:ln>
        </p:spPr>
      </p:sp>
      <p:sp>
        <p:nvSpPr>
          <p:cNvPr id="25" name="Text 23"/>
          <p:cNvSpPr txBox="1"/>
          <p:nvPr/>
        </p:nvSpPr>
        <p:spPr>
          <a:xfrm>
            <a:off x="6629400" y="3017520"/>
            <a:ext cx="1874520" cy="411480"/>
          </a:xfrm>
          <a:prstGeom prst="rect">
            <a:avLst/>
          </a:prstGeom>
          <a:noFill/>
          <a:ln/>
        </p:spPr>
        <p:txBody>
          <a:bodyPr wrap="square" lIns="0" tIns="0" rIns="0" bIns="0" rtlCol="0" anchor="ctr"/>
          <a:lstStyle/>
          <a:p>
            <a:pPr indent="0" marL="0">
              <a:buNone/>
            </a:pPr>
            <a:r>
              <a:rPr lang="en-US" sz="1350" b="1" dirty="0">
                <a:solidFill>
                  <a:srgbClr val="16323A"/>
                </a:solidFill>
                <a:latin typeface="Cambria" pitchFamily="34" charset="0"/>
                <a:ea typeface="Cambria" pitchFamily="34" charset="-122"/>
                <a:cs typeface="Cambria" pitchFamily="34" charset="-120"/>
              </a:rPr>
              <a:t>Upload to DVDMS</a:t>
            </a:r>
            <a:endParaRPr lang="en-US" sz="1350" dirty="0"/>
          </a:p>
        </p:txBody>
      </p:sp>
      <p:sp>
        <p:nvSpPr>
          <p:cNvPr id="26" name="Text 24"/>
          <p:cNvSpPr txBox="1"/>
          <p:nvPr/>
        </p:nvSpPr>
        <p:spPr>
          <a:xfrm>
            <a:off x="6217920" y="3520440"/>
            <a:ext cx="2286000" cy="713232"/>
          </a:xfrm>
          <a:prstGeom prst="rect">
            <a:avLst/>
          </a:prstGeom>
          <a:noFill/>
          <a:ln/>
        </p:spPr>
        <p:txBody>
          <a:bodyPr wrap="square" lIns="0" tIns="0" rIns="0" bIns="0" rtlCol="0" anchor="t"/>
          <a:lstStyle/>
          <a:p>
            <a:pPr indent="0" marL="0">
              <a:buNone/>
            </a:pPr>
            <a:r>
              <a:rPr lang="en-US" sz="1150" dirty="0">
                <a:solidFill>
                  <a:srgbClr val="5B7780"/>
                </a:solidFill>
                <a:latin typeface="Calibri" pitchFamily="34" charset="0"/>
                <a:ea typeface="Calibri" pitchFamily="34" charset="-122"/>
                <a:cs typeface="Calibri" pitchFamily="34" charset="-120"/>
              </a:rPr>
              <a:t>Never automatic: the file is downloaded and reviewed first.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AF7"/>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lstStyle/>
          <a:p>
            <a:pPr indent="0" marL="0">
              <a:buNone/>
            </a:pPr>
            <a:r>
              <a:rPr lang="en-US" sz="3000" b="1" dirty="0">
                <a:solidFill>
                  <a:srgbClr val="16323A"/>
                </a:solidFill>
                <a:latin typeface="Cambria" pitchFamily="34" charset="0"/>
                <a:ea typeface="Cambria" pitchFamily="34" charset="-122"/>
                <a:cs typeface="Cambria" pitchFamily="34" charset="-120"/>
              </a:rPr>
              <a:t>Pilot-ready in four weeks</a:t>
            </a:r>
            <a:endParaRPr lang="en-US" sz="3000" dirty="0"/>
          </a:p>
        </p:txBody>
      </p:sp>
      <p:sp>
        <p:nvSpPr>
          <p:cNvPr id="3" name="Shape 1"/>
          <p:cNvSpPr/>
          <p:nvPr/>
        </p:nvSpPr>
        <p:spPr>
          <a:xfrm>
            <a:off x="457200" y="1325880"/>
            <a:ext cx="1920240" cy="1920240"/>
          </a:xfrm>
          <a:prstGeom prst="roundRect">
            <a:avLst>
              <a:gd name="adj" fmla="val 5714"/>
            </a:avLst>
          </a:prstGeom>
          <a:solidFill>
            <a:srgbClr val="FFFFFF"/>
          </a:solidFill>
          <a:ln w="9525">
            <a:solidFill>
              <a:srgbClr val="DCEBE7"/>
            </a:solidFill>
            <a:prstDash val="solid"/>
          </a:ln>
          <a:effectLst>
            <a:outerShdw sx="100000" sy="100000" kx="0" ky="0" algn="bl" rotWithShape="0" blurRad="127000" dist="38100" dir="5400000">
              <a:srgbClr val="14665C">
                <a:alpha val="18000"/>
              </a:srgbClr>
            </a:outerShdw>
          </a:effectLst>
        </p:spPr>
      </p:sp>
      <p:sp>
        <p:nvSpPr>
          <p:cNvPr id="4" name="Text 2"/>
          <p:cNvSpPr txBox="1"/>
          <p:nvPr/>
        </p:nvSpPr>
        <p:spPr>
          <a:xfrm>
            <a:off x="640080" y="1463040"/>
            <a:ext cx="1554480" cy="365760"/>
          </a:xfrm>
          <a:prstGeom prst="rect">
            <a:avLst/>
          </a:prstGeom>
          <a:noFill/>
          <a:ln/>
        </p:spPr>
        <p:txBody>
          <a:bodyPr wrap="square" lIns="0" tIns="0" rIns="0" bIns="0" rtlCol="0" anchor="ctr"/>
          <a:lstStyle/>
          <a:p>
            <a:pPr indent="0" marL="0">
              <a:buNone/>
            </a:pPr>
            <a:r>
              <a:rPr lang="en-US" sz="1600" b="1" dirty="0">
                <a:solidFill>
                  <a:srgbClr val="167F71"/>
                </a:solidFill>
                <a:latin typeface="Cambria" pitchFamily="34" charset="0"/>
                <a:ea typeface="Cambria" pitchFamily="34" charset="-122"/>
                <a:cs typeface="Cambria" pitchFamily="34" charset="-120"/>
              </a:rPr>
              <a:t>Week 1</a:t>
            </a:r>
            <a:endParaRPr lang="en-US" sz="1600" dirty="0"/>
          </a:p>
        </p:txBody>
      </p:sp>
      <p:sp>
        <p:nvSpPr>
          <p:cNvPr id="5" name="Text 3"/>
          <p:cNvSpPr txBox="1"/>
          <p:nvPr/>
        </p:nvSpPr>
        <p:spPr>
          <a:xfrm>
            <a:off x="640080" y="1874520"/>
            <a:ext cx="1554480" cy="1280160"/>
          </a:xfrm>
          <a:prstGeom prst="rect">
            <a:avLst/>
          </a:prstGeom>
          <a:noFill/>
          <a:ln/>
        </p:spPr>
        <p:txBody>
          <a:bodyPr wrap="square" lIns="0" tIns="0" rIns="0" bIns="0" rtlCol="0" anchor="t"/>
          <a:lstStyle/>
          <a:p>
            <a:pPr indent="0" marL="0">
              <a:buNone/>
            </a:pPr>
            <a:r>
              <a:rPr lang="en-US" sz="1150" dirty="0">
                <a:solidFill>
                  <a:srgbClr val="5B7780"/>
                </a:solidFill>
                <a:latin typeface="Calibri" pitchFamily="34" charset="0"/>
                <a:ea typeface="Calibri" pitchFamily="34" charset="-122"/>
                <a:cs typeface="Calibri" pitchFamily="34" charset="-120"/>
              </a:rPr>
              <a:t>Collect real register photos from 3–5 PHCs in one district. Measure accuracy.</a:t>
            </a:r>
            <a:endParaRPr lang="en-US" sz="1150" dirty="0"/>
          </a:p>
        </p:txBody>
      </p:sp>
      <p:sp>
        <p:nvSpPr>
          <p:cNvPr id="6" name="Shape 4"/>
          <p:cNvSpPr/>
          <p:nvPr/>
        </p:nvSpPr>
        <p:spPr>
          <a:xfrm>
            <a:off x="2578608" y="1325880"/>
            <a:ext cx="1920240" cy="1920240"/>
          </a:xfrm>
          <a:prstGeom prst="roundRect">
            <a:avLst>
              <a:gd name="adj" fmla="val 5714"/>
            </a:avLst>
          </a:prstGeom>
          <a:solidFill>
            <a:srgbClr val="FFFFFF"/>
          </a:solidFill>
          <a:ln w="9525">
            <a:solidFill>
              <a:srgbClr val="DCEBE7"/>
            </a:solidFill>
            <a:prstDash val="solid"/>
          </a:ln>
          <a:effectLst>
            <a:outerShdw sx="100000" sy="100000" kx="0" ky="0" algn="bl" rotWithShape="0" blurRad="127000" dist="38100" dir="5400000">
              <a:srgbClr val="14665C">
                <a:alpha val="18000"/>
              </a:srgbClr>
            </a:outerShdw>
          </a:effectLst>
        </p:spPr>
      </p:sp>
      <p:sp>
        <p:nvSpPr>
          <p:cNvPr id="7" name="Text 5"/>
          <p:cNvSpPr txBox="1"/>
          <p:nvPr/>
        </p:nvSpPr>
        <p:spPr>
          <a:xfrm>
            <a:off x="2761488" y="1463040"/>
            <a:ext cx="1554480" cy="365760"/>
          </a:xfrm>
          <a:prstGeom prst="rect">
            <a:avLst/>
          </a:prstGeom>
          <a:noFill/>
          <a:ln/>
        </p:spPr>
        <p:txBody>
          <a:bodyPr wrap="square" lIns="0" tIns="0" rIns="0" bIns="0" rtlCol="0" anchor="ctr"/>
          <a:lstStyle/>
          <a:p>
            <a:pPr indent="0" marL="0">
              <a:buNone/>
            </a:pPr>
            <a:r>
              <a:rPr lang="en-US" sz="1600" b="1" dirty="0">
                <a:solidFill>
                  <a:srgbClr val="167F71"/>
                </a:solidFill>
                <a:latin typeface="Cambria" pitchFamily="34" charset="0"/>
                <a:ea typeface="Cambria" pitchFamily="34" charset="-122"/>
                <a:cs typeface="Cambria" pitchFamily="34" charset="-120"/>
              </a:rPr>
              <a:t>Week 2</a:t>
            </a:r>
            <a:endParaRPr lang="en-US" sz="1600" dirty="0"/>
          </a:p>
        </p:txBody>
      </p:sp>
      <p:sp>
        <p:nvSpPr>
          <p:cNvPr id="8" name="Text 6"/>
          <p:cNvSpPr txBox="1"/>
          <p:nvPr/>
        </p:nvSpPr>
        <p:spPr>
          <a:xfrm>
            <a:off x="2761488" y="1874520"/>
            <a:ext cx="1554480" cy="1280160"/>
          </a:xfrm>
          <a:prstGeom prst="rect">
            <a:avLst/>
          </a:prstGeom>
          <a:noFill/>
          <a:ln/>
        </p:spPr>
        <p:txBody>
          <a:bodyPr wrap="square" lIns="0" tIns="0" rIns="0" bIns="0" rtlCol="0" anchor="t"/>
          <a:lstStyle/>
          <a:p>
            <a:pPr indent="0" marL="0">
              <a:buNone/>
            </a:pPr>
            <a:r>
              <a:rPr lang="en-US" sz="1150" dirty="0">
                <a:solidFill>
                  <a:srgbClr val="5B7780"/>
                </a:solidFill>
                <a:latin typeface="Calibri" pitchFamily="34" charset="0"/>
                <a:ea typeface="Calibri" pitchFamily="34" charset="-122"/>
                <a:cs typeface="Calibri" pitchFamily="34" charset="-120"/>
              </a:rPr>
              <a:t>Map each register template. Match DVDMS bulk-entry fields with the state IT team.</a:t>
            </a:r>
            <a:endParaRPr lang="en-US" sz="1150" dirty="0"/>
          </a:p>
        </p:txBody>
      </p:sp>
      <p:sp>
        <p:nvSpPr>
          <p:cNvPr id="9" name="Shape 7"/>
          <p:cNvSpPr/>
          <p:nvPr/>
        </p:nvSpPr>
        <p:spPr>
          <a:xfrm>
            <a:off x="4700016" y="1325880"/>
            <a:ext cx="1920240" cy="1920240"/>
          </a:xfrm>
          <a:prstGeom prst="roundRect">
            <a:avLst>
              <a:gd name="adj" fmla="val 5714"/>
            </a:avLst>
          </a:prstGeom>
          <a:solidFill>
            <a:srgbClr val="FFFFFF"/>
          </a:solidFill>
          <a:ln w="9525">
            <a:solidFill>
              <a:srgbClr val="DCEBE7"/>
            </a:solidFill>
            <a:prstDash val="solid"/>
          </a:ln>
          <a:effectLst>
            <a:outerShdw sx="100000" sy="100000" kx="0" ky="0" algn="bl" rotWithShape="0" blurRad="127000" dist="38100" dir="5400000">
              <a:srgbClr val="14665C">
                <a:alpha val="18000"/>
              </a:srgbClr>
            </a:outerShdw>
          </a:effectLst>
        </p:spPr>
      </p:sp>
      <p:sp>
        <p:nvSpPr>
          <p:cNvPr id="10" name="Text 8"/>
          <p:cNvSpPr txBox="1"/>
          <p:nvPr/>
        </p:nvSpPr>
        <p:spPr>
          <a:xfrm>
            <a:off x="4882896" y="1463040"/>
            <a:ext cx="1554480" cy="365760"/>
          </a:xfrm>
          <a:prstGeom prst="rect">
            <a:avLst/>
          </a:prstGeom>
          <a:noFill/>
          <a:ln/>
        </p:spPr>
        <p:txBody>
          <a:bodyPr wrap="square" lIns="0" tIns="0" rIns="0" bIns="0" rtlCol="0" anchor="ctr"/>
          <a:lstStyle/>
          <a:p>
            <a:pPr indent="0" marL="0">
              <a:buNone/>
            </a:pPr>
            <a:r>
              <a:rPr lang="en-US" sz="1600" b="1" dirty="0">
                <a:solidFill>
                  <a:srgbClr val="167F71"/>
                </a:solidFill>
                <a:latin typeface="Cambria" pitchFamily="34" charset="0"/>
                <a:ea typeface="Cambria" pitchFamily="34" charset="-122"/>
                <a:cs typeface="Cambria" pitchFamily="34" charset="-120"/>
              </a:rPr>
              <a:t>Week 3</a:t>
            </a:r>
            <a:endParaRPr lang="en-US" sz="1600" dirty="0"/>
          </a:p>
        </p:txBody>
      </p:sp>
      <p:sp>
        <p:nvSpPr>
          <p:cNvPr id="11" name="Text 9"/>
          <p:cNvSpPr txBox="1"/>
          <p:nvPr/>
        </p:nvSpPr>
        <p:spPr>
          <a:xfrm>
            <a:off x="4882896" y="1874520"/>
            <a:ext cx="1554480" cy="1280160"/>
          </a:xfrm>
          <a:prstGeom prst="rect">
            <a:avLst/>
          </a:prstGeom>
          <a:noFill/>
          <a:ln/>
        </p:spPr>
        <p:txBody>
          <a:bodyPr wrap="square" lIns="0" tIns="0" rIns="0" bIns="0" rtlCol="0" anchor="t"/>
          <a:lstStyle/>
          <a:p>
            <a:pPr indent="0" marL="0">
              <a:buNone/>
            </a:pPr>
            <a:r>
              <a:rPr lang="en-US" sz="1150" dirty="0">
                <a:solidFill>
                  <a:srgbClr val="5B7780"/>
                </a:solidFill>
                <a:latin typeface="Calibri" pitchFamily="34" charset="0"/>
                <a:ea typeface="Calibri" pitchFamily="34" charset="-122"/>
                <a:cs typeface="Calibri" pitchFamily="34" charset="-120"/>
              </a:rPr>
              <a:t>Shadow mode: run beside the current process and compare stock numbers.</a:t>
            </a:r>
            <a:endParaRPr lang="en-US" sz="1150" dirty="0"/>
          </a:p>
        </p:txBody>
      </p:sp>
      <p:sp>
        <p:nvSpPr>
          <p:cNvPr id="12" name="Shape 10"/>
          <p:cNvSpPr/>
          <p:nvPr/>
        </p:nvSpPr>
        <p:spPr>
          <a:xfrm>
            <a:off x="6821424" y="1325880"/>
            <a:ext cx="1920240" cy="1920240"/>
          </a:xfrm>
          <a:prstGeom prst="roundRect">
            <a:avLst>
              <a:gd name="adj" fmla="val 5714"/>
            </a:avLst>
          </a:prstGeom>
          <a:solidFill>
            <a:srgbClr val="FFFFFF"/>
          </a:solidFill>
          <a:ln w="9525">
            <a:solidFill>
              <a:srgbClr val="DCEBE7"/>
            </a:solidFill>
            <a:prstDash val="solid"/>
          </a:ln>
          <a:effectLst>
            <a:outerShdw sx="100000" sy="100000" kx="0" ky="0" algn="bl" rotWithShape="0" blurRad="127000" dist="38100" dir="5400000">
              <a:srgbClr val="14665C">
                <a:alpha val="18000"/>
              </a:srgbClr>
            </a:outerShdw>
          </a:effectLst>
        </p:spPr>
      </p:sp>
      <p:sp>
        <p:nvSpPr>
          <p:cNvPr id="13" name="Text 11"/>
          <p:cNvSpPr txBox="1"/>
          <p:nvPr/>
        </p:nvSpPr>
        <p:spPr>
          <a:xfrm>
            <a:off x="7004304" y="1463040"/>
            <a:ext cx="1554480" cy="365760"/>
          </a:xfrm>
          <a:prstGeom prst="rect">
            <a:avLst/>
          </a:prstGeom>
          <a:noFill/>
          <a:ln/>
        </p:spPr>
        <p:txBody>
          <a:bodyPr wrap="square" lIns="0" tIns="0" rIns="0" bIns="0" rtlCol="0" anchor="ctr"/>
          <a:lstStyle/>
          <a:p>
            <a:pPr indent="0" marL="0">
              <a:buNone/>
            </a:pPr>
            <a:r>
              <a:rPr lang="en-US" sz="1600" b="1" dirty="0">
                <a:solidFill>
                  <a:srgbClr val="167F71"/>
                </a:solidFill>
                <a:latin typeface="Cambria" pitchFamily="34" charset="0"/>
                <a:ea typeface="Cambria" pitchFamily="34" charset="-122"/>
                <a:cs typeface="Cambria" pitchFamily="34" charset="-120"/>
              </a:rPr>
              <a:t>Week 4</a:t>
            </a:r>
            <a:endParaRPr lang="en-US" sz="1600" dirty="0"/>
          </a:p>
        </p:txBody>
      </p:sp>
      <p:sp>
        <p:nvSpPr>
          <p:cNvPr id="14" name="Text 12"/>
          <p:cNvSpPr txBox="1"/>
          <p:nvPr/>
        </p:nvSpPr>
        <p:spPr>
          <a:xfrm>
            <a:off x="7004304" y="1874520"/>
            <a:ext cx="1554480" cy="1280160"/>
          </a:xfrm>
          <a:prstGeom prst="rect">
            <a:avLst/>
          </a:prstGeom>
          <a:noFill/>
          <a:ln/>
        </p:spPr>
        <p:txBody>
          <a:bodyPr wrap="square" lIns="0" tIns="0" rIns="0" bIns="0" rtlCol="0" anchor="t"/>
          <a:lstStyle/>
          <a:p>
            <a:pPr indent="0" marL="0">
              <a:buNone/>
            </a:pPr>
            <a:r>
              <a:rPr lang="en-US" sz="1150" dirty="0">
                <a:solidFill>
                  <a:srgbClr val="5B7780"/>
                </a:solidFill>
                <a:latin typeface="Calibri" pitchFamily="34" charset="0"/>
                <a:ea typeface="Calibri" pitchFamily="34" charset="-122"/>
                <a:cs typeface="Calibri" pitchFamily="34" charset="-120"/>
              </a:rPr>
              <a:t>Go live with pharmacists, district officer sign-off on alerts.</a:t>
            </a:r>
            <a:endParaRPr lang="en-US" sz="1150" dirty="0"/>
          </a:p>
        </p:txBody>
      </p:sp>
      <p:sp>
        <p:nvSpPr>
          <p:cNvPr id="15" name="Text 13"/>
          <p:cNvSpPr txBox="1"/>
          <p:nvPr/>
        </p:nvSpPr>
        <p:spPr>
          <a:xfrm>
            <a:off x="457200" y="3520440"/>
            <a:ext cx="8229600" cy="822960"/>
          </a:xfrm>
          <a:prstGeom prst="rect">
            <a:avLst/>
          </a:prstGeom>
          <a:noFill/>
          <a:ln/>
        </p:spPr>
        <p:txBody>
          <a:bodyPr wrap="square" lIns="0" tIns="0" rIns="0" bIns="0" rtlCol="0" anchor="t"/>
          <a:lstStyle/>
          <a:p>
            <a:pPr indent="0" marL="0">
              <a:buNone/>
            </a:pPr>
            <a:r>
              <a:rPr lang="en-US" sz="1400" b="1" dirty="0">
                <a:solidFill>
                  <a:srgbClr val="16323A"/>
                </a:solidFill>
                <a:latin typeface="Calibri" pitchFamily="34" charset="0"/>
                <a:ea typeface="Calibri" pitchFamily="34" charset="-122"/>
                <a:cs typeface="Calibri" pitchFamily="34" charset="-120"/>
              </a:rPr>
              <a:t>What it needs: </a:t>
            </a:r>
            <a:pPr indent="0" marL="0">
              <a:buNone/>
            </a:pPr>
            <a:r>
              <a:rPr lang="en-US" sz="1400" dirty="0">
                <a:solidFill>
                  <a:srgbClr val="5B7780"/>
                </a:solidFill>
                <a:latin typeface="Calibri" pitchFamily="34" charset="0"/>
                <a:ea typeface="Calibri" pitchFamily="34" charset="-122"/>
                <a:cs typeface="Calibri" pitchFamily="34" charset="-120"/>
              </a:rPr>
              <a:t>a phone camera, a browser, a Gemini API key. It reads the register that already exists and outputs a bulk-entry file for the existing system, so there is no new hardware and no new workflow to learn.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lstStyle/>
          <a:p>
            <a:pPr indent="0" marL="0">
              <a:buNone/>
            </a:pPr>
            <a:r>
              <a:rPr lang="en-US" sz="3000" b="1" dirty="0">
                <a:solidFill>
                  <a:srgbClr val="16323A"/>
                </a:solidFill>
                <a:latin typeface="Cambria" pitchFamily="34" charset="0"/>
                <a:ea typeface="Cambria" pitchFamily="34" charset="-122"/>
                <a:cs typeface="Cambria" pitchFamily="34" charset="-120"/>
              </a:rPr>
              <a:t>Built to travel across states and BRICS nations</a:t>
            </a:r>
            <a:endParaRPr lang="en-US" sz="3000" dirty="0"/>
          </a:p>
        </p:txBody>
      </p:sp>
      <p:sp>
        <p:nvSpPr>
          <p:cNvPr id="3" name="Shape 1"/>
          <p:cNvSpPr/>
          <p:nvPr/>
        </p:nvSpPr>
        <p:spPr>
          <a:xfrm>
            <a:off x="457200" y="1280160"/>
            <a:ext cx="2606040" cy="2377440"/>
          </a:xfrm>
          <a:prstGeom prst="roundRect">
            <a:avLst>
              <a:gd name="adj" fmla="val 4615"/>
            </a:avLst>
          </a:prstGeom>
          <a:solidFill>
            <a:srgbClr val="FFFFFF"/>
          </a:solidFill>
          <a:ln w="9525">
            <a:solidFill>
              <a:srgbClr val="DCEBE7"/>
            </a:solidFill>
            <a:prstDash val="solid"/>
          </a:ln>
          <a:effectLst>
            <a:outerShdw sx="100000" sy="100000" kx="0" ky="0" algn="bl" rotWithShape="0" blurRad="127000" dist="38100" dir="5400000">
              <a:srgbClr val="14665C">
                <a:alpha val="18000"/>
              </a:srgbClr>
            </a:outerShdw>
          </a:effectLst>
        </p:spPr>
      </p:sp>
      <p:sp>
        <p:nvSpPr>
          <p:cNvPr id="4" name="Shape 2"/>
          <p:cNvSpPr/>
          <p:nvPr/>
        </p:nvSpPr>
        <p:spPr>
          <a:xfrm>
            <a:off x="640080" y="1463040"/>
            <a:ext cx="365760" cy="365760"/>
          </a:xfrm>
          <a:prstGeom prst="ellipse">
            <a:avLst/>
          </a:prstGeom>
          <a:solidFill>
            <a:srgbClr val="3B9CE2"/>
          </a:solidFill>
          <a:ln w="12700">
            <a:solidFill>
              <a:srgbClr val="3B9CE2"/>
            </a:solidFill>
            <a:prstDash val="solid"/>
          </a:ln>
        </p:spPr>
      </p:sp>
      <p:sp>
        <p:nvSpPr>
          <p:cNvPr id="5" name="Text 3"/>
          <p:cNvSpPr txBox="1"/>
          <p:nvPr/>
        </p:nvSpPr>
        <p:spPr>
          <a:xfrm>
            <a:off x="1143000" y="1463040"/>
            <a:ext cx="1783080" cy="365760"/>
          </a:xfrm>
          <a:prstGeom prst="rect">
            <a:avLst/>
          </a:prstGeom>
          <a:noFill/>
          <a:ln/>
        </p:spPr>
        <p:txBody>
          <a:bodyPr wrap="square" lIns="0" tIns="0" rIns="0" bIns="0" rtlCol="0" anchor="ctr"/>
          <a:lstStyle/>
          <a:p>
            <a:pPr indent="0" marL="0">
              <a:buNone/>
            </a:pPr>
            <a:r>
              <a:rPr lang="en-US" sz="1500" b="1" dirty="0">
                <a:solidFill>
                  <a:srgbClr val="16323A"/>
                </a:solidFill>
                <a:latin typeface="Cambria" pitchFamily="34" charset="0"/>
                <a:ea typeface="Cambria" pitchFamily="34" charset="-122"/>
                <a:cs typeface="Cambria" pitchFamily="34" charset="-120"/>
              </a:rPr>
              <a:t>Language</a:t>
            </a:r>
            <a:endParaRPr lang="en-US" sz="1500" dirty="0"/>
          </a:p>
        </p:txBody>
      </p:sp>
      <p:sp>
        <p:nvSpPr>
          <p:cNvPr id="6" name="Text 4"/>
          <p:cNvSpPr txBox="1"/>
          <p:nvPr/>
        </p:nvSpPr>
        <p:spPr>
          <a:xfrm>
            <a:off x="640080" y="2011680"/>
            <a:ext cx="2286000" cy="914400"/>
          </a:xfrm>
          <a:prstGeom prst="rect">
            <a:avLst/>
          </a:prstGeom>
          <a:noFill/>
          <a:ln/>
        </p:spPr>
        <p:txBody>
          <a:bodyPr wrap="square" lIns="0" tIns="0" rIns="0" bIns="0" rtlCol="0" anchor="t"/>
          <a:lstStyle/>
          <a:p>
            <a:pPr indent="0" marL="0">
              <a:buNone/>
            </a:pPr>
            <a:r>
              <a:rPr lang="en-US" sz="1200" dirty="0">
                <a:solidFill>
                  <a:srgbClr val="5B7780"/>
                </a:solidFill>
                <a:latin typeface="Calibri" pitchFamily="34" charset="0"/>
                <a:ea typeface="Calibri" pitchFamily="34" charset="-122"/>
                <a:cs typeface="Calibri" pitchFamily="34" charset="-120"/>
              </a:rPr>
              <a:t>Phase 2: alerts and screens in the PHC's state language.</a:t>
            </a:r>
            <a:endParaRPr lang="en-US" sz="1200" dirty="0"/>
          </a:p>
        </p:txBody>
      </p:sp>
      <p:sp>
        <p:nvSpPr>
          <p:cNvPr id="7" name="Text 5"/>
          <p:cNvSpPr txBox="1"/>
          <p:nvPr/>
        </p:nvSpPr>
        <p:spPr>
          <a:xfrm>
            <a:off x="640080" y="2926080"/>
            <a:ext cx="2286000" cy="685800"/>
          </a:xfrm>
          <a:prstGeom prst="rect">
            <a:avLst/>
          </a:prstGeom>
          <a:noFill/>
          <a:ln/>
        </p:spPr>
        <p:txBody>
          <a:bodyPr wrap="square" lIns="0" tIns="0" rIns="0" bIns="0" rtlCol="0" anchor="t"/>
          <a:lstStyle/>
          <a:p>
            <a:pPr indent="0" marL="0">
              <a:buNone/>
            </a:pPr>
            <a:r>
              <a:rPr lang="en-US" sz="1000" b="1" dirty="0">
                <a:solidFill>
                  <a:srgbClr val="3B9CE2"/>
                </a:solidFill>
                <a:latin typeface="Nirmala UI" pitchFamily="34" charset="0"/>
                <a:ea typeface="Nirmala UI" pitchFamily="34" charset="-122"/>
                <a:cs typeface="Nirmala UI" pitchFamily="34" charset="-120"/>
              </a:rPr>
              <a:t>தமிழ்  తెలుగు  বাংলা  मराठी  ଓଡ଼ିଆ  ಕನ್ನಡ  ગુજરાતી  മലയാളം  ਪੰਜਾਬੀ</a:t>
            </a:r>
            <a:endParaRPr lang="en-US" sz="1000" dirty="0"/>
          </a:p>
        </p:txBody>
      </p:sp>
      <p:sp>
        <p:nvSpPr>
          <p:cNvPr id="8" name="Shape 6"/>
          <p:cNvSpPr/>
          <p:nvPr/>
        </p:nvSpPr>
        <p:spPr>
          <a:xfrm>
            <a:off x="3246120" y="1280160"/>
            <a:ext cx="2606040" cy="2377440"/>
          </a:xfrm>
          <a:prstGeom prst="roundRect">
            <a:avLst>
              <a:gd name="adj" fmla="val 4615"/>
            </a:avLst>
          </a:prstGeom>
          <a:solidFill>
            <a:srgbClr val="FFFFFF"/>
          </a:solidFill>
          <a:ln w="9525">
            <a:solidFill>
              <a:srgbClr val="DCEBE7"/>
            </a:solidFill>
            <a:prstDash val="solid"/>
          </a:ln>
          <a:effectLst>
            <a:outerShdw sx="100000" sy="100000" kx="0" ky="0" algn="bl" rotWithShape="0" blurRad="127000" dist="38100" dir="5400000">
              <a:srgbClr val="14665C">
                <a:alpha val="18000"/>
              </a:srgbClr>
            </a:outerShdw>
          </a:effectLst>
        </p:spPr>
      </p:sp>
      <p:sp>
        <p:nvSpPr>
          <p:cNvPr id="9" name="Shape 7"/>
          <p:cNvSpPr/>
          <p:nvPr/>
        </p:nvSpPr>
        <p:spPr>
          <a:xfrm>
            <a:off x="3429000" y="1463040"/>
            <a:ext cx="365760" cy="365760"/>
          </a:xfrm>
          <a:prstGeom prst="ellipse">
            <a:avLst/>
          </a:prstGeom>
          <a:solidFill>
            <a:srgbClr val="167F71"/>
          </a:solidFill>
          <a:ln w="12700">
            <a:solidFill>
              <a:srgbClr val="167F71"/>
            </a:solidFill>
            <a:prstDash val="solid"/>
          </a:ln>
        </p:spPr>
      </p:sp>
      <p:sp>
        <p:nvSpPr>
          <p:cNvPr id="10" name="Text 8"/>
          <p:cNvSpPr txBox="1"/>
          <p:nvPr/>
        </p:nvSpPr>
        <p:spPr>
          <a:xfrm>
            <a:off x="3931920" y="1463040"/>
            <a:ext cx="1783080" cy="365760"/>
          </a:xfrm>
          <a:prstGeom prst="rect">
            <a:avLst/>
          </a:prstGeom>
          <a:noFill/>
          <a:ln/>
        </p:spPr>
        <p:txBody>
          <a:bodyPr wrap="square" lIns="0" tIns="0" rIns="0" bIns="0" rtlCol="0" anchor="ctr"/>
          <a:lstStyle/>
          <a:p>
            <a:pPr indent="0" marL="0">
              <a:buNone/>
            </a:pPr>
            <a:r>
              <a:rPr lang="en-US" sz="1500" b="1" dirty="0">
                <a:solidFill>
                  <a:srgbClr val="16323A"/>
                </a:solidFill>
                <a:latin typeface="Cambria" pitchFamily="34" charset="0"/>
                <a:ea typeface="Cambria" pitchFamily="34" charset="-122"/>
                <a:cs typeface="Cambria" pitchFamily="34" charset="-120"/>
              </a:rPr>
              <a:t>Register templates</a:t>
            </a:r>
            <a:endParaRPr lang="en-US" sz="1500" dirty="0"/>
          </a:p>
        </p:txBody>
      </p:sp>
      <p:sp>
        <p:nvSpPr>
          <p:cNvPr id="11" name="Text 9"/>
          <p:cNvSpPr txBox="1"/>
          <p:nvPr/>
        </p:nvSpPr>
        <p:spPr>
          <a:xfrm>
            <a:off x="3429000" y="2011680"/>
            <a:ext cx="2286000" cy="914400"/>
          </a:xfrm>
          <a:prstGeom prst="rect">
            <a:avLst/>
          </a:prstGeom>
          <a:noFill/>
          <a:ln/>
        </p:spPr>
        <p:txBody>
          <a:bodyPr wrap="square" lIns="0" tIns="0" rIns="0" bIns="0" rtlCol="0" anchor="t"/>
          <a:lstStyle/>
          <a:p>
            <a:pPr indent="0" marL="0">
              <a:buNone/>
            </a:pPr>
            <a:r>
              <a:rPr lang="en-US" sz="1200" dirty="0">
                <a:solidFill>
                  <a:srgbClr val="5B7780"/>
                </a:solidFill>
                <a:latin typeface="Calibri" pitchFamily="34" charset="0"/>
                <a:ea typeface="Calibri" pitchFamily="34" charset="-122"/>
                <a:cs typeface="Calibri" pitchFamily="34" charset="-120"/>
              </a:rPr>
              <a:t>Layout differs by state; one template file per register lets Gemini read a new format without retraining.</a:t>
            </a:r>
            <a:endParaRPr lang="en-US" sz="1200" dirty="0"/>
          </a:p>
        </p:txBody>
      </p:sp>
      <p:sp>
        <p:nvSpPr>
          <p:cNvPr id="12" name="Text 10"/>
          <p:cNvSpPr txBox="1"/>
          <p:nvPr/>
        </p:nvSpPr>
        <p:spPr>
          <a:xfrm>
            <a:off x="3429000" y="2926080"/>
            <a:ext cx="2286000" cy="685800"/>
          </a:xfrm>
          <a:prstGeom prst="rect">
            <a:avLst/>
          </a:prstGeom>
          <a:noFill/>
          <a:ln/>
        </p:spPr>
        <p:txBody>
          <a:bodyPr wrap="square" lIns="0" tIns="0" rIns="0" bIns="0" rtlCol="0" anchor="t"/>
          <a:lstStyle/>
          <a:p>
            <a:pPr indent="0" marL="0">
              <a:buNone/>
            </a:pPr>
            <a:r>
              <a:rPr lang="en-US" sz="1000" b="1" dirty="0">
                <a:solidFill>
                  <a:srgbClr val="167F71"/>
                </a:solidFill>
                <a:latin typeface="Nirmala UI" pitchFamily="34" charset="0"/>
                <a:ea typeface="Nirmala UI" pitchFamily="34" charset="-122"/>
                <a:cs typeface="Nirmala UI" pitchFamily="34" charset="-120"/>
              </a:rPr>
              <a:t>column names · units · date style</a:t>
            </a:r>
            <a:endParaRPr lang="en-US" sz="1000" dirty="0"/>
          </a:p>
        </p:txBody>
      </p:sp>
      <p:sp>
        <p:nvSpPr>
          <p:cNvPr id="13" name="Shape 11"/>
          <p:cNvSpPr/>
          <p:nvPr/>
        </p:nvSpPr>
        <p:spPr>
          <a:xfrm>
            <a:off x="6035040" y="1280160"/>
            <a:ext cx="2606040" cy="2377440"/>
          </a:xfrm>
          <a:prstGeom prst="roundRect">
            <a:avLst>
              <a:gd name="adj" fmla="val 4615"/>
            </a:avLst>
          </a:prstGeom>
          <a:solidFill>
            <a:srgbClr val="FFFFFF"/>
          </a:solidFill>
          <a:ln w="9525">
            <a:solidFill>
              <a:srgbClr val="DCEBE7"/>
            </a:solidFill>
            <a:prstDash val="solid"/>
          </a:ln>
          <a:effectLst>
            <a:outerShdw sx="100000" sy="100000" kx="0" ky="0" algn="bl" rotWithShape="0" blurRad="127000" dist="38100" dir="5400000">
              <a:srgbClr val="14665C">
                <a:alpha val="18000"/>
              </a:srgbClr>
            </a:outerShdw>
          </a:effectLst>
        </p:spPr>
      </p:sp>
      <p:sp>
        <p:nvSpPr>
          <p:cNvPr id="14" name="Shape 12"/>
          <p:cNvSpPr/>
          <p:nvPr/>
        </p:nvSpPr>
        <p:spPr>
          <a:xfrm>
            <a:off x="6217920" y="1463040"/>
            <a:ext cx="365760" cy="365760"/>
          </a:xfrm>
          <a:prstGeom prst="ellipse">
            <a:avLst/>
          </a:prstGeom>
          <a:solidFill>
            <a:srgbClr val="F0A23B"/>
          </a:solidFill>
          <a:ln w="12700">
            <a:solidFill>
              <a:srgbClr val="F0A23B"/>
            </a:solidFill>
            <a:prstDash val="solid"/>
          </a:ln>
        </p:spPr>
      </p:sp>
      <p:sp>
        <p:nvSpPr>
          <p:cNvPr id="15" name="Text 13"/>
          <p:cNvSpPr txBox="1"/>
          <p:nvPr/>
        </p:nvSpPr>
        <p:spPr>
          <a:xfrm>
            <a:off x="6720840" y="1463040"/>
            <a:ext cx="1783080" cy="365760"/>
          </a:xfrm>
          <a:prstGeom prst="rect">
            <a:avLst/>
          </a:prstGeom>
          <a:noFill/>
          <a:ln/>
        </p:spPr>
        <p:txBody>
          <a:bodyPr wrap="square" lIns="0" tIns="0" rIns="0" bIns="0" rtlCol="0" anchor="ctr"/>
          <a:lstStyle/>
          <a:p>
            <a:pPr indent="0" marL="0">
              <a:buNone/>
            </a:pPr>
            <a:r>
              <a:rPr lang="en-US" sz="1500" b="1" dirty="0">
                <a:solidFill>
                  <a:srgbClr val="16323A"/>
                </a:solidFill>
                <a:latin typeface="Cambria" pitchFamily="34" charset="0"/>
                <a:ea typeface="Cambria" pitchFamily="34" charset="-122"/>
                <a:cs typeface="Cambria" pitchFamily="34" charset="-120"/>
              </a:rPr>
              <a:t>Medicine catalogue</a:t>
            </a:r>
            <a:endParaRPr lang="en-US" sz="1500" dirty="0"/>
          </a:p>
        </p:txBody>
      </p:sp>
      <p:sp>
        <p:nvSpPr>
          <p:cNvPr id="16" name="Text 14"/>
          <p:cNvSpPr txBox="1"/>
          <p:nvPr/>
        </p:nvSpPr>
        <p:spPr>
          <a:xfrm>
            <a:off x="6217920" y="2011680"/>
            <a:ext cx="2286000" cy="914400"/>
          </a:xfrm>
          <a:prstGeom prst="rect">
            <a:avLst/>
          </a:prstGeom>
          <a:noFill/>
          <a:ln/>
        </p:spPr>
        <p:txBody>
          <a:bodyPr wrap="square" lIns="0" tIns="0" rIns="0" bIns="0" rtlCol="0" anchor="t"/>
          <a:lstStyle/>
          <a:p>
            <a:pPr indent="0" marL="0">
              <a:buNone/>
            </a:pPr>
            <a:r>
              <a:rPr lang="en-US" sz="1200" dirty="0">
                <a:solidFill>
                  <a:srgbClr val="5B7780"/>
                </a:solidFill>
                <a:latin typeface="Calibri" pitchFamily="34" charset="0"/>
                <a:ea typeface="Calibri" pitchFamily="34" charset="-122"/>
                <a:cs typeface="Calibri" pitchFamily="34" charset="-120"/>
              </a:rPr>
              <a:t>Each country brings its own essential-medicines list and local aliases.</a:t>
            </a:r>
            <a:endParaRPr lang="en-US" sz="1200" dirty="0"/>
          </a:p>
        </p:txBody>
      </p:sp>
      <p:sp>
        <p:nvSpPr>
          <p:cNvPr id="17" name="Text 15"/>
          <p:cNvSpPr txBox="1"/>
          <p:nvPr/>
        </p:nvSpPr>
        <p:spPr>
          <a:xfrm>
            <a:off x="6217920" y="2926080"/>
            <a:ext cx="2286000" cy="685800"/>
          </a:xfrm>
          <a:prstGeom prst="rect">
            <a:avLst/>
          </a:prstGeom>
          <a:noFill/>
          <a:ln/>
        </p:spPr>
        <p:txBody>
          <a:bodyPr wrap="square" lIns="0" tIns="0" rIns="0" bIns="0" rtlCol="0" anchor="t"/>
          <a:lstStyle/>
          <a:p>
            <a:pPr indent="0" marL="0">
              <a:buNone/>
            </a:pPr>
            <a:r>
              <a:rPr lang="en-US" sz="1000" b="1" dirty="0">
                <a:solidFill>
                  <a:srgbClr val="F0A23B"/>
                </a:solidFill>
                <a:latin typeface="Nirmala UI" pitchFamily="34" charset="0"/>
                <a:ea typeface="Nirmala UI" pitchFamily="34" charset="-122"/>
                <a:cs typeface="Nirmala UI" pitchFamily="34" charset="-120"/>
              </a:rPr>
              <a:t>NLEM (India) → other national lists</a:t>
            </a:r>
            <a:endParaRPr lang="en-US" sz="1000" dirty="0"/>
          </a:p>
        </p:txBody>
      </p:sp>
      <p:sp>
        <p:nvSpPr>
          <p:cNvPr id="18" name="Shape 16"/>
          <p:cNvSpPr/>
          <p:nvPr/>
        </p:nvSpPr>
        <p:spPr>
          <a:xfrm>
            <a:off x="457200" y="3840480"/>
            <a:ext cx="8275320" cy="868680"/>
          </a:xfrm>
          <a:prstGeom prst="roundRect">
            <a:avLst>
              <a:gd name="adj" fmla="val 12632"/>
            </a:avLst>
          </a:prstGeom>
          <a:solidFill>
            <a:srgbClr val="EEFAF7"/>
          </a:solidFill>
          <a:ln w="9525">
            <a:solidFill>
              <a:srgbClr val="DCEBE7"/>
            </a:solidFill>
            <a:prstDash val="solid"/>
          </a:ln>
          <a:effectLst>
            <a:outerShdw sx="100000" sy="100000" kx="0" ky="0" algn="bl" rotWithShape="0" blurRad="127000" dist="38100" dir="5400000">
              <a:srgbClr val="14665C">
                <a:alpha val="18000"/>
              </a:srgbClr>
            </a:outerShdw>
          </a:effectLst>
        </p:spPr>
      </p:sp>
      <p:sp>
        <p:nvSpPr>
          <p:cNvPr id="19" name="Text 17"/>
          <p:cNvSpPr txBox="1"/>
          <p:nvPr/>
        </p:nvSpPr>
        <p:spPr>
          <a:xfrm>
            <a:off x="640080" y="3886200"/>
            <a:ext cx="7909560" cy="777240"/>
          </a:xfrm>
          <a:prstGeom prst="rect">
            <a:avLst/>
          </a:prstGeom>
          <a:noFill/>
          <a:ln/>
        </p:spPr>
        <p:txBody>
          <a:bodyPr wrap="square" lIns="0" tIns="0" rIns="0" bIns="0" rtlCol="0" anchor="ctr"/>
          <a:lstStyle/>
          <a:p>
            <a:pPr indent="0" marL="0">
              <a:buNone/>
            </a:pPr>
            <a:r>
              <a:rPr lang="en-US" sz="1300" b="1" dirty="0">
                <a:solidFill>
                  <a:srgbClr val="167F71"/>
                </a:solidFill>
                <a:latin typeface="Calibri" pitchFamily="34" charset="0"/>
                <a:ea typeface="Calibri" pitchFamily="34" charset="-122"/>
                <a:cs typeface="Calibri" pitchFamily="34" charset="-120"/>
              </a:rPr>
              <a:t>Phase 3: expiry redistribution. </a:t>
            </a:r>
            <a:pPr indent="0" marL="0">
              <a:buNone/>
            </a:pPr>
            <a:r>
              <a:rPr lang="en-US" sz="1300" dirty="0">
                <a:solidFill>
                  <a:srgbClr val="5B7780"/>
                </a:solidFill>
                <a:latin typeface="Calibri" pitchFamily="34" charset="0"/>
                <a:ea typeface="Calibri" pitchFamily="34" charset="-122"/>
                <a:cs typeface="Calibri" pitchFamily="34" charset="-120"/>
              </a:rPr>
              <a:t>Batches close to expiry are routed to the nearby clinic or store that urgently needs them, with the district officer approving every move.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AF7"/>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t"/>
          <a:lstStyle/>
          <a:p>
            <a:pPr indent="0" marL="0">
              <a:buNone/>
            </a:pPr>
            <a:r>
              <a:rPr lang="en-US" sz="3000" b="1" dirty="0">
                <a:solidFill>
                  <a:srgbClr val="16323A"/>
                </a:solidFill>
                <a:latin typeface="Cambria" pitchFamily="34" charset="0"/>
                <a:ea typeface="Cambria" pitchFamily="34" charset="-122"/>
                <a:cs typeface="Cambria" pitchFamily="34" charset="-120"/>
              </a:rPr>
              <a:t>How this maps to the judging criteria</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75320" cy="914400"/>
        </p:xfrm>
        <a:graphic>
          <a:graphicData uri="http://schemas.openxmlformats.org/drawingml/2006/table">
            <a:tbl>
              <a:tblPr/>
              <a:tblGrid>
                <a:gridCol w="2377440"/>
                <a:gridCol w="822960"/>
                <a:gridCol w="507492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Criterion</a:t>
                      </a:r>
                      <a:endParaRPr lang="en-US" sz="1200" dirty="0">
                        <a:latin typeface="Calibri" charset="0"/>
                        <a:ea typeface="Calibri" charset="0"/>
                        <a:cs typeface="Calibri" charset="0"/>
                      </a:endParaRPr>
                    </a:p>
                  </a:txBody>
                  <a:tcPr marL="91440" marR="91440" marT="36576" marB="36576" anchor="ctr">
                    <a:lnL w="9525" cap="flat" cmpd="sng" algn="ctr">
                      <a:solidFill>
                        <a:srgbClr val="DCEBE7"/>
                      </a:solidFill>
                      <a:prstDash val="solid"/>
                      <a:round/>
                      <a:headEnd type="none" w="med" len="med"/>
                      <a:tailEnd type="none" w="med" len="med"/>
                    </a:lnL>
                    <a:lnR w="9525" cap="flat" cmpd="sng" algn="ctr">
                      <a:solidFill>
                        <a:srgbClr val="DCEBE7"/>
                      </a:solidFill>
                      <a:prstDash val="solid"/>
                      <a:round/>
                      <a:headEnd type="none" w="med" len="med"/>
                      <a:tailEnd type="none" w="med" len="med"/>
                    </a:lnR>
                    <a:lnT w="9525" cap="flat" cmpd="sng" algn="ctr">
                      <a:solidFill>
                        <a:srgbClr val="DCEBE7"/>
                      </a:solidFill>
                      <a:prstDash val="solid"/>
                      <a:round/>
                      <a:headEnd type="none" w="med" len="med"/>
                      <a:tailEnd type="none" w="med" len="med"/>
                    </a:lnT>
                    <a:lnB w="9525" cap="flat" cmpd="sng" algn="ctr">
                      <a:solidFill>
                        <a:srgbClr val="DCEBE7"/>
                      </a:solidFill>
                      <a:prstDash val="solid"/>
                      <a:round/>
                      <a:headEnd type="none" w="med" len="med"/>
                      <a:tailEnd type="none" w="med" len="med"/>
                    </a:lnB>
                    <a:solidFill>
                      <a:srgbClr val="167F7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Weight</a:t>
                      </a:r>
                      <a:endParaRPr lang="en-US" sz="1200" dirty="0">
                        <a:latin typeface="Calibri" charset="0"/>
                        <a:ea typeface="Calibri" charset="0"/>
                        <a:cs typeface="Calibri" charset="0"/>
                      </a:endParaRPr>
                    </a:p>
                  </a:txBody>
                  <a:tcPr marL="91440" marR="91440" marT="36576" marB="36576" anchor="ctr">
                    <a:lnL w="9525" cap="flat" cmpd="sng" algn="ctr">
                      <a:solidFill>
                        <a:srgbClr val="DCEBE7"/>
                      </a:solidFill>
                      <a:prstDash val="solid"/>
                      <a:round/>
                      <a:headEnd type="none" w="med" len="med"/>
                      <a:tailEnd type="none" w="med" len="med"/>
                    </a:lnL>
                    <a:lnR w="9525" cap="flat" cmpd="sng" algn="ctr">
                      <a:solidFill>
                        <a:srgbClr val="DCEBE7"/>
                      </a:solidFill>
                      <a:prstDash val="solid"/>
                      <a:round/>
                      <a:headEnd type="none" w="med" len="med"/>
                      <a:tailEnd type="none" w="med" len="med"/>
                    </a:lnR>
                    <a:lnT w="9525" cap="flat" cmpd="sng" algn="ctr">
                      <a:solidFill>
                        <a:srgbClr val="DCEBE7"/>
                      </a:solidFill>
                      <a:prstDash val="solid"/>
                      <a:round/>
                      <a:headEnd type="none" w="med" len="med"/>
                      <a:tailEnd type="none" w="med" len="med"/>
                    </a:lnT>
                    <a:lnB w="9525" cap="flat" cmpd="sng" algn="ctr">
                      <a:solidFill>
                        <a:srgbClr val="DCEBE7"/>
                      </a:solidFill>
                      <a:prstDash val="solid"/>
                      <a:round/>
                      <a:headEnd type="none" w="med" len="med"/>
                      <a:tailEnd type="none" w="med" len="med"/>
                    </a:lnB>
                    <a:solidFill>
                      <a:srgbClr val="167F7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Evidence you can open</a:t>
                      </a:r>
                      <a:endParaRPr lang="en-US" sz="1200" dirty="0">
                        <a:latin typeface="Calibri" charset="0"/>
                        <a:ea typeface="Calibri" charset="0"/>
                        <a:cs typeface="Calibri" charset="0"/>
                      </a:endParaRPr>
                    </a:p>
                  </a:txBody>
                  <a:tcPr marL="91440" marR="91440" marT="36576" marB="36576" anchor="ctr">
                    <a:lnL w="9525" cap="flat" cmpd="sng" algn="ctr">
                      <a:solidFill>
                        <a:srgbClr val="DCEBE7"/>
                      </a:solidFill>
                      <a:prstDash val="solid"/>
                      <a:round/>
                      <a:headEnd type="none" w="med" len="med"/>
                      <a:tailEnd type="none" w="med" len="med"/>
                    </a:lnL>
                    <a:lnR w="9525" cap="flat" cmpd="sng" algn="ctr">
                      <a:solidFill>
                        <a:srgbClr val="DCEBE7"/>
                      </a:solidFill>
                      <a:prstDash val="solid"/>
                      <a:round/>
                      <a:headEnd type="none" w="med" len="med"/>
                      <a:tailEnd type="none" w="med" len="med"/>
                    </a:lnR>
                    <a:lnT w="9525" cap="flat" cmpd="sng" algn="ctr">
                      <a:solidFill>
                        <a:srgbClr val="DCEBE7"/>
                      </a:solidFill>
                      <a:prstDash val="solid"/>
                      <a:round/>
                      <a:headEnd type="none" w="med" len="med"/>
                      <a:tailEnd type="none" w="med" len="med"/>
                    </a:lnT>
                    <a:lnB w="9525" cap="flat" cmpd="sng" algn="ctr">
                      <a:solidFill>
                        <a:srgbClr val="DCEBE7"/>
                      </a:solidFill>
                      <a:prstDash val="solid"/>
                      <a:round/>
                      <a:headEnd type="none" w="med" len="med"/>
                      <a:tailEnd type="none" w="med" len="med"/>
                    </a:lnB>
                    <a:solidFill>
                      <a:srgbClr val="167F71"/>
                    </a:solidFill>
                  </a:tcPr>
                </a:tc>
              </a:tr>
              <a:tr h="566928">
                <a:tc>
                  <a:txBody>
                    <a:bodyPr/>
                    <a:lstStyle/>
                    <a:p>
                      <a:pPr indent="0" marL="0">
                        <a:buNone/>
                      </a:pPr>
                      <a:r>
                        <a:rPr lang="en-US" sz="1150" dirty="0">
                          <a:solidFill>
                            <a:srgbClr val="16323A"/>
                          </a:solidFill>
                          <a:latin typeface="Calibri" pitchFamily="34" charset="0"/>
                          <a:ea typeface="Calibri" pitchFamily="34" charset="-122"/>
                          <a:cs typeface="Calibri" pitchFamily="34" charset="-120"/>
                        </a:rPr>
                        <a:t>AI / Technical execution</a:t>
                      </a:r>
                      <a:endParaRPr lang="en-US" sz="1150" dirty="0">
                        <a:latin typeface="Calibri" charset="0"/>
                        <a:ea typeface="Calibri" charset="0"/>
                        <a:cs typeface="Calibri" charset="0"/>
                      </a:endParaRPr>
                    </a:p>
                  </a:txBody>
                  <a:tcPr marL="91440" marR="91440" marT="36576" marB="36576" anchor="ctr">
                    <a:lnL w="9525" cap="flat" cmpd="sng" algn="ctr">
                      <a:solidFill>
                        <a:srgbClr val="DCEBE7"/>
                      </a:solidFill>
                      <a:prstDash val="solid"/>
                      <a:round/>
                      <a:headEnd type="none" w="med" len="med"/>
                      <a:tailEnd type="none" w="med" len="med"/>
                    </a:lnL>
                    <a:lnR w="9525" cap="flat" cmpd="sng" algn="ctr">
                      <a:solidFill>
                        <a:srgbClr val="DCEBE7"/>
                      </a:solidFill>
                      <a:prstDash val="solid"/>
                      <a:round/>
                      <a:headEnd type="none" w="med" len="med"/>
                      <a:tailEnd type="none" w="med" len="med"/>
                    </a:lnR>
                    <a:lnT w="9525" cap="flat" cmpd="sng" algn="ctr">
                      <a:solidFill>
                        <a:srgbClr val="DCEBE7"/>
                      </a:solidFill>
                      <a:prstDash val="solid"/>
                      <a:round/>
                      <a:headEnd type="none" w="med" len="med"/>
                      <a:tailEnd type="none" w="med" len="med"/>
                    </a:lnT>
                    <a:lnB w="9525" cap="flat" cmpd="sng" algn="ctr">
                      <a:solidFill>
                        <a:srgbClr val="DCEBE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6323A"/>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91440" marR="91440" marT="36576" marB="36576" anchor="ctr">
                    <a:lnL w="9525" cap="flat" cmpd="sng" algn="ctr">
                      <a:solidFill>
                        <a:srgbClr val="DCEBE7"/>
                      </a:solidFill>
                      <a:prstDash val="solid"/>
                      <a:round/>
                      <a:headEnd type="none" w="med" len="med"/>
                      <a:tailEnd type="none" w="med" len="med"/>
                    </a:lnL>
                    <a:lnR w="9525" cap="flat" cmpd="sng" algn="ctr">
                      <a:solidFill>
                        <a:srgbClr val="DCEBE7"/>
                      </a:solidFill>
                      <a:prstDash val="solid"/>
                      <a:round/>
                      <a:headEnd type="none" w="med" len="med"/>
                      <a:tailEnd type="none" w="med" len="med"/>
                    </a:lnR>
                    <a:lnT w="9525" cap="flat" cmpd="sng" algn="ctr">
                      <a:solidFill>
                        <a:srgbClr val="DCEBE7"/>
                      </a:solidFill>
                      <a:prstDash val="solid"/>
                      <a:round/>
                      <a:headEnd type="none" w="med" len="med"/>
                      <a:tailEnd type="none" w="med" len="med"/>
                    </a:lnT>
                    <a:lnB w="9525" cap="flat" cmpd="sng" algn="ctr">
                      <a:solidFill>
                        <a:srgbClr val="DCEBE7"/>
                      </a:solidFill>
                      <a:prstDash val="solid"/>
                      <a:round/>
                      <a:headEnd type="none" w="med" len="med"/>
                      <a:tailEnd type="none" w="med" len="med"/>
                    </a:lnB>
                    <a:solidFill>
                      <a:srgbClr val="FFFFFF"/>
                    </a:solidFill>
                  </a:tcPr>
                </a:tc>
                <a:tc>
                  <a:txBody>
                    <a:bodyPr/>
                    <a:lstStyle/>
                    <a:p>
                      <a:pPr indent="0" marL="0">
                        <a:buNone/>
                      </a:pPr>
                      <a:r>
                        <a:rPr lang="en-US" sz="1150" dirty="0">
                          <a:solidFill>
                            <a:srgbClr val="16323A"/>
                          </a:solidFill>
                          <a:latin typeface="Calibri" pitchFamily="34" charset="0"/>
                          <a:ea typeface="Calibri" pitchFamily="34" charset="-122"/>
                          <a:cs typeface="Calibri" pitchFamily="34" charset="-120"/>
                        </a:rPr>
                        <a:t>Gemini reads handwriting to JSON, model failover, OpenCV clean-up, evaluation script and results</a:t>
                      </a:r>
                      <a:endParaRPr lang="en-US" sz="1150" dirty="0">
                        <a:latin typeface="Calibri" charset="0"/>
                        <a:ea typeface="Calibri" charset="0"/>
                        <a:cs typeface="Calibri" charset="0"/>
                      </a:endParaRPr>
                    </a:p>
                  </a:txBody>
                  <a:tcPr marL="91440" marR="91440" marT="36576" marB="36576" anchor="ctr">
                    <a:lnL w="9525" cap="flat" cmpd="sng" algn="ctr">
                      <a:solidFill>
                        <a:srgbClr val="DCEBE7"/>
                      </a:solidFill>
                      <a:prstDash val="solid"/>
                      <a:round/>
                      <a:headEnd type="none" w="med" len="med"/>
                      <a:tailEnd type="none" w="med" len="med"/>
                    </a:lnL>
                    <a:lnR w="9525" cap="flat" cmpd="sng" algn="ctr">
                      <a:solidFill>
                        <a:srgbClr val="DCEBE7"/>
                      </a:solidFill>
                      <a:prstDash val="solid"/>
                      <a:round/>
                      <a:headEnd type="none" w="med" len="med"/>
                      <a:tailEnd type="none" w="med" len="med"/>
                    </a:lnR>
                    <a:lnT w="9525" cap="flat" cmpd="sng" algn="ctr">
                      <a:solidFill>
                        <a:srgbClr val="DCEBE7"/>
                      </a:solidFill>
                      <a:prstDash val="solid"/>
                      <a:round/>
                      <a:headEnd type="none" w="med" len="med"/>
                      <a:tailEnd type="none" w="med" len="med"/>
                    </a:lnT>
                    <a:lnB w="9525" cap="flat" cmpd="sng" algn="ctr">
                      <a:solidFill>
                        <a:srgbClr val="DCEBE7"/>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6323A"/>
                          </a:solidFill>
                          <a:latin typeface="Calibri" pitchFamily="34" charset="0"/>
                          <a:ea typeface="Calibri" pitchFamily="34" charset="-122"/>
                          <a:cs typeface="Calibri" pitchFamily="34" charset="-120"/>
                        </a:rPr>
                        <a:t>Problem–solution fit</a:t>
                      </a:r>
                      <a:endParaRPr lang="en-US" sz="1150" dirty="0">
                        <a:latin typeface="Calibri" charset="0"/>
                        <a:ea typeface="Calibri" charset="0"/>
                        <a:cs typeface="Calibri" charset="0"/>
                      </a:endParaRPr>
                    </a:p>
                  </a:txBody>
                  <a:tcPr marL="91440" marR="91440" marT="36576" marB="36576" anchor="ctr">
                    <a:lnL w="9525" cap="flat" cmpd="sng" algn="ctr">
                      <a:solidFill>
                        <a:srgbClr val="DCEBE7"/>
                      </a:solidFill>
                      <a:prstDash val="solid"/>
                      <a:round/>
                      <a:headEnd type="none" w="med" len="med"/>
                      <a:tailEnd type="none" w="med" len="med"/>
                    </a:lnL>
                    <a:lnR w="9525" cap="flat" cmpd="sng" algn="ctr">
                      <a:solidFill>
                        <a:srgbClr val="DCEBE7"/>
                      </a:solidFill>
                      <a:prstDash val="solid"/>
                      <a:round/>
                      <a:headEnd type="none" w="med" len="med"/>
                      <a:tailEnd type="none" w="med" len="med"/>
                    </a:lnR>
                    <a:lnT w="9525" cap="flat" cmpd="sng" algn="ctr">
                      <a:solidFill>
                        <a:srgbClr val="DCEBE7"/>
                      </a:solidFill>
                      <a:prstDash val="solid"/>
                      <a:round/>
                      <a:headEnd type="none" w="med" len="med"/>
                      <a:tailEnd type="none" w="med" len="med"/>
                    </a:lnT>
                    <a:lnB w="9525" cap="flat" cmpd="sng" algn="ctr">
                      <a:solidFill>
                        <a:srgbClr val="DCEBE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6323A"/>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91440" marR="91440" marT="36576" marB="36576" anchor="ctr">
                    <a:lnL w="9525" cap="flat" cmpd="sng" algn="ctr">
                      <a:solidFill>
                        <a:srgbClr val="DCEBE7"/>
                      </a:solidFill>
                      <a:prstDash val="solid"/>
                      <a:round/>
                      <a:headEnd type="none" w="med" len="med"/>
                      <a:tailEnd type="none" w="med" len="med"/>
                    </a:lnL>
                    <a:lnR w="9525" cap="flat" cmpd="sng" algn="ctr">
                      <a:solidFill>
                        <a:srgbClr val="DCEBE7"/>
                      </a:solidFill>
                      <a:prstDash val="solid"/>
                      <a:round/>
                      <a:headEnd type="none" w="med" len="med"/>
                      <a:tailEnd type="none" w="med" len="med"/>
                    </a:lnR>
                    <a:lnT w="9525" cap="flat" cmpd="sng" algn="ctr">
                      <a:solidFill>
                        <a:srgbClr val="DCEBE7"/>
                      </a:solidFill>
                      <a:prstDash val="solid"/>
                      <a:round/>
                      <a:headEnd type="none" w="med" len="med"/>
                      <a:tailEnd type="none" w="med" len="med"/>
                    </a:lnT>
                    <a:lnB w="9525" cap="flat" cmpd="sng" algn="ctr">
                      <a:solidFill>
                        <a:srgbClr val="DCEBE7"/>
                      </a:solidFill>
                      <a:prstDash val="solid"/>
                      <a:round/>
                      <a:headEnd type="none" w="med" len="med"/>
                      <a:tailEnd type="none" w="med" len="med"/>
                    </a:lnB>
                    <a:solidFill>
                      <a:srgbClr val="FFFFFF"/>
                    </a:solidFill>
                  </a:tcPr>
                </a:tc>
                <a:tc>
                  <a:txBody>
                    <a:bodyPr/>
                    <a:lstStyle/>
                    <a:p>
                      <a:pPr indent="0" marL="0">
                        <a:buNone/>
                      </a:pPr>
                      <a:r>
                        <a:rPr lang="en-US" sz="1150" dirty="0">
                          <a:solidFill>
                            <a:srgbClr val="16323A"/>
                          </a:solidFill>
                          <a:latin typeface="Calibri" pitchFamily="34" charset="0"/>
                          <a:ea typeface="Calibri" pitchFamily="34" charset="-122"/>
                          <a:cs typeface="Calibri" pitchFamily="34" charset="-120"/>
                        </a:rPr>
                        <a:t>Targets the audit-documented gap: DVDMS vs registers, at the pharmacist's end-of-day moment</a:t>
                      </a:r>
                      <a:endParaRPr lang="en-US" sz="1150" dirty="0">
                        <a:latin typeface="Calibri" charset="0"/>
                        <a:ea typeface="Calibri" charset="0"/>
                        <a:cs typeface="Calibri" charset="0"/>
                      </a:endParaRPr>
                    </a:p>
                  </a:txBody>
                  <a:tcPr marL="91440" marR="91440" marT="36576" marB="36576" anchor="ctr">
                    <a:lnL w="9525" cap="flat" cmpd="sng" algn="ctr">
                      <a:solidFill>
                        <a:srgbClr val="DCEBE7"/>
                      </a:solidFill>
                      <a:prstDash val="solid"/>
                      <a:round/>
                      <a:headEnd type="none" w="med" len="med"/>
                      <a:tailEnd type="none" w="med" len="med"/>
                    </a:lnL>
                    <a:lnR w="9525" cap="flat" cmpd="sng" algn="ctr">
                      <a:solidFill>
                        <a:srgbClr val="DCEBE7"/>
                      </a:solidFill>
                      <a:prstDash val="solid"/>
                      <a:round/>
                      <a:headEnd type="none" w="med" len="med"/>
                      <a:tailEnd type="none" w="med" len="med"/>
                    </a:lnR>
                    <a:lnT w="9525" cap="flat" cmpd="sng" algn="ctr">
                      <a:solidFill>
                        <a:srgbClr val="DCEBE7"/>
                      </a:solidFill>
                      <a:prstDash val="solid"/>
                      <a:round/>
                      <a:headEnd type="none" w="med" len="med"/>
                      <a:tailEnd type="none" w="med" len="med"/>
                    </a:lnT>
                    <a:lnB w="9525" cap="flat" cmpd="sng" algn="ctr">
                      <a:solidFill>
                        <a:srgbClr val="DCEBE7"/>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6323A"/>
                          </a:solidFill>
                          <a:latin typeface="Calibri" pitchFamily="34" charset="0"/>
                          <a:ea typeface="Calibri" pitchFamily="34" charset="-122"/>
                          <a:cs typeface="Calibri" pitchFamily="34" charset="-120"/>
                        </a:rPr>
                        <a:t>Depth &amp; reach across India</a:t>
                      </a:r>
                      <a:endParaRPr lang="en-US" sz="1150" dirty="0">
                        <a:latin typeface="Calibri" charset="0"/>
                        <a:ea typeface="Calibri" charset="0"/>
                        <a:cs typeface="Calibri" charset="0"/>
                      </a:endParaRPr>
                    </a:p>
                  </a:txBody>
                  <a:tcPr marL="91440" marR="91440" marT="36576" marB="36576" anchor="ctr">
                    <a:lnL w="9525" cap="flat" cmpd="sng" algn="ctr">
                      <a:solidFill>
                        <a:srgbClr val="DCEBE7"/>
                      </a:solidFill>
                      <a:prstDash val="solid"/>
                      <a:round/>
                      <a:headEnd type="none" w="med" len="med"/>
                      <a:tailEnd type="none" w="med" len="med"/>
                    </a:lnL>
                    <a:lnR w="9525" cap="flat" cmpd="sng" algn="ctr">
                      <a:solidFill>
                        <a:srgbClr val="DCEBE7"/>
                      </a:solidFill>
                      <a:prstDash val="solid"/>
                      <a:round/>
                      <a:headEnd type="none" w="med" len="med"/>
                      <a:tailEnd type="none" w="med" len="med"/>
                    </a:lnR>
                    <a:lnT w="9525" cap="flat" cmpd="sng" algn="ctr">
                      <a:solidFill>
                        <a:srgbClr val="DCEBE7"/>
                      </a:solidFill>
                      <a:prstDash val="solid"/>
                      <a:round/>
                      <a:headEnd type="none" w="med" len="med"/>
                      <a:tailEnd type="none" w="med" len="med"/>
                    </a:lnT>
                    <a:lnB w="9525" cap="flat" cmpd="sng" algn="ctr">
                      <a:solidFill>
                        <a:srgbClr val="DCEBE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6323A"/>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91440" marR="91440" marT="36576" marB="36576" anchor="ctr">
                    <a:lnL w="9525" cap="flat" cmpd="sng" algn="ctr">
                      <a:solidFill>
                        <a:srgbClr val="DCEBE7"/>
                      </a:solidFill>
                      <a:prstDash val="solid"/>
                      <a:round/>
                      <a:headEnd type="none" w="med" len="med"/>
                      <a:tailEnd type="none" w="med" len="med"/>
                    </a:lnL>
                    <a:lnR w="9525" cap="flat" cmpd="sng" algn="ctr">
                      <a:solidFill>
                        <a:srgbClr val="DCEBE7"/>
                      </a:solidFill>
                      <a:prstDash val="solid"/>
                      <a:round/>
                      <a:headEnd type="none" w="med" len="med"/>
                      <a:tailEnd type="none" w="med" len="med"/>
                    </a:lnR>
                    <a:lnT w="9525" cap="flat" cmpd="sng" algn="ctr">
                      <a:solidFill>
                        <a:srgbClr val="DCEBE7"/>
                      </a:solidFill>
                      <a:prstDash val="solid"/>
                      <a:round/>
                      <a:headEnd type="none" w="med" len="med"/>
                      <a:tailEnd type="none" w="med" len="med"/>
                    </a:lnT>
                    <a:lnB w="9525" cap="flat" cmpd="sng" algn="ctr">
                      <a:solidFill>
                        <a:srgbClr val="DCEBE7"/>
                      </a:solidFill>
                      <a:prstDash val="solid"/>
                      <a:round/>
                      <a:headEnd type="none" w="med" len="med"/>
                      <a:tailEnd type="none" w="med" len="med"/>
                    </a:lnB>
                    <a:solidFill>
                      <a:srgbClr val="FFFFFF"/>
                    </a:solidFill>
                  </a:tcPr>
                </a:tc>
                <a:tc>
                  <a:txBody>
                    <a:bodyPr/>
                    <a:lstStyle/>
                    <a:p>
                      <a:pPr indent="0" marL="0">
                        <a:buNone/>
                      </a:pPr>
                      <a:r>
                        <a:rPr lang="en-US" sz="1150" dirty="0">
                          <a:solidFill>
                            <a:srgbClr val="16323A"/>
                          </a:solidFill>
                          <a:latin typeface="Calibri" pitchFamily="34" charset="0"/>
                          <a:ea typeface="Calibri" pitchFamily="34" charset="-122"/>
                          <a:cs typeface="Calibri" pitchFamily="34" charset="-120"/>
                        </a:rPr>
                        <a:t>Language, register template and medicine catalogue as separate configs; Phase 2 languages</a:t>
                      </a:r>
                      <a:endParaRPr lang="en-US" sz="1150" dirty="0">
                        <a:latin typeface="Calibri" charset="0"/>
                        <a:ea typeface="Calibri" charset="0"/>
                        <a:cs typeface="Calibri" charset="0"/>
                      </a:endParaRPr>
                    </a:p>
                  </a:txBody>
                  <a:tcPr marL="91440" marR="91440" marT="36576" marB="36576" anchor="ctr">
                    <a:lnL w="9525" cap="flat" cmpd="sng" algn="ctr">
                      <a:solidFill>
                        <a:srgbClr val="DCEBE7"/>
                      </a:solidFill>
                      <a:prstDash val="solid"/>
                      <a:round/>
                      <a:headEnd type="none" w="med" len="med"/>
                      <a:tailEnd type="none" w="med" len="med"/>
                    </a:lnL>
                    <a:lnR w="9525" cap="flat" cmpd="sng" algn="ctr">
                      <a:solidFill>
                        <a:srgbClr val="DCEBE7"/>
                      </a:solidFill>
                      <a:prstDash val="solid"/>
                      <a:round/>
                      <a:headEnd type="none" w="med" len="med"/>
                      <a:tailEnd type="none" w="med" len="med"/>
                    </a:lnR>
                    <a:lnT w="9525" cap="flat" cmpd="sng" algn="ctr">
                      <a:solidFill>
                        <a:srgbClr val="DCEBE7"/>
                      </a:solidFill>
                      <a:prstDash val="solid"/>
                      <a:round/>
                      <a:headEnd type="none" w="med" len="med"/>
                      <a:tailEnd type="none" w="med" len="med"/>
                    </a:lnT>
                    <a:lnB w="9525" cap="flat" cmpd="sng" algn="ctr">
                      <a:solidFill>
                        <a:srgbClr val="DCEBE7"/>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6323A"/>
                          </a:solidFill>
                          <a:latin typeface="Calibri" pitchFamily="34" charset="0"/>
                          <a:ea typeface="Calibri" pitchFamily="34" charset="-122"/>
                          <a:cs typeface="Calibri" pitchFamily="34" charset="-120"/>
                        </a:rPr>
                        <a:t>Deployability &amp; scalability</a:t>
                      </a:r>
                      <a:endParaRPr lang="en-US" sz="1150" dirty="0">
                        <a:latin typeface="Calibri" charset="0"/>
                        <a:ea typeface="Calibri" charset="0"/>
                        <a:cs typeface="Calibri" charset="0"/>
                      </a:endParaRPr>
                    </a:p>
                  </a:txBody>
                  <a:tcPr marL="91440" marR="91440" marT="36576" marB="36576" anchor="ctr">
                    <a:lnL w="9525" cap="flat" cmpd="sng" algn="ctr">
                      <a:solidFill>
                        <a:srgbClr val="DCEBE7"/>
                      </a:solidFill>
                      <a:prstDash val="solid"/>
                      <a:round/>
                      <a:headEnd type="none" w="med" len="med"/>
                      <a:tailEnd type="none" w="med" len="med"/>
                    </a:lnL>
                    <a:lnR w="9525" cap="flat" cmpd="sng" algn="ctr">
                      <a:solidFill>
                        <a:srgbClr val="DCEBE7"/>
                      </a:solidFill>
                      <a:prstDash val="solid"/>
                      <a:round/>
                      <a:headEnd type="none" w="med" len="med"/>
                      <a:tailEnd type="none" w="med" len="med"/>
                    </a:lnR>
                    <a:lnT w="9525" cap="flat" cmpd="sng" algn="ctr">
                      <a:solidFill>
                        <a:srgbClr val="DCEBE7"/>
                      </a:solidFill>
                      <a:prstDash val="solid"/>
                      <a:round/>
                      <a:headEnd type="none" w="med" len="med"/>
                      <a:tailEnd type="none" w="med" len="med"/>
                    </a:lnT>
                    <a:lnB w="9525" cap="flat" cmpd="sng" algn="ctr">
                      <a:solidFill>
                        <a:srgbClr val="DCEBE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6323A"/>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91440" marR="91440" marT="36576" marB="36576" anchor="ctr">
                    <a:lnL w="9525" cap="flat" cmpd="sng" algn="ctr">
                      <a:solidFill>
                        <a:srgbClr val="DCEBE7"/>
                      </a:solidFill>
                      <a:prstDash val="solid"/>
                      <a:round/>
                      <a:headEnd type="none" w="med" len="med"/>
                      <a:tailEnd type="none" w="med" len="med"/>
                    </a:lnL>
                    <a:lnR w="9525" cap="flat" cmpd="sng" algn="ctr">
                      <a:solidFill>
                        <a:srgbClr val="DCEBE7"/>
                      </a:solidFill>
                      <a:prstDash val="solid"/>
                      <a:round/>
                      <a:headEnd type="none" w="med" len="med"/>
                      <a:tailEnd type="none" w="med" len="med"/>
                    </a:lnR>
                    <a:lnT w="9525" cap="flat" cmpd="sng" algn="ctr">
                      <a:solidFill>
                        <a:srgbClr val="DCEBE7"/>
                      </a:solidFill>
                      <a:prstDash val="solid"/>
                      <a:round/>
                      <a:headEnd type="none" w="med" len="med"/>
                      <a:tailEnd type="none" w="med" len="med"/>
                    </a:lnT>
                    <a:lnB w="9525" cap="flat" cmpd="sng" algn="ctr">
                      <a:solidFill>
                        <a:srgbClr val="DCEBE7"/>
                      </a:solidFill>
                      <a:prstDash val="solid"/>
                      <a:round/>
                      <a:headEnd type="none" w="med" len="med"/>
                      <a:tailEnd type="none" w="med" len="med"/>
                    </a:lnB>
                    <a:solidFill>
                      <a:srgbClr val="FFFFFF"/>
                    </a:solidFill>
                  </a:tcPr>
                </a:tc>
                <a:tc>
                  <a:txBody>
                    <a:bodyPr/>
                    <a:lstStyle/>
                    <a:p>
                      <a:pPr indent="0" marL="0">
                        <a:buNone/>
                      </a:pPr>
                      <a:r>
                        <a:rPr lang="en-US" sz="1150" dirty="0">
                          <a:solidFill>
                            <a:srgbClr val="16323A"/>
                          </a:solidFill>
                          <a:latin typeface="Calibri" pitchFamily="34" charset="0"/>
                          <a:ea typeface="Calibri" pitchFamily="34" charset="-122"/>
                          <a:cs typeface="Calibri" pitchFamily="34" charset="-120"/>
                        </a:rPr>
                        <a:t>No new hardware; DVDMS bulk-entry output; four-week pilot plan; Dockerfile for Cloud Run</a:t>
                      </a:r>
                      <a:endParaRPr lang="en-US" sz="1150" dirty="0">
                        <a:latin typeface="Calibri" charset="0"/>
                        <a:ea typeface="Calibri" charset="0"/>
                        <a:cs typeface="Calibri" charset="0"/>
                      </a:endParaRPr>
                    </a:p>
                  </a:txBody>
                  <a:tcPr marL="91440" marR="91440" marT="36576" marB="36576" anchor="ctr">
                    <a:lnL w="9525" cap="flat" cmpd="sng" algn="ctr">
                      <a:solidFill>
                        <a:srgbClr val="DCEBE7"/>
                      </a:solidFill>
                      <a:prstDash val="solid"/>
                      <a:round/>
                      <a:headEnd type="none" w="med" len="med"/>
                      <a:tailEnd type="none" w="med" len="med"/>
                    </a:lnL>
                    <a:lnR w="9525" cap="flat" cmpd="sng" algn="ctr">
                      <a:solidFill>
                        <a:srgbClr val="DCEBE7"/>
                      </a:solidFill>
                      <a:prstDash val="solid"/>
                      <a:round/>
                      <a:headEnd type="none" w="med" len="med"/>
                      <a:tailEnd type="none" w="med" len="med"/>
                    </a:lnR>
                    <a:lnT w="9525" cap="flat" cmpd="sng" algn="ctr">
                      <a:solidFill>
                        <a:srgbClr val="DCEBE7"/>
                      </a:solidFill>
                      <a:prstDash val="solid"/>
                      <a:round/>
                      <a:headEnd type="none" w="med" len="med"/>
                      <a:tailEnd type="none" w="med" len="med"/>
                    </a:lnT>
                    <a:lnB w="9525" cap="flat" cmpd="sng" algn="ctr">
                      <a:solidFill>
                        <a:srgbClr val="DCEBE7"/>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6323A"/>
                          </a:solidFill>
                          <a:latin typeface="Calibri" pitchFamily="34" charset="0"/>
                          <a:ea typeface="Calibri" pitchFamily="34" charset="-122"/>
                          <a:cs typeface="Calibri" pitchFamily="34" charset="-120"/>
                        </a:rPr>
                        <a:t>Impact potential</a:t>
                      </a:r>
                      <a:endParaRPr lang="en-US" sz="1150" dirty="0">
                        <a:latin typeface="Calibri" charset="0"/>
                        <a:ea typeface="Calibri" charset="0"/>
                        <a:cs typeface="Calibri" charset="0"/>
                      </a:endParaRPr>
                    </a:p>
                  </a:txBody>
                  <a:tcPr marL="91440" marR="91440" marT="36576" marB="36576" anchor="ctr">
                    <a:lnL w="9525" cap="flat" cmpd="sng" algn="ctr">
                      <a:solidFill>
                        <a:srgbClr val="DCEBE7"/>
                      </a:solidFill>
                      <a:prstDash val="solid"/>
                      <a:round/>
                      <a:headEnd type="none" w="med" len="med"/>
                      <a:tailEnd type="none" w="med" len="med"/>
                    </a:lnL>
                    <a:lnR w="9525" cap="flat" cmpd="sng" algn="ctr">
                      <a:solidFill>
                        <a:srgbClr val="DCEBE7"/>
                      </a:solidFill>
                      <a:prstDash val="solid"/>
                      <a:round/>
                      <a:headEnd type="none" w="med" len="med"/>
                      <a:tailEnd type="none" w="med" len="med"/>
                    </a:lnR>
                    <a:lnT w="9525" cap="flat" cmpd="sng" algn="ctr">
                      <a:solidFill>
                        <a:srgbClr val="DCEBE7"/>
                      </a:solidFill>
                      <a:prstDash val="solid"/>
                      <a:round/>
                      <a:headEnd type="none" w="med" len="med"/>
                      <a:tailEnd type="none" w="med" len="med"/>
                    </a:lnT>
                    <a:lnB w="9525" cap="flat" cmpd="sng" algn="ctr">
                      <a:solidFill>
                        <a:srgbClr val="DCEBE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6323A"/>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91440" marR="91440" marT="36576" marB="36576" anchor="ctr">
                    <a:lnL w="9525" cap="flat" cmpd="sng" algn="ctr">
                      <a:solidFill>
                        <a:srgbClr val="DCEBE7"/>
                      </a:solidFill>
                      <a:prstDash val="solid"/>
                      <a:round/>
                      <a:headEnd type="none" w="med" len="med"/>
                      <a:tailEnd type="none" w="med" len="med"/>
                    </a:lnL>
                    <a:lnR w="9525" cap="flat" cmpd="sng" algn="ctr">
                      <a:solidFill>
                        <a:srgbClr val="DCEBE7"/>
                      </a:solidFill>
                      <a:prstDash val="solid"/>
                      <a:round/>
                      <a:headEnd type="none" w="med" len="med"/>
                      <a:tailEnd type="none" w="med" len="med"/>
                    </a:lnR>
                    <a:lnT w="9525" cap="flat" cmpd="sng" algn="ctr">
                      <a:solidFill>
                        <a:srgbClr val="DCEBE7"/>
                      </a:solidFill>
                      <a:prstDash val="solid"/>
                      <a:round/>
                      <a:headEnd type="none" w="med" len="med"/>
                      <a:tailEnd type="none" w="med" len="med"/>
                    </a:lnT>
                    <a:lnB w="9525" cap="flat" cmpd="sng" algn="ctr">
                      <a:solidFill>
                        <a:srgbClr val="DCEBE7"/>
                      </a:solidFill>
                      <a:prstDash val="solid"/>
                      <a:round/>
                      <a:headEnd type="none" w="med" len="med"/>
                      <a:tailEnd type="none" w="med" len="med"/>
                    </a:lnB>
                    <a:solidFill>
                      <a:srgbClr val="FFFFFF"/>
                    </a:solidFill>
                  </a:tcPr>
                </a:tc>
                <a:tc>
                  <a:txBody>
                    <a:bodyPr/>
                    <a:lstStyle/>
                    <a:p>
                      <a:pPr indent="0" marL="0">
                        <a:buNone/>
                      </a:pPr>
                      <a:r>
                        <a:rPr lang="en-US" sz="1150" dirty="0">
                          <a:solidFill>
                            <a:srgbClr val="16323A"/>
                          </a:solidFill>
                          <a:latin typeface="Calibri" pitchFamily="34" charset="0"/>
                          <a:ea typeface="Calibri" pitchFamily="34" charset="-122"/>
                          <a:cs typeface="Calibri" pitchFamily="34" charset="-120"/>
                        </a:rPr>
                        <a:t>Attacks the stock-out and expiry-loss cycle at the source; reported losses in crores</a:t>
                      </a:r>
                      <a:endParaRPr lang="en-US" sz="1150" dirty="0">
                        <a:latin typeface="Calibri" charset="0"/>
                        <a:ea typeface="Calibri" charset="0"/>
                        <a:cs typeface="Calibri" charset="0"/>
                      </a:endParaRPr>
                    </a:p>
                  </a:txBody>
                  <a:tcPr marL="91440" marR="91440" marT="36576" marB="36576" anchor="ctr">
                    <a:lnL w="9525" cap="flat" cmpd="sng" algn="ctr">
                      <a:solidFill>
                        <a:srgbClr val="DCEBE7"/>
                      </a:solidFill>
                      <a:prstDash val="solid"/>
                      <a:round/>
                      <a:headEnd type="none" w="med" len="med"/>
                      <a:tailEnd type="none" w="med" len="med"/>
                    </a:lnL>
                    <a:lnR w="9525" cap="flat" cmpd="sng" algn="ctr">
                      <a:solidFill>
                        <a:srgbClr val="DCEBE7"/>
                      </a:solidFill>
                      <a:prstDash val="solid"/>
                      <a:round/>
                      <a:headEnd type="none" w="med" len="med"/>
                      <a:tailEnd type="none" w="med" len="med"/>
                    </a:lnR>
                    <a:lnT w="9525" cap="flat" cmpd="sng" algn="ctr">
                      <a:solidFill>
                        <a:srgbClr val="DCEBE7"/>
                      </a:solidFill>
                      <a:prstDash val="solid"/>
                      <a:round/>
                      <a:headEnd type="none" w="med" len="med"/>
                      <a:tailEnd type="none" w="med" len="med"/>
                    </a:lnT>
                    <a:lnB w="9525" cap="flat" cmpd="sng" algn="ctr">
                      <a:solidFill>
                        <a:srgbClr val="DCEBE7"/>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434840"/>
            <a:ext cx="8229600" cy="365760"/>
          </a:xfrm>
          <a:prstGeom prst="rect">
            <a:avLst/>
          </a:prstGeom>
          <a:noFill/>
          <a:ln/>
        </p:spPr>
        <p:txBody>
          <a:bodyPr wrap="square" lIns="0" tIns="0" rIns="0" bIns="0" rtlCol="0" anchor="ctr"/>
          <a:lstStyle/>
          <a:p>
            <a:pPr indent="0" marL="0">
              <a:buNone/>
            </a:pPr>
            <a:r>
              <a:rPr lang="en-US" sz="1200" dirty="0">
                <a:solidFill>
                  <a:srgbClr val="5B7780"/>
                </a:solidFill>
                <a:latin typeface="Calibri" pitchFamily="34" charset="0"/>
                <a:ea typeface="Calibri" pitchFamily="34" charset="-122"/>
                <a:cs typeface="Calibri" pitchFamily="34" charset="-120"/>
              </a:rPr>
              <a:t>Deliverables: source code repository · demo video (3–5 min) · this deck · live prototype link.</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3F39"/>
        </a:solidFill>
      </p:bgPr>
    </p:bg>
    <p:spTree>
      <p:nvGrpSpPr>
        <p:cNvPr id="1" name=""/>
        <p:cNvGrpSpPr/>
        <p:nvPr/>
      </p:nvGrpSpPr>
      <p:grpSpPr>
        <a:xfrm>
          <a:off x="0" y="0"/>
          <a:ext cx="0" cy="0"/>
          <a:chOff x="0" y="0"/>
          <a:chExt cx="0" cy="0"/>
        </a:xfrm>
      </p:grpSpPr>
      <p:sp>
        <p:nvSpPr>
          <p:cNvPr id="2" name="Text 0"/>
          <p:cNvSpPr txBox="1"/>
          <p:nvPr/>
        </p:nvSpPr>
        <p:spPr>
          <a:xfrm>
            <a:off x="548640" y="1097280"/>
            <a:ext cx="5669280" cy="146304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Your register already knows.</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Now DVDMS will too.</a:t>
            </a:r>
            <a:endParaRPr lang="en-US" sz="3400" dirty="0"/>
          </a:p>
        </p:txBody>
      </p:sp>
      <p:sp>
        <p:nvSpPr>
          <p:cNvPr id="3" name="Text 1"/>
          <p:cNvSpPr txBox="1"/>
          <p:nvPr/>
        </p:nvSpPr>
        <p:spPr>
          <a:xfrm>
            <a:off x="548640" y="2743200"/>
            <a:ext cx="5486400" cy="457200"/>
          </a:xfrm>
          <a:prstGeom prst="rect">
            <a:avLst/>
          </a:prstGeom>
          <a:noFill/>
          <a:ln/>
        </p:spPr>
        <p:txBody>
          <a:bodyPr wrap="square" lIns="0" tIns="0" rIns="0" bIns="0" rtlCol="0" anchor="ctr"/>
          <a:lstStyle/>
          <a:p>
            <a:pPr indent="0" marL="0">
              <a:buNone/>
            </a:pPr>
            <a:r>
              <a:rPr lang="en-US" sz="1600" dirty="0">
                <a:solidFill>
                  <a:srgbClr val="D5F3EC"/>
                </a:solidFill>
                <a:latin typeface="Calibri" pitchFamily="34" charset="0"/>
                <a:ea typeface="Calibri" pitchFamily="34" charset="-122"/>
                <a:cs typeface="Calibri" pitchFamily="34" charset="-120"/>
              </a:rPr>
              <a:t>One photo a day keeps the district's numbers true.</a:t>
            </a:r>
            <a:endParaRPr lang="en-US" sz="1600" dirty="0"/>
          </a:p>
        </p:txBody>
      </p:sp>
      <p:sp>
        <p:nvSpPr>
          <p:cNvPr id="4" name="Text 2"/>
          <p:cNvSpPr txBox="1"/>
          <p:nvPr/>
        </p:nvSpPr>
        <p:spPr>
          <a:xfrm>
            <a:off x="548640" y="4206240"/>
            <a:ext cx="6400800" cy="320040"/>
          </a:xfrm>
          <a:prstGeom prst="rect">
            <a:avLst/>
          </a:prstGeom>
          <a:noFill/>
          <a:ln/>
        </p:spPr>
        <p:txBody>
          <a:bodyPr wrap="square" lIns="0" tIns="0" rIns="0" bIns="0" rtlCol="0" anchor="ctr"/>
          <a:lstStyle/>
          <a:p>
            <a:pPr indent="0" marL="0">
              <a:buNone/>
            </a:pPr>
            <a:r>
              <a:rPr lang="en-US" sz="1200" dirty="0">
                <a:solidFill>
                  <a:srgbClr val="A9E5D7"/>
                </a:solidFill>
                <a:latin typeface="Calibri" pitchFamily="34" charset="0"/>
                <a:ea typeface="Calibri" pitchFamily="34" charset="-122"/>
                <a:cs typeface="Calibri" pitchFamily="34" charset="-120"/>
              </a:rPr>
              <a:t>Register Lens · Build with AI: Code for Communities 2.0 · Track 3</a:t>
            </a:r>
            <a:endParaRPr lang="en-US" sz="1200" dirty="0"/>
          </a:p>
        </p:txBody>
      </p:sp>
      <p:sp>
        <p:nvSpPr>
          <p:cNvPr id="5" name="Shape 3"/>
          <p:cNvSpPr/>
          <p:nvPr/>
        </p:nvSpPr>
        <p:spPr>
          <a:xfrm>
            <a:off x="6355080" y="1234440"/>
            <a:ext cx="2468880" cy="2468880"/>
          </a:xfrm>
          <a:prstGeom prst="ellipse">
            <a:avLst/>
          </a:prstGeom>
          <a:solidFill>
            <a:srgbClr val="FFFFFF"/>
          </a:solidFill>
          <a:ln w="12700">
            <a:solidFill>
              <a:srgbClr val="FFFFFF"/>
            </a:solidFill>
            <a:prstDash val="solid"/>
          </a:ln>
        </p:spPr>
      </p:sp>
      <p:pic>
        <p:nvPicPr>
          <p:cNvPr id="6" name="Image 0" descr="D:\RegisterLens\docs\deck\art\all-checked_d3u6.png">    </p:cNvPr>
          <p:cNvPicPr>
            <a:picLocks noChangeAspect="1"/>
          </p:cNvPicPr>
          <p:nvPr/>
        </p:nvPicPr>
        <p:blipFill>
          <a:blip r:embed="rId1"/>
          <a:srcRect l="0" r="0" t="0" b="0"/>
          <a:stretch/>
        </p:blipFill>
        <p:spPr>
          <a:xfrm>
            <a:off x="6583680" y="1463040"/>
            <a:ext cx="2011680" cy="20116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Register Lens</dc:title>
  <dc:subject>PptxGenJS Presentation</dc:subject>
  <dc:creator>Register Lens team</dc:creator>
  <cp:lastModifiedBy>Register Lens team</cp:lastModifiedBy>
  <cp:revision>1</cp:revision>
  <dcterms:created xsi:type="dcterms:W3CDTF">2026-09-29T21:07:25Z</dcterms:created>
  <dcterms:modified xsi:type="dcterms:W3CDTF">2026-09-29T21:07:25Z</dcterms:modified>
</cp:coreProperties>
</file>